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5" r:id="rId1"/>
  </p:sldMasterIdLst>
  <p:notesMasterIdLst>
    <p:notesMasterId r:id="rId38"/>
  </p:notesMasterIdLst>
  <p:sldIdLst>
    <p:sldId id="395" r:id="rId2"/>
    <p:sldId id="410" r:id="rId3"/>
    <p:sldId id="411" r:id="rId4"/>
    <p:sldId id="412" r:id="rId5"/>
    <p:sldId id="413" r:id="rId6"/>
    <p:sldId id="414" r:id="rId7"/>
    <p:sldId id="396" r:id="rId8"/>
    <p:sldId id="397" r:id="rId9"/>
    <p:sldId id="419" r:id="rId10"/>
    <p:sldId id="415" r:id="rId11"/>
    <p:sldId id="416" r:id="rId12"/>
    <p:sldId id="417" r:id="rId13"/>
    <p:sldId id="418" r:id="rId14"/>
    <p:sldId id="424" r:id="rId15"/>
    <p:sldId id="425" r:id="rId16"/>
    <p:sldId id="426" r:id="rId17"/>
    <p:sldId id="420" r:id="rId18"/>
    <p:sldId id="421" r:id="rId19"/>
    <p:sldId id="422" r:id="rId20"/>
    <p:sldId id="423" r:id="rId21"/>
    <p:sldId id="427" r:id="rId22"/>
    <p:sldId id="432" r:id="rId23"/>
    <p:sldId id="430" r:id="rId24"/>
    <p:sldId id="431" r:id="rId25"/>
    <p:sldId id="433" r:id="rId26"/>
    <p:sldId id="434" r:id="rId27"/>
    <p:sldId id="435" r:id="rId28"/>
    <p:sldId id="441" r:id="rId29"/>
    <p:sldId id="436" r:id="rId30"/>
    <p:sldId id="437" r:id="rId31"/>
    <p:sldId id="443" r:id="rId32"/>
    <p:sldId id="444" r:id="rId33"/>
    <p:sldId id="445" r:id="rId34"/>
    <p:sldId id="438" r:id="rId35"/>
    <p:sldId id="442" r:id="rId36"/>
    <p:sldId id="440" r:id="rId37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1031" autoAdjust="0"/>
  </p:normalViewPr>
  <p:slideViewPr>
    <p:cSldViewPr>
      <p:cViewPr varScale="1">
        <p:scale>
          <a:sx n="104" d="100"/>
          <a:sy n="104" d="100"/>
        </p:scale>
        <p:origin x="1824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CE977AA7-57E9-4A56-AFE1-34A5A5DC790A}" type="datetimeFigureOut">
              <a:rPr lang="zh-CN" altLang="en-US"/>
              <a:pPr>
                <a:defRPr/>
              </a:pPr>
              <a:t>2021/6/3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smtClean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fld id="{64121CE6-E712-413E-ACD8-955771AA458E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170612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0x2b9a392ba73fa2fb12d0c4df95fc2aafe6ce61f6440835d57aef3c4a999247d1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121CE6-E712-413E-ACD8-955771AA458E}" type="slidenum">
              <a:rPr lang="zh-CN" altLang="en-US" smtClean="0"/>
              <a:pPr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8157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6"/>
          <p:cNvSpPr>
            <a:spLocks noChangeArrowheads="1"/>
          </p:cNvSpPr>
          <p:nvPr/>
        </p:nvSpPr>
        <p:spPr bwMode="auto">
          <a:xfrm>
            <a:off x="228600" y="1635125"/>
            <a:ext cx="2514600" cy="2514600"/>
          </a:xfrm>
          <a:prstGeom prst="ellips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 smtClean="0"/>
          </a:p>
        </p:txBody>
      </p:sp>
      <p:sp>
        <p:nvSpPr>
          <p:cNvPr id="5" name="Rectangle 7"/>
          <p:cNvSpPr>
            <a:spLocks noChangeArrowheads="1"/>
          </p:cNvSpPr>
          <p:nvPr/>
        </p:nvSpPr>
        <p:spPr bwMode="hidden">
          <a:xfrm>
            <a:off x="0" y="2397125"/>
            <a:ext cx="4724400" cy="114300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 sz="2400" smtClean="0"/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hidden">
          <a:xfrm>
            <a:off x="3962400" y="2397125"/>
            <a:ext cx="4724400" cy="1143000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 sz="2400" smtClean="0"/>
          </a:p>
        </p:txBody>
      </p:sp>
      <p:pic>
        <p:nvPicPr>
          <p:cNvPr id="9" name="Picture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8" y="6092825"/>
            <a:ext cx="9117012" cy="2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944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3059113" y="4149725"/>
            <a:ext cx="5184775" cy="1336675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189449" name="Rectangle 9"/>
          <p:cNvSpPr>
            <a:spLocks noGrp="1" noChangeArrowheads="1"/>
          </p:cNvSpPr>
          <p:nvPr>
            <p:ph type="ctrTitle"/>
          </p:nvPr>
        </p:nvSpPr>
        <p:spPr>
          <a:xfrm>
            <a:off x="838200" y="2163763"/>
            <a:ext cx="7405688" cy="160020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1" name="Rectangle 3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84913"/>
            <a:ext cx="1293813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738E57-93F9-4D16-9D65-7B0414EDCF8F}" type="datetimeFigureOut">
              <a:rPr lang="zh-CN" altLang="en-US" smtClean="0"/>
              <a:pPr>
                <a:defRPr/>
              </a:pPr>
              <a:t>2021/6/3</a:t>
            </a:fld>
            <a:endParaRPr lang="zh-CN" altLang="en-US"/>
          </a:p>
        </p:txBody>
      </p:sp>
      <p:sp>
        <p:nvSpPr>
          <p:cNvPr id="12" name="Rectangle 4"/>
          <p:cNvSpPr>
            <a:spLocks noGrp="1" noChangeArrowheads="1"/>
          </p:cNvSpPr>
          <p:nvPr>
            <p:ph type="ftr" sz="quarter" idx="11"/>
          </p:nvPr>
        </p:nvSpPr>
        <p:spPr>
          <a:xfrm>
            <a:off x="2195513" y="6202363"/>
            <a:ext cx="5113337" cy="5397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" name="Rectangle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0548130-33E5-4651-8CB0-053FFE4C990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144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C36114-4B0D-48F2-AFFD-DD492E28E8B1}" type="datetimeFigureOut">
              <a:rPr lang="zh-CN" altLang="en-US" smtClean="0"/>
              <a:pPr>
                <a:defRPr/>
              </a:pPr>
              <a:t>2021/6/3</a:t>
            </a:fld>
            <a:endParaRPr lang="zh-CN" alt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309C164-7C40-4743-A1D0-60CDBD9780F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9014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15F954-ED4F-4BB5-81E4-369170938DD6}" type="datetimeFigureOut">
              <a:rPr lang="zh-CN" altLang="en-US" smtClean="0"/>
              <a:pPr>
                <a:defRPr/>
              </a:pPr>
              <a:t>2021/6/3</a:t>
            </a:fld>
            <a:endParaRPr lang="zh-CN" alt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7F6FC0A-5A87-4514-96BC-E02BA09E53F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6311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8313" y="1484313"/>
            <a:ext cx="3994150" cy="43926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4863" y="1484313"/>
            <a:ext cx="3995737" cy="43926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4B7F95-78A0-4EB8-A841-36370DAECFC3}" type="datetimeFigureOut">
              <a:rPr lang="zh-CN" altLang="en-US" smtClean="0"/>
              <a:pPr>
                <a:defRPr/>
              </a:pPr>
              <a:t>2021/6/3</a:t>
            </a:fld>
            <a:endParaRPr lang="zh-CN" alt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2225C4B-1503-4E05-91D6-4EAE80571FF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4815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130273-FB3F-4409-B68D-27AC6E41ADBA}" type="datetimeFigureOut">
              <a:rPr lang="zh-CN" altLang="en-US" smtClean="0"/>
              <a:pPr>
                <a:defRPr/>
              </a:pPr>
              <a:t>2021/6/3</a:t>
            </a:fld>
            <a:endParaRPr lang="zh-CN" altLang="en-US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A0D7FE8-9F4A-4FCC-9904-F8AD160DF52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46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966980-E121-4D27-8E64-7E45764D8807}" type="datetimeFigureOut">
              <a:rPr lang="zh-CN" altLang="en-US" smtClean="0"/>
              <a:pPr>
                <a:defRPr/>
              </a:pPr>
              <a:t>2021/6/3</a:t>
            </a:fld>
            <a:endParaRPr lang="zh-CN" alt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82B6336-A0FB-4BAE-AFC2-E4641F2915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9457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CD6303-86B8-435D-9CDF-1D9D86A9AD6C}" type="datetimeFigureOut">
              <a:rPr lang="zh-CN" altLang="en-US" smtClean="0"/>
              <a:pPr>
                <a:defRPr/>
              </a:pPr>
              <a:t>2021/6/3</a:t>
            </a:fld>
            <a:endParaRPr lang="zh-CN" altLang="en-US"/>
          </a:p>
        </p:txBody>
      </p:sp>
      <p:sp>
        <p:nvSpPr>
          <p:cNvPr id="3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2C6FD49-9006-4ACC-B270-EC04A2D917F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3127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6CEF59-9DF9-4BC2-9D2C-8C5C0BAE01A8}" type="datetimeFigureOut">
              <a:rPr lang="zh-CN" altLang="en-US" smtClean="0"/>
              <a:pPr>
                <a:defRPr/>
              </a:pPr>
              <a:t>2021/6/3</a:t>
            </a:fld>
            <a:endParaRPr lang="zh-CN" alt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D06C489-D1FB-4028-9879-44C39A67CF5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7707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7582AB-7697-423A-8094-EDFC4FB6F069}" type="datetimeFigureOut">
              <a:rPr lang="zh-CN" altLang="en-US" smtClean="0"/>
              <a:pPr>
                <a:defRPr/>
              </a:pPr>
              <a:t>2021/6/3</a:t>
            </a:fld>
            <a:endParaRPr lang="zh-CN" alt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8C00C18-A1A9-4C03-9462-5B70A010C7C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5350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901C4D-A13F-4CBF-A93F-917A0BB25796}" type="datetimeFigureOut">
              <a:rPr lang="zh-CN" altLang="en-US" smtClean="0"/>
              <a:pPr>
                <a:defRPr/>
              </a:pPr>
              <a:t>2021/6/3</a:t>
            </a:fld>
            <a:endParaRPr lang="zh-CN" alt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CCD0368-030E-4470-9CC0-A8539E28CCE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3607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5425" y="404813"/>
            <a:ext cx="2035175" cy="54721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68313" y="404813"/>
            <a:ext cx="5954712" cy="5472112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65B808-DAE2-490F-9DA8-6B1F02696318}" type="datetimeFigureOut">
              <a:rPr lang="zh-CN" altLang="en-US" smtClean="0"/>
              <a:pPr>
                <a:defRPr/>
              </a:pPr>
              <a:t>2021/6/3</a:t>
            </a:fld>
            <a:endParaRPr lang="zh-CN" alt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B6C2C6C-AFC8-4EC7-BA35-3E0EA0828F2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29914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42988" y="404813"/>
            <a:ext cx="5616575" cy="57626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68313" y="1484313"/>
            <a:ext cx="3994150" cy="4392612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4863" y="1484313"/>
            <a:ext cx="3995737" cy="4392612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D486B6-4D75-475D-A2BA-381A4D02304A}" type="datetimeFigureOut">
              <a:rPr lang="zh-CN" altLang="en-US" smtClean="0"/>
              <a:pPr>
                <a:defRPr/>
              </a:pPr>
              <a:t>2021/6/3</a:t>
            </a:fld>
            <a:endParaRPr lang="zh-CN" alt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8D680A7-0A96-4F61-9ECD-6D8EEA3CDDB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32754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42988" y="404813"/>
            <a:ext cx="5616575" cy="57626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68313" y="1484313"/>
            <a:ext cx="3994150" cy="4392612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14863" y="1484313"/>
            <a:ext cx="3995737" cy="2119312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14863" y="3756025"/>
            <a:ext cx="3995737" cy="212090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2121C5-8A82-461F-9C43-B895C2BB9631}" type="datetimeFigureOut">
              <a:rPr lang="zh-CN" altLang="en-US" smtClean="0"/>
              <a:pPr>
                <a:defRPr/>
              </a:pPr>
              <a:t>2021/6/3</a:t>
            </a:fld>
            <a:endParaRPr lang="zh-CN" alt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F87A25D-A7AB-4FD5-BCD7-8D09FECE403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48861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42988" y="404813"/>
            <a:ext cx="5616575" cy="57626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68313" y="1484313"/>
            <a:ext cx="8142287" cy="4392612"/>
          </a:xfrm>
        </p:spPr>
        <p:txBody>
          <a:bodyPr/>
          <a:lstStyle/>
          <a:p>
            <a:pPr lvl="0"/>
            <a:r>
              <a:rPr lang="zh-CN" altLang="en-US" noProof="0" smtClean="0"/>
              <a:t>单击图标添加表格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C47007-5084-4A4B-96D7-4CA561231CE2}" type="datetimeFigureOut">
              <a:rPr lang="zh-CN" altLang="en-US" smtClean="0"/>
              <a:pPr>
                <a:defRPr/>
              </a:pPr>
              <a:t>2021/6/3</a:t>
            </a:fld>
            <a:endParaRPr lang="zh-CN" alt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98F181F-B538-4183-9F44-79237E3859D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8265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1042988" y="404813"/>
            <a:ext cx="5616575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3" y="1484313"/>
            <a:ext cx="8142287" cy="439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88423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11188" y="6284913"/>
            <a:ext cx="12938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600">
                <a:latin typeface="+mn-lt"/>
                <a:ea typeface="宋体" pitchFamily="2" charset="-122"/>
              </a:defRPr>
            </a:lvl1pPr>
          </a:lstStyle>
          <a:p>
            <a:pPr>
              <a:defRPr/>
            </a:pPr>
            <a:fld id="{8C693853-0C9D-41EA-8BCF-EF3ACA4223C9}" type="datetimeFigureOut">
              <a:rPr lang="zh-CN" altLang="en-US" smtClean="0"/>
              <a:pPr>
                <a:defRPr/>
              </a:pPr>
              <a:t>2021/6/3</a:t>
            </a:fld>
            <a:endParaRPr lang="zh-CN" altLang="en-US"/>
          </a:p>
        </p:txBody>
      </p:sp>
      <p:sp>
        <p:nvSpPr>
          <p:cNvPr id="188424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051050" y="6202363"/>
            <a:ext cx="5257800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6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88425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24750" y="6284913"/>
            <a:ext cx="9334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600"/>
            </a:lvl1pPr>
          </a:lstStyle>
          <a:p>
            <a:fld id="{40102EC4-04E9-4BDC-BD4F-A88C8CF7337D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8" y="6092825"/>
            <a:ext cx="9117012" cy="2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90228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6" r:id="rId1"/>
    <p:sldLayoutId id="2147483917" r:id="rId2"/>
    <p:sldLayoutId id="2147483918" r:id="rId3"/>
    <p:sldLayoutId id="2147483919" r:id="rId4"/>
    <p:sldLayoutId id="2147483920" r:id="rId5"/>
    <p:sldLayoutId id="2147483921" r:id="rId6"/>
    <p:sldLayoutId id="2147483922" r:id="rId7"/>
    <p:sldLayoutId id="2147483923" r:id="rId8"/>
    <p:sldLayoutId id="2147483924" r:id="rId9"/>
    <p:sldLayoutId id="2147483925" r:id="rId10"/>
    <p:sldLayoutId id="2147483926" r:id="rId11"/>
    <p:sldLayoutId id="2147483927" r:id="rId12"/>
    <p:sldLayoutId id="2147483928" r:id="rId13"/>
    <p:sldLayoutId id="2147483929" r:id="rId14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ea typeface="宋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ea typeface="宋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ea typeface="宋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ea typeface="宋体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ea typeface="宋体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ea typeface="宋体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ea typeface="宋体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ea typeface="宋体" pitchFamily="2" charset="-122"/>
        </a:defRPr>
      </a:lvl9pPr>
    </p:titleStyle>
    <p:bodyStyle>
      <a:lvl1pPr marL="447675" indent="-44767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楷体" pitchFamily="49" charset="-122"/>
          <a:cs typeface="+mn-cs"/>
        </a:defRPr>
      </a:lvl1pPr>
      <a:lvl2pPr marL="889000" indent="-439738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anose="05000000000000000000" pitchFamily="2" charset="2"/>
        <a:buChar char="¡"/>
        <a:defRPr sz="2400">
          <a:solidFill>
            <a:schemeClr val="tx1"/>
          </a:solidFill>
          <a:latin typeface="+mn-lt"/>
          <a:ea typeface="楷体" pitchFamily="49" charset="-122"/>
        </a:defRPr>
      </a:lvl2pPr>
      <a:lvl3pPr marL="1293813" indent="-4032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楷体" pitchFamily="49" charset="-122"/>
        </a:defRPr>
      </a:lvl3pPr>
      <a:lvl4pPr marL="1681163" indent="-385763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anose="05000000000000000000" pitchFamily="2" charset="2"/>
        <a:buChar char="¡"/>
        <a:defRPr sz="2000">
          <a:solidFill>
            <a:schemeClr val="tx1"/>
          </a:solidFill>
          <a:latin typeface="+mn-lt"/>
          <a:ea typeface="楷体" pitchFamily="49" charset="-122"/>
        </a:defRPr>
      </a:lvl4pPr>
      <a:lvl5pPr marL="2070100" indent="-3873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n"/>
        <a:defRPr sz="1600">
          <a:solidFill>
            <a:schemeClr val="tx1"/>
          </a:solidFill>
          <a:latin typeface="+mn-lt"/>
          <a:ea typeface="楷体" pitchFamily="49" charset="-122"/>
        </a:defRPr>
      </a:lvl5pPr>
      <a:lvl6pPr marL="2527300" indent="-3873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1600">
          <a:solidFill>
            <a:schemeClr val="tx1"/>
          </a:solidFill>
          <a:latin typeface="+mn-lt"/>
          <a:ea typeface="+mn-ea"/>
        </a:defRPr>
      </a:lvl6pPr>
      <a:lvl7pPr marL="2984500" indent="-3873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1600">
          <a:solidFill>
            <a:schemeClr val="tx1"/>
          </a:solidFill>
          <a:latin typeface="+mn-lt"/>
          <a:ea typeface="+mn-ea"/>
        </a:defRPr>
      </a:lvl7pPr>
      <a:lvl8pPr marL="3441700" indent="-3873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1600">
          <a:solidFill>
            <a:schemeClr val="tx1"/>
          </a:solidFill>
          <a:latin typeface="+mn-lt"/>
          <a:ea typeface="+mn-ea"/>
        </a:defRPr>
      </a:lvl8pPr>
      <a:lvl9pPr marL="3898900" indent="-3873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以太坊智能合约进阶</a:t>
            </a:r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数组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固定长度字节数组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声明</a:t>
            </a:r>
            <a:r>
              <a:rPr lang="zh-CN" altLang="en-US" dirty="0"/>
              <a:t>方式：</a:t>
            </a:r>
          </a:p>
          <a:p>
            <a:pPr lvl="2"/>
            <a:r>
              <a:rPr lang="en-US" altLang="zh-CN" dirty="0"/>
              <a:t>bytes1, bytes2, bytes3, ..., bytes32 </a:t>
            </a:r>
            <a:r>
              <a:rPr lang="zh-CN" altLang="en-US" dirty="0"/>
              <a:t>。其中 </a:t>
            </a:r>
            <a:r>
              <a:rPr lang="en-US" altLang="zh-CN" dirty="0"/>
              <a:t>byte </a:t>
            </a:r>
            <a:r>
              <a:rPr lang="zh-CN" altLang="en-US" dirty="0"/>
              <a:t>是 </a:t>
            </a:r>
            <a:r>
              <a:rPr lang="en-US" altLang="zh-CN" dirty="0"/>
              <a:t>bytes1</a:t>
            </a:r>
            <a:r>
              <a:rPr lang="zh-CN" altLang="en-US" dirty="0"/>
              <a:t>的别名</a:t>
            </a:r>
            <a:r>
              <a:rPr lang="en-US" altLang="zh-CN" dirty="0" smtClean="0"/>
              <a:t>.</a:t>
            </a:r>
          </a:p>
          <a:p>
            <a:pPr lvl="1"/>
            <a:r>
              <a:rPr lang="zh-CN" altLang="en-US" dirty="0"/>
              <a:t>固定长度字节</a:t>
            </a:r>
            <a:r>
              <a:rPr lang="zh-CN" altLang="en-US" dirty="0" smtClean="0"/>
              <a:t>数组的长度</a:t>
            </a:r>
            <a:r>
              <a:rPr lang="zh-CN" altLang="en-US" dirty="0"/>
              <a:t>不可变，</a:t>
            </a:r>
            <a:r>
              <a:rPr lang="zh-CN" altLang="en-US" b="1" dirty="0">
                <a:solidFill>
                  <a:srgbClr val="FF0000"/>
                </a:solidFill>
              </a:rPr>
              <a:t>内容不可修改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zh-CN" altLang="en-US" dirty="0"/>
              <a:t>属性</a:t>
            </a:r>
          </a:p>
          <a:p>
            <a:pPr lvl="2"/>
            <a:r>
              <a:rPr lang="en-US" altLang="zh-CN" dirty="0"/>
              <a:t>length</a:t>
            </a:r>
          </a:p>
          <a:p>
            <a:pPr lvl="1"/>
            <a:r>
              <a:rPr lang="zh-CN" altLang="en-US" dirty="0"/>
              <a:t>操作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索引</a:t>
            </a:r>
            <a:r>
              <a:rPr lang="zh-CN" altLang="en-US" dirty="0"/>
              <a:t>访问</a:t>
            </a:r>
            <a:r>
              <a:rPr lang="en-US" altLang="zh-CN" dirty="0"/>
              <a:t>: </a:t>
            </a:r>
            <a:r>
              <a:rPr lang="zh-CN" altLang="en-US" dirty="0"/>
              <a:t>如果</a:t>
            </a:r>
            <a:r>
              <a:rPr lang="en-US" altLang="zh-CN" dirty="0"/>
              <a:t>x </a:t>
            </a:r>
            <a:r>
              <a:rPr lang="zh-CN" altLang="en-US" dirty="0"/>
              <a:t>是 </a:t>
            </a:r>
            <a:r>
              <a:rPr lang="en-US" altLang="zh-CN" dirty="0" err="1"/>
              <a:t>bytesI</a:t>
            </a:r>
            <a:r>
              <a:rPr lang="zh-CN" altLang="en-US" dirty="0"/>
              <a:t>类型的</a:t>
            </a:r>
            <a:r>
              <a:rPr lang="en-US" altLang="zh-CN" dirty="0"/>
              <a:t>, </a:t>
            </a:r>
            <a:r>
              <a:rPr lang="zh-CN" altLang="en-US" dirty="0"/>
              <a:t>那么</a:t>
            </a:r>
            <a:r>
              <a:rPr lang="en-US" altLang="zh-CN" dirty="0"/>
              <a:t>x[k] </a:t>
            </a:r>
            <a:r>
              <a:rPr lang="zh-CN" altLang="en-US" dirty="0"/>
              <a:t>，</a:t>
            </a:r>
            <a:r>
              <a:rPr lang="en-US" altLang="zh-CN" dirty="0"/>
              <a:t>0 &lt;= k &lt; I  </a:t>
            </a:r>
            <a:r>
              <a:rPr lang="zh-CN" altLang="en-US" dirty="0"/>
              <a:t>返回第 </a:t>
            </a:r>
            <a:r>
              <a:rPr lang="en-US" altLang="zh-CN" dirty="0"/>
              <a:t>k </a:t>
            </a:r>
            <a:r>
              <a:rPr lang="zh-CN" altLang="en-US" dirty="0"/>
              <a:t>位字节</a:t>
            </a:r>
            <a:r>
              <a:rPr lang="en-US" altLang="zh-CN" dirty="0"/>
              <a:t>.</a:t>
            </a:r>
          </a:p>
          <a:p>
            <a:pPr lvl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818418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9" y="1268760"/>
            <a:ext cx="8287072" cy="4608165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/>
              <a:t>pragma solidity &gt;=0.7.0 &lt;0.9.0</a:t>
            </a:r>
            <a:r>
              <a:rPr lang="en-US" altLang="zh-CN" sz="2000" dirty="0" smtClean="0"/>
              <a:t>;</a:t>
            </a:r>
          </a:p>
          <a:p>
            <a:pPr marL="0" indent="0">
              <a:buNone/>
            </a:pPr>
            <a:endParaRPr lang="en-US" altLang="zh-CN" sz="2000" dirty="0" smtClean="0"/>
          </a:p>
          <a:p>
            <a:pPr marL="0" indent="0">
              <a:buNone/>
            </a:pPr>
            <a:r>
              <a:rPr lang="en-US" altLang="zh-CN" sz="2000" dirty="0" smtClean="0"/>
              <a:t>contract </a:t>
            </a:r>
            <a:r>
              <a:rPr lang="en-US" altLang="zh-CN" sz="2000" dirty="0" err="1"/>
              <a:t>fix_byte_array</a:t>
            </a:r>
            <a:r>
              <a:rPr lang="en-US" altLang="zh-CN" sz="2000" dirty="0"/>
              <a:t> {     </a:t>
            </a:r>
            <a:endParaRPr lang="en-US" altLang="zh-CN" sz="2000" dirty="0" smtClean="0"/>
          </a:p>
          <a:p>
            <a:pPr marL="0" indent="0">
              <a:buNone/>
            </a:pPr>
            <a:r>
              <a:rPr lang="en-US" altLang="zh-CN" sz="2000" dirty="0"/>
              <a:t> </a:t>
            </a:r>
            <a:r>
              <a:rPr lang="en-US" altLang="zh-CN" sz="2000" dirty="0" smtClean="0"/>
              <a:t>          bytes3 </a:t>
            </a:r>
            <a:r>
              <a:rPr lang="en-US" altLang="zh-CN" sz="2000" dirty="0"/>
              <a:t>public </a:t>
            </a:r>
            <a:r>
              <a:rPr lang="en-US" altLang="zh-CN" sz="2000" dirty="0" err="1"/>
              <a:t>myarray</a:t>
            </a:r>
            <a:r>
              <a:rPr lang="en-US" altLang="zh-CN" sz="2000" dirty="0"/>
              <a:t>="</a:t>
            </a:r>
            <a:r>
              <a:rPr lang="en-US" altLang="zh-CN" sz="2000" dirty="0" err="1"/>
              <a:t>abc</a:t>
            </a:r>
            <a:r>
              <a:rPr lang="en-US" altLang="zh-CN" sz="2000" dirty="0"/>
              <a:t>";      </a:t>
            </a:r>
            <a:endParaRPr lang="en-US" altLang="zh-CN" sz="2000" dirty="0" smtClean="0"/>
          </a:p>
          <a:p>
            <a:pPr marL="0" indent="0">
              <a:buNone/>
            </a:pPr>
            <a:r>
              <a:rPr lang="en-US" altLang="zh-CN" sz="2000" dirty="0"/>
              <a:t> </a:t>
            </a:r>
            <a:r>
              <a:rPr lang="en-US" altLang="zh-CN" sz="2000" dirty="0" smtClean="0"/>
              <a:t>          function </a:t>
            </a:r>
            <a:r>
              <a:rPr lang="en-US" altLang="zh-CN" sz="2000" dirty="0" err="1"/>
              <a:t>find_fix_byte</a:t>
            </a:r>
            <a:r>
              <a:rPr lang="en-US" altLang="zh-CN" sz="2000" dirty="0"/>
              <a:t>(bytes1 key) public view returns(bool find) </a:t>
            </a:r>
            <a:endParaRPr lang="en-US" altLang="zh-CN" sz="2000" dirty="0" smtClean="0"/>
          </a:p>
          <a:p>
            <a:pPr marL="0" indent="0">
              <a:buNone/>
            </a:pPr>
            <a:r>
              <a:rPr lang="en-US" altLang="zh-CN" sz="2000" dirty="0"/>
              <a:t> </a:t>
            </a:r>
            <a:r>
              <a:rPr lang="en-US" altLang="zh-CN" sz="2000" dirty="0" smtClean="0"/>
              <a:t>          {            </a:t>
            </a:r>
          </a:p>
          <a:p>
            <a:pPr marL="0" indent="0">
              <a:buNone/>
            </a:pPr>
            <a:r>
              <a:rPr lang="en-US" altLang="zh-CN" sz="2000" dirty="0"/>
              <a:t> </a:t>
            </a:r>
            <a:r>
              <a:rPr lang="en-US" altLang="zh-CN" sz="2000" dirty="0" smtClean="0"/>
              <a:t>                        find=false</a:t>
            </a:r>
            <a:r>
              <a:rPr lang="en-US" altLang="zh-CN" sz="2000" dirty="0"/>
              <a:t>;            </a:t>
            </a:r>
            <a:endParaRPr lang="en-US" altLang="zh-CN" sz="2000" dirty="0" smtClean="0"/>
          </a:p>
          <a:p>
            <a:pPr marL="0" indent="0">
              <a:buNone/>
            </a:pPr>
            <a:r>
              <a:rPr lang="en-US" altLang="zh-CN" sz="2000" dirty="0"/>
              <a:t> </a:t>
            </a:r>
            <a:r>
              <a:rPr lang="en-US" altLang="zh-CN" sz="2000" dirty="0" smtClean="0"/>
              <a:t>                        for(</a:t>
            </a:r>
            <a:r>
              <a:rPr lang="en-US" altLang="zh-CN" sz="2000" dirty="0" err="1" smtClean="0"/>
              <a:t>uint</a:t>
            </a:r>
            <a:r>
              <a:rPr lang="en-US" altLang="zh-CN" sz="2000" dirty="0" smtClean="0"/>
              <a:t>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 = 0;i &lt;</a:t>
            </a:r>
            <a:r>
              <a:rPr lang="en-US" altLang="zh-CN" sz="2000" dirty="0" err="1"/>
              <a:t>myarray.length</a:t>
            </a:r>
            <a:r>
              <a:rPr lang="en-US" altLang="zh-CN" sz="2000" dirty="0"/>
              <a:t>;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++)                     </a:t>
            </a:r>
            <a:endParaRPr lang="en-US" altLang="zh-CN" sz="2000" dirty="0" smtClean="0"/>
          </a:p>
          <a:p>
            <a:pPr marL="0" indent="0">
              <a:buNone/>
            </a:pPr>
            <a:r>
              <a:rPr lang="en-US" altLang="zh-CN" sz="2000" dirty="0"/>
              <a:t> </a:t>
            </a:r>
            <a:r>
              <a:rPr lang="en-US" altLang="zh-CN" sz="2000" dirty="0" smtClean="0"/>
              <a:t>                                     if(</a:t>
            </a:r>
            <a:r>
              <a:rPr lang="en-US" altLang="zh-CN" sz="2000" dirty="0" err="1" smtClean="0"/>
              <a:t>myarray</a:t>
            </a:r>
            <a:r>
              <a:rPr lang="en-US" altLang="zh-CN" sz="2000" dirty="0" smtClean="0"/>
              <a:t>[</a:t>
            </a:r>
            <a:r>
              <a:rPr lang="en-US" altLang="zh-CN" sz="2000" dirty="0" err="1" smtClean="0"/>
              <a:t>i</a:t>
            </a:r>
            <a:r>
              <a:rPr lang="en-US" altLang="zh-CN" sz="2000" dirty="0"/>
              <a:t>]==key) </a:t>
            </a:r>
            <a:endParaRPr lang="en-US" altLang="zh-CN" sz="2000" dirty="0" smtClean="0"/>
          </a:p>
          <a:p>
            <a:pPr marL="0" indent="0">
              <a:buNone/>
            </a:pPr>
            <a:r>
              <a:rPr lang="en-US" altLang="zh-CN" sz="2000" dirty="0"/>
              <a:t> </a:t>
            </a:r>
            <a:r>
              <a:rPr lang="en-US" altLang="zh-CN" sz="2000" dirty="0" smtClean="0"/>
              <a:t>                                           </a:t>
            </a:r>
            <a:r>
              <a:rPr lang="en-US" altLang="zh-CN" sz="2000" dirty="0"/>
              <a:t>find=true;            </a:t>
            </a:r>
            <a:endParaRPr lang="en-US" altLang="zh-CN" sz="2000" dirty="0" smtClean="0"/>
          </a:p>
          <a:p>
            <a:pPr marL="0" indent="0">
              <a:buNone/>
            </a:pPr>
            <a:r>
              <a:rPr lang="en-US" altLang="zh-CN" sz="2000" dirty="0" smtClean="0"/>
              <a:t>                         return </a:t>
            </a:r>
            <a:r>
              <a:rPr lang="en-US" altLang="zh-CN" sz="2000" dirty="0"/>
              <a:t>find;     </a:t>
            </a:r>
            <a:endParaRPr lang="en-US" altLang="zh-CN" sz="2000" dirty="0" smtClean="0"/>
          </a:p>
          <a:p>
            <a:pPr marL="0" indent="0">
              <a:buNone/>
            </a:pPr>
            <a:r>
              <a:rPr lang="en-US" altLang="zh-CN" sz="2000" dirty="0"/>
              <a:t> </a:t>
            </a:r>
            <a:r>
              <a:rPr lang="en-US" altLang="zh-CN" sz="2000" dirty="0" smtClean="0"/>
              <a:t>            }</a:t>
            </a:r>
          </a:p>
          <a:p>
            <a:pPr marL="0" indent="0">
              <a:buNone/>
            </a:pPr>
            <a:r>
              <a:rPr lang="en-US" altLang="zh-CN" sz="2000" dirty="0" smtClean="0"/>
              <a:t>}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754881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可变字节</a:t>
            </a:r>
            <a:r>
              <a:rPr lang="zh-CN" altLang="en-US" dirty="0" smtClean="0"/>
              <a:t>数组</a:t>
            </a:r>
            <a:endParaRPr lang="en-US" altLang="zh-CN" dirty="0" smtClean="0"/>
          </a:p>
          <a:p>
            <a:pPr lvl="1"/>
            <a:r>
              <a:rPr lang="zh-CN" altLang="en-US" dirty="0"/>
              <a:t>声明方式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bytes </a:t>
            </a:r>
            <a:r>
              <a:rPr lang="zh-CN" altLang="en-US" dirty="0" smtClean="0"/>
              <a:t>数组名</a:t>
            </a:r>
            <a:r>
              <a:rPr lang="en-US" altLang="zh-CN" dirty="0" smtClean="0"/>
              <a:t> </a:t>
            </a:r>
            <a:r>
              <a:rPr lang="en-US" altLang="zh-CN" dirty="0"/>
              <a:t>= new </a:t>
            </a:r>
            <a:r>
              <a:rPr lang="en-US" altLang="zh-CN" dirty="0" smtClean="0"/>
              <a:t>bytes(</a:t>
            </a:r>
            <a:r>
              <a:rPr lang="zh-CN" altLang="en-US" dirty="0" smtClean="0"/>
              <a:t>数组长度</a:t>
            </a:r>
            <a:r>
              <a:rPr lang="en-US" altLang="zh-CN" dirty="0" smtClean="0"/>
              <a:t>)</a:t>
            </a:r>
          </a:p>
          <a:p>
            <a:pPr lvl="2"/>
            <a:r>
              <a:rPr lang="en-US" altLang="zh-CN" dirty="0"/>
              <a:t>byte[] </a:t>
            </a:r>
            <a:r>
              <a:rPr lang="zh-CN" altLang="en-US" dirty="0" smtClean="0"/>
              <a:t>数组名</a:t>
            </a:r>
            <a:endParaRPr lang="zh-CN" altLang="en-US" dirty="0"/>
          </a:p>
          <a:p>
            <a:pPr lvl="1"/>
            <a:r>
              <a:rPr lang="zh-CN" altLang="en-US" dirty="0"/>
              <a:t>可变字节数组的</a:t>
            </a:r>
            <a:r>
              <a:rPr lang="zh-CN" altLang="en-US" dirty="0" smtClean="0"/>
              <a:t>长度可变</a:t>
            </a:r>
            <a:r>
              <a:rPr lang="zh-CN" altLang="en-US" dirty="0"/>
              <a:t>，</a:t>
            </a:r>
            <a:r>
              <a:rPr lang="zh-CN" altLang="en-US" dirty="0" smtClean="0"/>
              <a:t>内容可</a:t>
            </a:r>
            <a:r>
              <a:rPr lang="zh-CN" altLang="en-US" dirty="0"/>
              <a:t>修改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成员：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length</a:t>
            </a:r>
          </a:p>
          <a:p>
            <a:pPr lvl="2"/>
            <a:r>
              <a:rPr lang="en-US" altLang="zh-CN" smtClean="0"/>
              <a:t>push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432163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981075"/>
            <a:ext cx="8784975" cy="5472261"/>
          </a:xfrm>
        </p:spPr>
        <p:txBody>
          <a:bodyPr/>
          <a:lstStyle/>
          <a:p>
            <a:r>
              <a:rPr lang="zh-CN" altLang="en-US" dirty="0"/>
              <a:t>固定</a:t>
            </a:r>
            <a:r>
              <a:rPr lang="zh-CN" altLang="en-US" dirty="0" smtClean="0"/>
              <a:t>长度数组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语法：  类型</a:t>
            </a:r>
            <a:r>
              <a:rPr lang="en-US" altLang="zh-CN" dirty="0" smtClean="0"/>
              <a:t>[</a:t>
            </a:r>
            <a:r>
              <a:rPr lang="zh-CN" altLang="en-US" dirty="0" smtClean="0"/>
              <a:t>数组大小</a:t>
            </a:r>
            <a:r>
              <a:rPr lang="en-US" altLang="zh-CN" dirty="0" smtClean="0"/>
              <a:t>]  </a:t>
            </a:r>
            <a:r>
              <a:rPr lang="zh-CN" altLang="en-US" dirty="0" smtClean="0"/>
              <a:t>数组名</a:t>
            </a:r>
            <a:r>
              <a:rPr lang="en-US" altLang="zh-CN" dirty="0" smtClean="0"/>
              <a:t>=[[</a:t>
            </a:r>
            <a:r>
              <a:rPr lang="zh-CN" altLang="en-US" dirty="0" smtClean="0"/>
              <a:t>初值列表</a:t>
            </a:r>
            <a:r>
              <a:rPr lang="en-US" altLang="zh-CN" dirty="0" smtClean="0"/>
              <a:t>]];</a:t>
            </a:r>
          </a:p>
          <a:p>
            <a:pPr lvl="1"/>
            <a:r>
              <a:rPr lang="zh-CN" altLang="en-US" dirty="0" smtClean="0"/>
              <a:t>方法： </a:t>
            </a:r>
            <a:r>
              <a:rPr lang="en-US" altLang="zh-CN" dirty="0" smtClean="0"/>
              <a:t>length</a:t>
            </a:r>
            <a:r>
              <a:rPr lang="zh-CN" altLang="en-US" dirty="0" smtClean="0"/>
              <a:t>，下标索引访问</a:t>
            </a:r>
            <a:endParaRPr lang="en-US" altLang="zh-CN" dirty="0" smtClean="0"/>
          </a:p>
          <a:p>
            <a:pPr marL="0" indent="0">
              <a:buNone/>
            </a:pPr>
            <a:endParaRPr lang="en-US" altLang="zh-CN" sz="1600" dirty="0" smtClean="0"/>
          </a:p>
          <a:p>
            <a:pPr marL="0" indent="0">
              <a:buNone/>
            </a:pPr>
            <a:r>
              <a:rPr lang="en-US" altLang="zh-CN" sz="1600" dirty="0" smtClean="0"/>
              <a:t>pragma </a:t>
            </a:r>
            <a:r>
              <a:rPr lang="en-US" altLang="zh-CN" sz="1600" dirty="0"/>
              <a:t>solidity &gt;=0.7.0 &lt;0.9.0</a:t>
            </a:r>
            <a:r>
              <a:rPr lang="en-US" altLang="zh-CN" sz="1600" dirty="0" smtClean="0"/>
              <a:t>;</a:t>
            </a:r>
          </a:p>
          <a:p>
            <a:pPr marL="0" indent="0">
              <a:buNone/>
            </a:pPr>
            <a:r>
              <a:rPr lang="en-US" altLang="zh-CN" sz="1600" dirty="0" smtClean="0"/>
              <a:t>contract </a:t>
            </a:r>
            <a:r>
              <a:rPr lang="en-US" altLang="zh-CN" sz="1600" dirty="0" err="1"/>
              <a:t>arraytest</a:t>
            </a:r>
            <a:r>
              <a:rPr lang="en-US" altLang="zh-CN" sz="1600" dirty="0"/>
              <a:t>{        </a:t>
            </a:r>
            <a:endParaRPr lang="en-US" altLang="zh-CN" sz="1600" dirty="0" smtClean="0"/>
          </a:p>
          <a:p>
            <a:pPr marL="0" indent="0">
              <a:buNone/>
            </a:pPr>
            <a:r>
              <a:rPr lang="en-US" altLang="zh-CN" sz="1600" dirty="0"/>
              <a:t>	</a:t>
            </a:r>
            <a:r>
              <a:rPr lang="en-US" altLang="zh-CN" sz="1600" dirty="0" err="1" smtClean="0"/>
              <a:t>uint</a:t>
            </a:r>
            <a:r>
              <a:rPr lang="en-US" altLang="zh-CN" sz="1600" dirty="0" smtClean="0"/>
              <a:t>[5</a:t>
            </a:r>
            <a:r>
              <a:rPr lang="en-US" altLang="zh-CN" sz="1600" dirty="0"/>
              <a:t>] </a:t>
            </a:r>
            <a:r>
              <a:rPr lang="en-US" altLang="zh-CN" sz="1600" dirty="0" err="1"/>
              <a:t>goods_count</a:t>
            </a:r>
            <a:r>
              <a:rPr lang="en-US" altLang="zh-CN" sz="1600" dirty="0"/>
              <a:t>;        </a:t>
            </a:r>
            <a:endParaRPr lang="en-US" altLang="zh-CN" sz="1600" dirty="0" smtClean="0"/>
          </a:p>
          <a:p>
            <a:pPr marL="0" indent="0">
              <a:buNone/>
            </a:pPr>
            <a:r>
              <a:rPr lang="en-US" altLang="zh-CN" sz="1600" dirty="0"/>
              <a:t>	</a:t>
            </a:r>
            <a:r>
              <a:rPr lang="en-US" altLang="zh-CN" sz="1600" dirty="0" smtClean="0"/>
              <a:t>function </a:t>
            </a:r>
            <a:r>
              <a:rPr lang="en-US" altLang="zh-CN" sz="1600" dirty="0" err="1"/>
              <a:t>init_array</a:t>
            </a:r>
            <a:r>
              <a:rPr lang="en-US" altLang="zh-CN" sz="1600" dirty="0"/>
              <a:t>() public {                </a:t>
            </a:r>
            <a:endParaRPr lang="en-US" altLang="zh-CN" sz="1600" dirty="0" smtClean="0"/>
          </a:p>
          <a:p>
            <a:pPr marL="0" indent="0">
              <a:buNone/>
            </a:pPr>
            <a:r>
              <a:rPr lang="en-US" altLang="zh-CN" sz="1600" dirty="0"/>
              <a:t>	</a:t>
            </a:r>
            <a:r>
              <a:rPr lang="en-US" altLang="zh-CN" sz="1600" dirty="0" smtClean="0"/>
              <a:t>         for(</a:t>
            </a:r>
            <a:r>
              <a:rPr lang="en-US" altLang="zh-CN" sz="1600" dirty="0" err="1" smtClean="0"/>
              <a:t>uint</a:t>
            </a:r>
            <a:r>
              <a:rPr lang="en-US" altLang="zh-CN" sz="1600" dirty="0" smtClean="0"/>
              <a:t> </a:t>
            </a:r>
            <a:r>
              <a:rPr lang="en-US" altLang="zh-CN" sz="1600" dirty="0" err="1" smtClean="0"/>
              <a:t>i</a:t>
            </a:r>
            <a:r>
              <a:rPr lang="en-US" altLang="zh-CN" sz="1600" dirty="0" smtClean="0"/>
              <a:t>=0;i&lt;</a:t>
            </a:r>
            <a:r>
              <a:rPr lang="en-US" altLang="zh-CN" sz="1600" dirty="0" err="1" smtClean="0"/>
              <a:t>goods_count.length;i</a:t>
            </a:r>
            <a:r>
              <a:rPr lang="en-US" altLang="zh-CN" sz="1600" dirty="0"/>
              <a:t>++)            </a:t>
            </a:r>
            <a:endParaRPr lang="en-US" altLang="zh-CN" sz="1600" dirty="0" smtClean="0"/>
          </a:p>
          <a:p>
            <a:pPr marL="0" indent="0">
              <a:buNone/>
            </a:pPr>
            <a:r>
              <a:rPr lang="en-US" altLang="zh-CN" sz="1600" dirty="0"/>
              <a:t>	</a:t>
            </a:r>
            <a:r>
              <a:rPr lang="en-US" altLang="zh-CN" sz="1600" dirty="0" smtClean="0"/>
              <a:t>	</a:t>
            </a:r>
            <a:r>
              <a:rPr lang="en-US" altLang="zh-CN" sz="1600" dirty="0" err="1" smtClean="0"/>
              <a:t>goods_count</a:t>
            </a:r>
            <a:r>
              <a:rPr lang="en-US" altLang="zh-CN" sz="1600" dirty="0" smtClean="0"/>
              <a:t>[</a:t>
            </a:r>
            <a:r>
              <a:rPr lang="en-US" altLang="zh-CN" sz="1600" dirty="0" err="1" smtClean="0"/>
              <a:t>i</a:t>
            </a:r>
            <a:r>
              <a:rPr lang="en-US" altLang="zh-CN" sz="1600" dirty="0"/>
              <a:t>]=</a:t>
            </a:r>
            <a:r>
              <a:rPr lang="en-US" altLang="zh-CN" sz="1600" dirty="0" err="1"/>
              <a:t>i</a:t>
            </a:r>
            <a:r>
              <a:rPr lang="en-US" altLang="zh-CN" sz="1600" dirty="0"/>
              <a:t>;    </a:t>
            </a:r>
            <a:endParaRPr lang="en-US" altLang="zh-CN" sz="1600" dirty="0" smtClean="0"/>
          </a:p>
          <a:p>
            <a:pPr marL="0" indent="0">
              <a:buNone/>
            </a:pPr>
            <a:r>
              <a:rPr lang="en-US" altLang="zh-CN" sz="1600" dirty="0" smtClean="0"/>
              <a:t>               }</a:t>
            </a:r>
          </a:p>
          <a:p>
            <a:pPr marL="0" indent="0">
              <a:buNone/>
            </a:pPr>
            <a:r>
              <a:rPr lang="en-US" altLang="zh-CN" sz="1600" dirty="0"/>
              <a:t> </a:t>
            </a:r>
            <a:r>
              <a:rPr lang="en-US" altLang="zh-CN" sz="1600" dirty="0" smtClean="0"/>
              <a:t>              function </a:t>
            </a:r>
            <a:r>
              <a:rPr lang="en-US" altLang="zh-CN" sz="1600" dirty="0" err="1"/>
              <a:t>sum_array</a:t>
            </a:r>
            <a:r>
              <a:rPr lang="en-US" altLang="zh-CN" sz="1600" dirty="0"/>
              <a:t>() public view returns(</a:t>
            </a:r>
            <a:r>
              <a:rPr lang="en-US" altLang="zh-CN" sz="1600" dirty="0" err="1"/>
              <a:t>uint</a:t>
            </a:r>
            <a:r>
              <a:rPr lang="en-US" altLang="zh-CN" sz="1600" dirty="0"/>
              <a:t> sum</a:t>
            </a:r>
            <a:r>
              <a:rPr lang="en-US" altLang="zh-CN" sz="1600" dirty="0" smtClean="0"/>
              <a:t>){</a:t>
            </a:r>
          </a:p>
          <a:p>
            <a:pPr marL="0" indent="0">
              <a:buNone/>
            </a:pPr>
            <a:r>
              <a:rPr lang="en-US" altLang="zh-CN" sz="1600" dirty="0"/>
              <a:t> </a:t>
            </a:r>
            <a:r>
              <a:rPr lang="en-US" altLang="zh-CN" sz="1600" dirty="0" smtClean="0"/>
              <a:t>                         </a:t>
            </a:r>
            <a:r>
              <a:rPr lang="en-US" altLang="zh-CN" sz="1600" dirty="0"/>
              <a:t>sum=0;        </a:t>
            </a:r>
            <a:endParaRPr lang="en-US" altLang="zh-CN" sz="1600" dirty="0" smtClean="0"/>
          </a:p>
          <a:p>
            <a:pPr marL="0" indent="0">
              <a:buNone/>
            </a:pPr>
            <a:r>
              <a:rPr lang="en-US" altLang="zh-CN" sz="1600" dirty="0"/>
              <a:t> </a:t>
            </a:r>
            <a:r>
              <a:rPr lang="en-US" altLang="zh-CN" sz="1600" dirty="0" smtClean="0"/>
              <a:t>                         for(</a:t>
            </a:r>
            <a:r>
              <a:rPr lang="en-US" altLang="zh-CN" sz="1600" dirty="0" err="1"/>
              <a:t>uint</a:t>
            </a:r>
            <a:r>
              <a:rPr lang="en-US" altLang="zh-CN" sz="1600" dirty="0"/>
              <a:t> </a:t>
            </a:r>
            <a:r>
              <a:rPr lang="en-US" altLang="zh-CN" sz="1600" dirty="0" err="1" smtClean="0"/>
              <a:t>i</a:t>
            </a:r>
            <a:r>
              <a:rPr lang="en-US" altLang="zh-CN" sz="1600" dirty="0" smtClean="0"/>
              <a:t>=0;i&lt;</a:t>
            </a:r>
            <a:r>
              <a:rPr lang="en-US" altLang="zh-CN" sz="1600" dirty="0" err="1" smtClean="0"/>
              <a:t>goods_count.length;i</a:t>
            </a:r>
            <a:r>
              <a:rPr lang="en-US" altLang="zh-CN" sz="1600" dirty="0"/>
              <a:t>++)            </a:t>
            </a:r>
            <a:r>
              <a:rPr lang="en-US" altLang="zh-CN" sz="1600" dirty="0" smtClean="0"/>
              <a:t>                   </a:t>
            </a:r>
          </a:p>
          <a:p>
            <a:pPr marL="0" indent="0">
              <a:buNone/>
            </a:pPr>
            <a:r>
              <a:rPr lang="en-US" altLang="zh-CN" sz="1600" dirty="0"/>
              <a:t> </a:t>
            </a:r>
            <a:r>
              <a:rPr lang="en-US" altLang="zh-CN" sz="1600" dirty="0" smtClean="0"/>
              <a:t>                                   sum=</a:t>
            </a:r>
            <a:r>
              <a:rPr lang="en-US" altLang="zh-CN" sz="1600" dirty="0" err="1" smtClean="0"/>
              <a:t>sum+goods_count</a:t>
            </a:r>
            <a:r>
              <a:rPr lang="en-US" altLang="zh-CN" sz="1600" dirty="0" smtClean="0"/>
              <a:t>[</a:t>
            </a:r>
            <a:r>
              <a:rPr lang="en-US" altLang="zh-CN" sz="1600" dirty="0" err="1" smtClean="0"/>
              <a:t>i</a:t>
            </a:r>
            <a:r>
              <a:rPr lang="en-US" altLang="zh-CN" sz="1600" dirty="0"/>
              <a:t>];                    </a:t>
            </a:r>
            <a:endParaRPr lang="en-US" altLang="zh-CN" sz="1600" dirty="0" smtClean="0"/>
          </a:p>
          <a:p>
            <a:pPr marL="0" indent="0">
              <a:buNone/>
            </a:pPr>
            <a:r>
              <a:rPr lang="en-US" altLang="zh-CN" sz="1600" dirty="0"/>
              <a:t> </a:t>
            </a:r>
            <a:r>
              <a:rPr lang="en-US" altLang="zh-CN" sz="1600" dirty="0" smtClean="0"/>
              <a:t>                          return </a:t>
            </a:r>
            <a:r>
              <a:rPr lang="en-US" altLang="zh-CN" sz="1600" dirty="0"/>
              <a:t>sum;            </a:t>
            </a:r>
            <a:endParaRPr lang="en-US" altLang="zh-CN" sz="1600" dirty="0" smtClean="0"/>
          </a:p>
          <a:p>
            <a:pPr marL="0" indent="0">
              <a:buNone/>
            </a:pPr>
            <a:r>
              <a:rPr lang="en-US" altLang="zh-CN" sz="1600" dirty="0"/>
              <a:t> </a:t>
            </a:r>
            <a:r>
              <a:rPr lang="en-US" altLang="zh-CN" sz="1600" dirty="0" smtClean="0"/>
              <a:t>               }</a:t>
            </a:r>
          </a:p>
          <a:p>
            <a:pPr marL="0" indent="0">
              <a:buNone/>
            </a:pPr>
            <a:r>
              <a:rPr lang="en-US" altLang="zh-CN" sz="1600" dirty="0" smtClean="0"/>
              <a:t>}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9740807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1052736"/>
            <a:ext cx="8712967" cy="5472608"/>
          </a:xfrm>
        </p:spPr>
        <p:txBody>
          <a:bodyPr/>
          <a:lstStyle/>
          <a:p>
            <a:r>
              <a:rPr lang="zh-CN" altLang="en-US" dirty="0" smtClean="0"/>
              <a:t>动态长度数组</a:t>
            </a:r>
            <a:endParaRPr lang="en-US" altLang="zh-CN" dirty="0" smtClean="0"/>
          </a:p>
          <a:p>
            <a:pPr lvl="1"/>
            <a:r>
              <a:rPr lang="zh-CN" altLang="en-US" dirty="0"/>
              <a:t>语法：  类型</a:t>
            </a:r>
            <a:r>
              <a:rPr lang="en-US" altLang="zh-CN" dirty="0" smtClean="0"/>
              <a:t>[]  </a:t>
            </a:r>
            <a:r>
              <a:rPr lang="zh-CN" altLang="en-US" dirty="0"/>
              <a:t>数组名</a:t>
            </a:r>
            <a:r>
              <a:rPr lang="en-US" altLang="zh-CN" dirty="0"/>
              <a:t>=[[</a:t>
            </a:r>
            <a:r>
              <a:rPr lang="zh-CN" altLang="en-US" dirty="0"/>
              <a:t>初值列表</a:t>
            </a:r>
            <a:r>
              <a:rPr lang="en-US" altLang="zh-CN" dirty="0"/>
              <a:t>]];</a:t>
            </a:r>
          </a:p>
          <a:p>
            <a:pPr lvl="1"/>
            <a:r>
              <a:rPr lang="zh-CN" altLang="en-US" dirty="0"/>
              <a:t>方法： </a:t>
            </a:r>
            <a:r>
              <a:rPr lang="en-US" altLang="zh-CN" dirty="0"/>
              <a:t>length</a:t>
            </a:r>
            <a:r>
              <a:rPr lang="zh-CN" altLang="en-US" dirty="0"/>
              <a:t>，下标索引</a:t>
            </a:r>
            <a:r>
              <a:rPr lang="zh-CN" altLang="en-US" dirty="0" smtClean="0"/>
              <a:t>访问，</a:t>
            </a:r>
            <a:r>
              <a:rPr lang="en-US" altLang="zh-CN" dirty="0" smtClean="0"/>
              <a:t>push</a:t>
            </a:r>
            <a:r>
              <a:rPr lang="zh-CN" altLang="en-US" dirty="0" smtClean="0"/>
              <a:t>添加元素</a:t>
            </a:r>
            <a:endParaRPr lang="en-US" altLang="zh-CN" dirty="0" smtClean="0"/>
          </a:p>
          <a:p>
            <a:pPr marL="0" indent="0">
              <a:buNone/>
            </a:pPr>
            <a:endParaRPr lang="en-US" altLang="zh-CN" sz="1600" dirty="0" smtClean="0"/>
          </a:p>
          <a:p>
            <a:pPr marL="0" indent="0">
              <a:buNone/>
            </a:pPr>
            <a:r>
              <a:rPr lang="en-US" altLang="zh-CN" sz="1600" dirty="0" smtClean="0"/>
              <a:t>pragma </a:t>
            </a:r>
            <a:r>
              <a:rPr lang="en-US" altLang="zh-CN" sz="1600" dirty="0"/>
              <a:t>solidity &gt;=0.7.0 &lt;0.9.0;</a:t>
            </a:r>
          </a:p>
          <a:p>
            <a:pPr marL="0" indent="0">
              <a:buNone/>
            </a:pPr>
            <a:r>
              <a:rPr lang="en-US" altLang="zh-CN" sz="1600" dirty="0" smtClean="0"/>
              <a:t>contract </a:t>
            </a:r>
            <a:r>
              <a:rPr lang="en-US" altLang="zh-CN" sz="1600" dirty="0" err="1"/>
              <a:t>arraytest</a:t>
            </a:r>
            <a:r>
              <a:rPr lang="en-US" altLang="zh-CN" sz="1600" dirty="0"/>
              <a:t>{</a:t>
            </a:r>
          </a:p>
          <a:p>
            <a:pPr marL="0" indent="0">
              <a:buNone/>
            </a:pPr>
            <a:r>
              <a:rPr lang="en-US" altLang="zh-CN" sz="1600" dirty="0" smtClean="0"/>
              <a:t>        </a:t>
            </a:r>
            <a:r>
              <a:rPr lang="en-US" altLang="zh-CN" sz="1600" dirty="0" err="1" smtClean="0"/>
              <a:t>uint</a:t>
            </a:r>
            <a:r>
              <a:rPr lang="en-US" altLang="zh-CN" sz="1600" dirty="0"/>
              <a:t>[] </a:t>
            </a:r>
            <a:r>
              <a:rPr lang="en-US" altLang="zh-CN" sz="1600" dirty="0" err="1"/>
              <a:t>goods_count</a:t>
            </a:r>
            <a:r>
              <a:rPr lang="en-US" altLang="zh-CN" sz="1600" dirty="0"/>
              <a:t>;</a:t>
            </a:r>
          </a:p>
          <a:p>
            <a:pPr marL="0" indent="0">
              <a:buNone/>
            </a:pPr>
            <a:r>
              <a:rPr lang="en-US" altLang="zh-CN" sz="1600" dirty="0" smtClean="0"/>
              <a:t>        </a:t>
            </a:r>
            <a:r>
              <a:rPr lang="en-US" altLang="zh-CN" sz="1600" dirty="0"/>
              <a:t>function </a:t>
            </a:r>
            <a:r>
              <a:rPr lang="en-US" altLang="zh-CN" sz="1600" dirty="0" err="1"/>
              <a:t>init_array</a:t>
            </a:r>
            <a:r>
              <a:rPr lang="en-US" altLang="zh-CN" sz="1600" dirty="0"/>
              <a:t>(</a:t>
            </a:r>
            <a:r>
              <a:rPr lang="en-US" altLang="zh-CN" sz="1600" dirty="0" err="1"/>
              <a:t>uint</a:t>
            </a:r>
            <a:r>
              <a:rPr lang="en-US" altLang="zh-CN" sz="1600" dirty="0"/>
              <a:t> </a:t>
            </a:r>
            <a:r>
              <a:rPr lang="en-US" altLang="zh-CN" sz="1600" dirty="0" err="1"/>
              <a:t>ct</a:t>
            </a:r>
            <a:r>
              <a:rPr lang="en-US" altLang="zh-CN" sz="1600" dirty="0"/>
              <a:t>) public{</a:t>
            </a:r>
          </a:p>
          <a:p>
            <a:pPr marL="0" indent="0">
              <a:buNone/>
            </a:pPr>
            <a:r>
              <a:rPr lang="en-US" altLang="zh-CN" sz="1600" dirty="0"/>
              <a:t>		for(</a:t>
            </a:r>
            <a:r>
              <a:rPr lang="en-US" altLang="zh-CN" sz="1600" dirty="0" err="1"/>
              <a:t>uint</a:t>
            </a:r>
            <a:r>
              <a:rPr lang="en-US" altLang="zh-CN" sz="1600" dirty="0"/>
              <a:t> </a:t>
            </a:r>
            <a:r>
              <a:rPr lang="en-US" altLang="zh-CN" sz="1600" dirty="0" err="1"/>
              <a:t>i</a:t>
            </a:r>
            <a:r>
              <a:rPr lang="en-US" altLang="zh-CN" sz="1600" dirty="0"/>
              <a:t>=0;i&lt;</a:t>
            </a:r>
            <a:r>
              <a:rPr lang="en-US" altLang="zh-CN" sz="1600" dirty="0" err="1"/>
              <a:t>ct;i</a:t>
            </a:r>
            <a:r>
              <a:rPr lang="en-US" altLang="zh-CN" sz="1600" dirty="0"/>
              <a:t>++)</a:t>
            </a:r>
          </a:p>
          <a:p>
            <a:pPr marL="0" indent="0">
              <a:buNone/>
            </a:pPr>
            <a:r>
              <a:rPr lang="en-US" altLang="zh-CN" sz="1600" dirty="0"/>
              <a:t>			</a:t>
            </a:r>
            <a:r>
              <a:rPr lang="en-US" altLang="zh-CN" sz="1600" dirty="0" err="1"/>
              <a:t>goods_count.push</a:t>
            </a:r>
            <a:r>
              <a:rPr lang="en-US" altLang="zh-CN" sz="1600" dirty="0"/>
              <a:t>(</a:t>
            </a:r>
            <a:r>
              <a:rPr lang="en-US" altLang="zh-CN" sz="1600" dirty="0" err="1"/>
              <a:t>i</a:t>
            </a:r>
            <a:r>
              <a:rPr lang="en-US" altLang="zh-CN" sz="1600" dirty="0"/>
              <a:t>);</a:t>
            </a:r>
          </a:p>
          <a:p>
            <a:pPr marL="0" indent="0">
              <a:buNone/>
            </a:pPr>
            <a:r>
              <a:rPr lang="en-US" altLang="zh-CN" sz="1600" dirty="0" smtClean="0"/>
              <a:t>        }</a:t>
            </a:r>
            <a:endParaRPr lang="en-US" altLang="zh-CN" sz="1600" dirty="0"/>
          </a:p>
          <a:p>
            <a:pPr marL="0" indent="0">
              <a:buNone/>
            </a:pPr>
            <a:r>
              <a:rPr lang="en-US" altLang="zh-CN" sz="1600" dirty="0" smtClean="0"/>
              <a:t>        function </a:t>
            </a:r>
            <a:r>
              <a:rPr lang="en-US" altLang="zh-CN" sz="1600" dirty="0" err="1"/>
              <a:t>sum_array</a:t>
            </a:r>
            <a:r>
              <a:rPr lang="en-US" altLang="zh-CN" sz="1600" dirty="0"/>
              <a:t>() public view returns(</a:t>
            </a:r>
            <a:r>
              <a:rPr lang="en-US" altLang="zh-CN" sz="1600" dirty="0" err="1"/>
              <a:t>uint</a:t>
            </a:r>
            <a:r>
              <a:rPr lang="en-US" altLang="zh-CN" sz="1600" dirty="0"/>
              <a:t> sum){</a:t>
            </a:r>
          </a:p>
          <a:p>
            <a:pPr marL="0" indent="0">
              <a:buNone/>
            </a:pPr>
            <a:r>
              <a:rPr lang="en-US" altLang="zh-CN" sz="1600" dirty="0"/>
              <a:t>		sum=0;</a:t>
            </a:r>
          </a:p>
          <a:p>
            <a:pPr marL="0" indent="0">
              <a:buNone/>
            </a:pPr>
            <a:r>
              <a:rPr lang="en-US" altLang="zh-CN" sz="1600" dirty="0"/>
              <a:t>		for(</a:t>
            </a:r>
            <a:r>
              <a:rPr lang="en-US" altLang="zh-CN" sz="1600" dirty="0" err="1"/>
              <a:t>uint</a:t>
            </a:r>
            <a:r>
              <a:rPr lang="en-US" altLang="zh-CN" sz="1600" dirty="0"/>
              <a:t> </a:t>
            </a:r>
            <a:r>
              <a:rPr lang="en-US" altLang="zh-CN" sz="1600" dirty="0" err="1"/>
              <a:t>i</a:t>
            </a:r>
            <a:r>
              <a:rPr lang="en-US" altLang="zh-CN" sz="1600" dirty="0"/>
              <a:t>=0;i&lt;</a:t>
            </a:r>
            <a:r>
              <a:rPr lang="en-US" altLang="zh-CN" sz="1600" dirty="0" err="1"/>
              <a:t>goods_count.length;i</a:t>
            </a:r>
            <a:r>
              <a:rPr lang="en-US" altLang="zh-CN" sz="1600" dirty="0"/>
              <a:t>++)</a:t>
            </a:r>
          </a:p>
          <a:p>
            <a:pPr marL="0" indent="0">
              <a:buNone/>
            </a:pPr>
            <a:r>
              <a:rPr lang="en-US" altLang="zh-CN" sz="1600" dirty="0"/>
              <a:t>			sum+=</a:t>
            </a:r>
            <a:r>
              <a:rPr lang="en-US" altLang="zh-CN" sz="1600" dirty="0" err="1"/>
              <a:t>goods_count</a:t>
            </a:r>
            <a:r>
              <a:rPr lang="en-US" altLang="zh-CN" sz="1600" dirty="0"/>
              <a:t>[</a:t>
            </a:r>
            <a:r>
              <a:rPr lang="en-US" altLang="zh-CN" sz="1600" dirty="0" err="1"/>
              <a:t>i</a:t>
            </a:r>
            <a:r>
              <a:rPr lang="en-US" altLang="zh-CN" sz="1600" dirty="0"/>
              <a:t>];</a:t>
            </a:r>
          </a:p>
          <a:p>
            <a:pPr marL="0" indent="0">
              <a:buNone/>
            </a:pPr>
            <a:r>
              <a:rPr lang="en-US" altLang="zh-CN" sz="1600" dirty="0"/>
              <a:t>		return sum;</a:t>
            </a:r>
          </a:p>
          <a:p>
            <a:pPr marL="0" indent="0">
              <a:buNone/>
            </a:pPr>
            <a:r>
              <a:rPr lang="en-US" altLang="zh-CN" sz="1600" dirty="0" smtClean="0"/>
              <a:t>        }</a:t>
            </a:r>
            <a:endParaRPr lang="en-US" altLang="zh-CN" sz="1600" dirty="0"/>
          </a:p>
          <a:p>
            <a:pPr marL="0" indent="0">
              <a:buNone/>
            </a:pPr>
            <a:r>
              <a:rPr lang="en-US" altLang="zh-CN" sz="1600" dirty="0"/>
              <a:t>}</a:t>
            </a:r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85812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销毁合约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可以通过执行以下三个方法实现合约的销毁：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selfdestruct</a:t>
            </a:r>
            <a:r>
              <a:rPr lang="en-US" altLang="zh-CN" dirty="0" smtClean="0"/>
              <a:t> </a:t>
            </a:r>
            <a:endParaRPr lang="en-US" altLang="zh-CN" dirty="0"/>
          </a:p>
          <a:p>
            <a:pPr lvl="1"/>
            <a:r>
              <a:rPr lang="en-US" altLang="zh-CN" dirty="0" err="1" smtClean="0"/>
              <a:t>delegatecall</a:t>
            </a:r>
            <a:endParaRPr lang="en-US" altLang="zh-CN" dirty="0" smtClean="0"/>
          </a:p>
          <a:p>
            <a:pPr lvl="1"/>
            <a:r>
              <a:rPr lang="en-US" altLang="zh-CN" dirty="0" err="1"/>
              <a:t>callcode</a:t>
            </a:r>
            <a:r>
              <a:rPr lang="en-US" altLang="zh-CN" dirty="0"/>
              <a:t> </a:t>
            </a:r>
          </a:p>
          <a:p>
            <a:r>
              <a:rPr lang="zh-CN" altLang="en-US" dirty="0"/>
              <a:t>合约账户上剩余的以太币会发送给指定的目标，然后其存储和代码从状态中被移除。</a:t>
            </a:r>
            <a:endParaRPr lang="en-US" altLang="zh-CN" dirty="0"/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742499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selfdestruct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196752"/>
            <a:ext cx="8496943" cy="5184576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1600" dirty="0" smtClean="0"/>
              <a:t>pragma solidity ^0.4.4;</a:t>
            </a:r>
          </a:p>
          <a:p>
            <a:pPr marL="0" indent="0">
              <a:buNone/>
            </a:pPr>
            <a:r>
              <a:rPr lang="en-US" altLang="zh-CN" sz="1600" dirty="0" smtClean="0"/>
              <a:t>contract Counter{</a:t>
            </a:r>
          </a:p>
          <a:p>
            <a:pPr marL="0" indent="0">
              <a:buNone/>
            </a:pPr>
            <a:r>
              <a:rPr lang="en-US" altLang="zh-CN" sz="1600" dirty="0" smtClean="0"/>
              <a:t>	</a:t>
            </a:r>
            <a:r>
              <a:rPr lang="en-US" altLang="zh-CN" sz="1600" dirty="0" err="1" smtClean="0"/>
              <a:t>uint</a:t>
            </a:r>
            <a:r>
              <a:rPr lang="en-US" altLang="zh-CN" sz="1600" dirty="0" smtClean="0"/>
              <a:t> count = 0;</a:t>
            </a:r>
          </a:p>
          <a:p>
            <a:pPr marL="0" indent="0">
              <a:buNone/>
            </a:pPr>
            <a:r>
              <a:rPr lang="en-US" altLang="zh-CN" sz="1600" dirty="0"/>
              <a:t> 	</a:t>
            </a:r>
            <a:r>
              <a:rPr lang="en-US" altLang="zh-CN" sz="1600" dirty="0" smtClean="0"/>
              <a:t>address owner;</a:t>
            </a:r>
          </a:p>
          <a:p>
            <a:pPr marL="0" indent="0">
              <a:buNone/>
            </a:pPr>
            <a:endParaRPr lang="en-US" altLang="zh-CN" sz="1600" dirty="0"/>
          </a:p>
          <a:p>
            <a:pPr marL="0" indent="0">
              <a:buNone/>
            </a:pPr>
            <a:r>
              <a:rPr lang="en-US" altLang="zh-CN" sz="1600" dirty="0" smtClean="0"/>
              <a:t>	function Counter(){</a:t>
            </a:r>
          </a:p>
          <a:p>
            <a:pPr marL="0" indent="0">
              <a:buNone/>
            </a:pPr>
            <a:r>
              <a:rPr lang="en-US" altLang="zh-CN" sz="1600" dirty="0" smtClean="0"/>
              <a:t>		owner = </a:t>
            </a:r>
            <a:r>
              <a:rPr lang="en-US" altLang="zh-CN" sz="1600" dirty="0" err="1" smtClean="0"/>
              <a:t>msg.sender</a:t>
            </a:r>
            <a:r>
              <a:rPr lang="en-US" altLang="zh-CN" sz="1600" dirty="0" smtClean="0"/>
              <a:t>;</a:t>
            </a:r>
            <a:endParaRPr lang="en-US" altLang="zh-CN" sz="1600" dirty="0"/>
          </a:p>
          <a:p>
            <a:pPr marL="0" indent="0">
              <a:buNone/>
            </a:pPr>
            <a:r>
              <a:rPr lang="en-US" altLang="zh-CN" sz="1600" dirty="0" smtClean="0"/>
              <a:t>	}</a:t>
            </a:r>
          </a:p>
          <a:p>
            <a:pPr marL="0" indent="0">
              <a:buNone/>
            </a:pPr>
            <a:r>
              <a:rPr lang="en-US" altLang="zh-CN" sz="1600" dirty="0"/>
              <a:t>	</a:t>
            </a:r>
            <a:r>
              <a:rPr lang="en-US" altLang="zh-CN" sz="1600" dirty="0" smtClean="0"/>
              <a:t>function increment() public{</a:t>
            </a:r>
          </a:p>
          <a:p>
            <a:pPr marL="0" indent="0">
              <a:buNone/>
            </a:pPr>
            <a:r>
              <a:rPr lang="en-US" altLang="zh-CN" sz="1600" dirty="0" smtClean="0"/>
              <a:t>		if(owner == </a:t>
            </a:r>
            <a:r>
              <a:rPr lang="en-US" altLang="zh-CN" sz="1600" dirty="0" err="1" smtClean="0"/>
              <a:t>msg.sender</a:t>
            </a:r>
            <a:r>
              <a:rPr lang="en-US" altLang="zh-CN" sz="1600" dirty="0" smtClean="0"/>
              <a:t>) count=count+1;</a:t>
            </a:r>
            <a:endParaRPr lang="en-US" altLang="zh-CN" sz="1600" dirty="0"/>
          </a:p>
          <a:p>
            <a:pPr marL="0" indent="0">
              <a:buNone/>
            </a:pPr>
            <a:r>
              <a:rPr lang="en-US" altLang="zh-CN" sz="1600" dirty="0" smtClean="0"/>
              <a:t>	}</a:t>
            </a:r>
          </a:p>
          <a:p>
            <a:pPr marL="0" indent="0">
              <a:buNone/>
            </a:pPr>
            <a:r>
              <a:rPr lang="en-US" altLang="zh-CN" sz="1600" dirty="0"/>
              <a:t>	</a:t>
            </a:r>
            <a:r>
              <a:rPr lang="en-US" altLang="zh-CN" sz="1600" dirty="0" smtClean="0"/>
              <a:t>function </a:t>
            </a:r>
            <a:r>
              <a:rPr lang="en-US" altLang="zh-CN" sz="1600" dirty="0" err="1" smtClean="0"/>
              <a:t>getCount</a:t>
            </a:r>
            <a:r>
              <a:rPr lang="en-US" altLang="zh-CN" sz="1600" dirty="0" smtClean="0"/>
              <a:t>() pure returns(</a:t>
            </a:r>
            <a:r>
              <a:rPr lang="en-US" altLang="zh-CN" sz="1600" dirty="0" err="1" smtClean="0"/>
              <a:t>uint</a:t>
            </a:r>
            <a:r>
              <a:rPr lang="en-US" altLang="zh-CN" sz="1600" dirty="0" smtClean="0"/>
              <a:t>){</a:t>
            </a:r>
          </a:p>
          <a:p>
            <a:pPr marL="0" indent="0">
              <a:buNone/>
            </a:pPr>
            <a:r>
              <a:rPr lang="en-US" altLang="zh-CN" sz="1600" dirty="0" smtClean="0"/>
              <a:t>		return count;</a:t>
            </a:r>
            <a:endParaRPr lang="en-US" altLang="zh-CN" sz="1600" dirty="0"/>
          </a:p>
          <a:p>
            <a:pPr marL="0" indent="0">
              <a:buNone/>
            </a:pPr>
            <a:r>
              <a:rPr lang="en-US" altLang="zh-CN" sz="1600" dirty="0" smtClean="0"/>
              <a:t>	}</a:t>
            </a:r>
          </a:p>
          <a:p>
            <a:pPr marL="0" indent="0">
              <a:buNone/>
            </a:pPr>
            <a:r>
              <a:rPr lang="en-US" altLang="zh-CN" sz="1600" dirty="0"/>
              <a:t>	</a:t>
            </a:r>
            <a:r>
              <a:rPr lang="en-US" altLang="zh-CN" sz="1600" dirty="0" smtClean="0"/>
              <a:t>function kill(){</a:t>
            </a:r>
          </a:p>
          <a:p>
            <a:pPr marL="0" indent="0">
              <a:buNone/>
            </a:pPr>
            <a:r>
              <a:rPr lang="en-US" altLang="zh-CN" sz="1600" dirty="0" smtClean="0"/>
              <a:t>		require(owner==</a:t>
            </a:r>
            <a:r>
              <a:rPr lang="en-US" altLang="zh-CN" sz="1600" dirty="0" err="1" smtClean="0"/>
              <a:t>msg.sender</a:t>
            </a:r>
            <a:r>
              <a:rPr lang="en-US" altLang="zh-CN" sz="1600" dirty="0" smtClean="0"/>
              <a:t>”);</a:t>
            </a:r>
          </a:p>
          <a:p>
            <a:pPr marL="0" indent="0">
              <a:buNone/>
            </a:pPr>
            <a:r>
              <a:rPr lang="en-US" altLang="zh-CN" sz="1600" dirty="0"/>
              <a:t>	</a:t>
            </a:r>
            <a:r>
              <a:rPr lang="en-US" altLang="zh-CN" sz="1600" dirty="0" smtClean="0"/>
              <a:t>	self-destruct(owner);</a:t>
            </a:r>
            <a:endParaRPr lang="en-US" altLang="zh-CN" sz="1600" dirty="0"/>
          </a:p>
          <a:p>
            <a:pPr marL="0" indent="0">
              <a:buNone/>
            </a:pPr>
            <a:r>
              <a:rPr lang="en-US" altLang="zh-CN" sz="1600" dirty="0" smtClean="0"/>
              <a:t>	}</a:t>
            </a:r>
            <a:endParaRPr lang="en-US" altLang="zh-CN" sz="1600" dirty="0"/>
          </a:p>
          <a:p>
            <a:pPr marL="0" indent="0">
              <a:buNone/>
            </a:pPr>
            <a:r>
              <a:rPr lang="en-US" altLang="zh-CN" sz="1600" dirty="0" smtClean="0"/>
              <a:t>}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8124193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与智能合约交互的三个工具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智能合约直接交互，借助三个最常用的工具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pPr lvl="1"/>
            <a:endParaRPr lang="en-US" altLang="zh-CN" dirty="0" smtClean="0"/>
          </a:p>
          <a:p>
            <a:pPr lvl="1"/>
            <a:r>
              <a:rPr lang="en-US" altLang="zh-CN" dirty="0" err="1" smtClean="0"/>
              <a:t>Metamask</a:t>
            </a:r>
            <a:r>
              <a:rPr lang="en-US" altLang="zh-CN" dirty="0" smtClean="0"/>
              <a:t> </a:t>
            </a:r>
            <a:r>
              <a:rPr lang="zh-CN" altLang="en-US" dirty="0" smtClean="0"/>
              <a:t>：以太坊的浏览器钱包插件。</a:t>
            </a:r>
            <a:endParaRPr lang="en-US" altLang="zh-CN" dirty="0" smtClean="0"/>
          </a:p>
          <a:p>
            <a:pPr lvl="1"/>
            <a:endParaRPr lang="en-US" altLang="zh-CN" dirty="0" smtClean="0"/>
          </a:p>
          <a:p>
            <a:pPr lvl="1"/>
            <a:r>
              <a:rPr lang="en-US" altLang="zh-CN" dirty="0" smtClean="0"/>
              <a:t>Remix IDE</a:t>
            </a:r>
            <a:r>
              <a:rPr lang="zh-CN" altLang="en-US" dirty="0" smtClean="0"/>
              <a:t>：以太坊智能合约在线开发调试部署环境。</a:t>
            </a:r>
            <a:endParaRPr lang="en-US" altLang="zh-CN" dirty="0" smtClean="0"/>
          </a:p>
          <a:p>
            <a:pPr lvl="1"/>
            <a:endParaRPr lang="en-US" altLang="zh-CN" dirty="0"/>
          </a:p>
          <a:p>
            <a:pPr lvl="1"/>
            <a:r>
              <a:rPr lang="en-US" altLang="zh-CN" dirty="0" err="1" smtClean="0"/>
              <a:t>Etherscan</a:t>
            </a:r>
            <a:r>
              <a:rPr lang="zh-CN" altLang="en-US" dirty="0"/>
              <a:t>：探索以太坊的窗口</a:t>
            </a:r>
            <a:r>
              <a:rPr lang="en-US" altLang="zh-CN" dirty="0"/>
              <a:t>, </a:t>
            </a:r>
            <a:r>
              <a:rPr lang="zh-CN" altLang="en-US" dirty="0" smtClean="0"/>
              <a:t>通过</a:t>
            </a:r>
            <a:r>
              <a:rPr lang="en-US" altLang="zh-CN" dirty="0" err="1" smtClean="0"/>
              <a:t>Etherscan</a:t>
            </a:r>
            <a:r>
              <a:rPr lang="zh-CN" altLang="en-US" dirty="0" smtClean="0"/>
              <a:t>，可以查看以太坊上交易的详情、智能合约的相关信息等。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543013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42988" y="404813"/>
            <a:ext cx="6481340" cy="576262"/>
          </a:xfrm>
        </p:spPr>
        <p:txBody>
          <a:bodyPr/>
          <a:lstStyle/>
          <a:p>
            <a:r>
              <a:rPr lang="zh-CN" altLang="en-US" dirty="0" smtClean="0"/>
              <a:t>使用</a:t>
            </a:r>
            <a:r>
              <a:rPr lang="en-US" altLang="zh-CN" dirty="0" err="1" smtClean="0"/>
              <a:t>E</a:t>
            </a:r>
            <a:r>
              <a:rPr lang="en-US" altLang="zh-CN" dirty="0" err="1" smtClean="0"/>
              <a:t>therscan</a:t>
            </a:r>
            <a:r>
              <a:rPr lang="zh-CN" altLang="en-US" dirty="0" smtClean="0"/>
              <a:t>查看合约相关信息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1196752"/>
            <a:ext cx="8640959" cy="4680520"/>
          </a:xfrm>
        </p:spPr>
        <p:txBody>
          <a:bodyPr/>
          <a:lstStyle/>
          <a:p>
            <a:r>
              <a:rPr lang="zh-CN" altLang="en-US" dirty="0" smtClean="0"/>
              <a:t>官网地址：</a:t>
            </a:r>
            <a:endParaRPr lang="en-US" altLang="zh-CN" dirty="0" smtClean="0"/>
          </a:p>
          <a:p>
            <a:r>
              <a:rPr lang="en-US" altLang="zh-CN" dirty="0"/>
              <a:t>https://cn.etherscan.com/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075" y="2276872"/>
            <a:ext cx="7668344" cy="4228174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 bwMode="auto">
          <a:xfrm>
            <a:off x="5508104" y="1340768"/>
            <a:ext cx="2664296" cy="79208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可以根据地址、交易哈希</a:t>
            </a:r>
            <a:endParaRPr kumimoji="0" lang="en-US" altLang="zh-CN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等信息进行搜索</a:t>
            </a:r>
            <a:endParaRPr kumimoji="0" lang="zh-CN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35140" y="3645024"/>
            <a:ext cx="720080" cy="57606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以太币</a:t>
            </a:r>
            <a:endParaRPr kumimoji="0" lang="en-US" altLang="zh-CN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价格</a:t>
            </a:r>
            <a:endParaRPr kumimoji="0" lang="zh-CN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180531" y="5085184"/>
            <a:ext cx="720080" cy="57606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最近的</a:t>
            </a:r>
            <a:endParaRPr kumimoji="0" lang="en-US" altLang="zh-CN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区块</a:t>
            </a:r>
            <a:endParaRPr kumimoji="0" lang="zh-CN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7013261" y="6217014"/>
            <a:ext cx="720080" cy="57606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最近的</a:t>
            </a:r>
            <a:endParaRPr kumimoji="0" lang="en-US" altLang="zh-CN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dirty="0">
                <a:latin typeface="Times New Roman" pitchFamily="18" charset="0"/>
              </a:rPr>
              <a:t>交易</a:t>
            </a:r>
            <a:endParaRPr kumimoji="0" lang="zh-CN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6840252" y="4725144"/>
            <a:ext cx="1066099" cy="56909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dirty="0" smtClean="0">
                <a:latin typeface="Times New Roman" pitchFamily="18" charset="0"/>
              </a:rPr>
              <a:t>交易总量</a:t>
            </a:r>
            <a:endParaRPr lang="en-US" altLang="zh-CN" dirty="0" smtClean="0">
              <a:latin typeface="Times New Roman" pitchFamily="18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dirty="0" smtClean="0">
                <a:latin typeface="Times New Roman" pitchFamily="18" charset="0"/>
              </a:rPr>
              <a:t>交易速度</a:t>
            </a:r>
            <a:endParaRPr kumimoji="0" lang="en-US" altLang="zh-CN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cxnSp>
        <p:nvCxnSpPr>
          <p:cNvPr id="12" name="直接箭头连接符 11"/>
          <p:cNvCxnSpPr/>
          <p:nvPr/>
        </p:nvCxnSpPr>
        <p:spPr bwMode="auto">
          <a:xfrm flipH="1">
            <a:off x="3635896" y="2132856"/>
            <a:ext cx="2376264" cy="1008112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4" name="直接箭头连接符 13"/>
          <p:cNvCxnSpPr/>
          <p:nvPr/>
        </p:nvCxnSpPr>
        <p:spPr bwMode="auto">
          <a:xfrm flipH="1" flipV="1">
            <a:off x="4499992" y="3933056"/>
            <a:ext cx="2448272" cy="792088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6" name="直接箭头连接符 15"/>
          <p:cNvCxnSpPr>
            <a:stCxn id="9" idx="0"/>
          </p:cNvCxnSpPr>
          <p:nvPr/>
        </p:nvCxnSpPr>
        <p:spPr bwMode="auto">
          <a:xfrm flipH="1" flipV="1">
            <a:off x="5507926" y="5009693"/>
            <a:ext cx="1865375" cy="1207321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8" name="直接箭头连接符 17"/>
          <p:cNvCxnSpPr/>
          <p:nvPr/>
        </p:nvCxnSpPr>
        <p:spPr bwMode="auto">
          <a:xfrm>
            <a:off x="540571" y="3905459"/>
            <a:ext cx="647053" cy="27597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0" name="直接箭头连接符 19"/>
          <p:cNvCxnSpPr>
            <a:stCxn id="8" idx="3"/>
          </p:cNvCxnSpPr>
          <p:nvPr/>
        </p:nvCxnSpPr>
        <p:spPr bwMode="auto">
          <a:xfrm flipV="1">
            <a:off x="900611" y="4963547"/>
            <a:ext cx="453164" cy="409669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3992723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42988" y="404813"/>
            <a:ext cx="6481340" cy="576262"/>
          </a:xfrm>
        </p:spPr>
        <p:txBody>
          <a:bodyPr/>
          <a:lstStyle/>
          <a:p>
            <a:r>
              <a:rPr lang="zh-CN" altLang="en-US" dirty="0" smtClean="0"/>
              <a:t>使用</a:t>
            </a:r>
            <a:r>
              <a:rPr lang="en-US" altLang="zh-CN" dirty="0" err="1" smtClean="0"/>
              <a:t>E</a:t>
            </a:r>
            <a:r>
              <a:rPr lang="en-US" altLang="zh-CN" dirty="0" err="1" smtClean="0"/>
              <a:t>therscan</a:t>
            </a:r>
            <a:r>
              <a:rPr lang="zh-CN" altLang="en-US" dirty="0" smtClean="0"/>
              <a:t>查看合约相关信息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案例分析： </a:t>
            </a:r>
            <a:r>
              <a:rPr lang="en-US" altLang="zh-CN" dirty="0" err="1"/>
              <a:t>Uniswap</a:t>
            </a:r>
            <a:r>
              <a:rPr lang="zh-CN" altLang="en-US" dirty="0" smtClean="0"/>
              <a:t>协议和</a:t>
            </a:r>
            <a:r>
              <a:rPr lang="en-US" altLang="zh-CN" dirty="0" smtClean="0"/>
              <a:t>WETH</a:t>
            </a:r>
            <a:r>
              <a:rPr lang="zh-CN" altLang="en-US" dirty="0" smtClean="0"/>
              <a:t>智能合约</a:t>
            </a:r>
            <a:endParaRPr lang="en-US" altLang="zh-CN" dirty="0" smtClean="0"/>
          </a:p>
          <a:p>
            <a:r>
              <a:rPr lang="en-US" altLang="zh-CN" dirty="0" err="1"/>
              <a:t>Uniswap</a:t>
            </a:r>
            <a:r>
              <a:rPr lang="zh-CN" altLang="en-US" dirty="0" smtClean="0"/>
              <a:t>协议：</a:t>
            </a:r>
            <a:r>
              <a:rPr lang="en-US" altLang="zh-CN" dirty="0" err="1" smtClean="0"/>
              <a:t>Uniswap</a:t>
            </a:r>
            <a:r>
              <a:rPr lang="zh-CN" altLang="en-US" dirty="0"/>
              <a:t>是一个基于以太坊的自动代币交换协议，它的设计目标是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ease-of-use</a:t>
            </a:r>
            <a:r>
              <a:rPr lang="zh-CN" altLang="en-US" dirty="0"/>
              <a:t>（易用性）</a:t>
            </a:r>
            <a:r>
              <a:rPr lang="zh-CN" altLang="en-US" dirty="0" smtClean="0"/>
              <a:t>：两种</a:t>
            </a:r>
            <a:r>
              <a:rPr lang="en-US" altLang="zh-CN" dirty="0" smtClean="0"/>
              <a:t>TOKEN</a:t>
            </a:r>
            <a:r>
              <a:rPr lang="zh-CN" altLang="en-US" dirty="0" smtClean="0"/>
              <a:t>可以直接交换，而不用使用中介货币。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gas </a:t>
            </a:r>
            <a:r>
              <a:rPr lang="en-US" altLang="zh-CN" dirty="0"/>
              <a:t>efficiency</a:t>
            </a:r>
            <a:r>
              <a:rPr lang="zh-CN" altLang="en-US" dirty="0"/>
              <a:t>（</a:t>
            </a:r>
            <a:r>
              <a:rPr lang="en-US" altLang="zh-CN" dirty="0"/>
              <a:t>gas</a:t>
            </a:r>
            <a:r>
              <a:rPr lang="zh-CN" altLang="en-US" dirty="0"/>
              <a:t>高利用率）</a:t>
            </a:r>
            <a:r>
              <a:rPr lang="zh-CN" altLang="en-US" dirty="0" smtClean="0"/>
              <a:t>：消耗</a:t>
            </a:r>
            <a:r>
              <a:rPr lang="zh-CN" altLang="en-US" dirty="0"/>
              <a:t>的</a:t>
            </a:r>
            <a:r>
              <a:rPr lang="en-US" altLang="zh-CN" dirty="0"/>
              <a:t>gas</a:t>
            </a:r>
            <a:r>
              <a:rPr lang="zh-CN" altLang="en-US" dirty="0"/>
              <a:t>量是以太坊上的几家主流去中化交易所中最低</a:t>
            </a:r>
            <a:r>
              <a:rPr lang="zh-CN" altLang="en-US" dirty="0" smtClean="0"/>
              <a:t>的。</a:t>
            </a:r>
            <a:endParaRPr lang="en-US" altLang="zh-CN" dirty="0" smtClean="0"/>
          </a:p>
          <a:p>
            <a:pPr lvl="1"/>
            <a:r>
              <a:rPr lang="en-US" altLang="zh-CN" dirty="0"/>
              <a:t>zero rent extraction</a:t>
            </a:r>
            <a:r>
              <a:rPr lang="zh-CN" altLang="en-US" dirty="0"/>
              <a:t>（零抽租）</a:t>
            </a:r>
            <a:r>
              <a:rPr lang="en-US" altLang="zh-CN" dirty="0" smtClean="0"/>
              <a:t>:</a:t>
            </a:r>
            <a:r>
              <a:rPr lang="zh-CN" altLang="en-US" dirty="0" smtClean="0"/>
              <a:t>开发</a:t>
            </a:r>
            <a:r>
              <a:rPr lang="zh-CN" altLang="en-US" dirty="0"/>
              <a:t>团队不会从交易中抽取</a:t>
            </a:r>
            <a:r>
              <a:rPr lang="zh-CN" altLang="en-US" dirty="0" smtClean="0"/>
              <a:t>费用。</a:t>
            </a:r>
            <a:endParaRPr lang="en-US" altLang="zh-CN" dirty="0" smtClean="0"/>
          </a:p>
          <a:p>
            <a:r>
              <a:rPr lang="en-US" altLang="zh-CN" dirty="0" err="1" smtClean="0"/>
              <a:t>Uniswap</a:t>
            </a:r>
            <a:r>
              <a:rPr lang="zh-CN" altLang="en-US" dirty="0"/>
              <a:t>协议通过Ｗ</a:t>
            </a:r>
            <a:r>
              <a:rPr lang="en-US" altLang="zh-CN" dirty="0"/>
              <a:t>ETH </a:t>
            </a:r>
            <a:r>
              <a:rPr lang="zh-CN" altLang="en-US" dirty="0"/>
              <a:t>智能</a:t>
            </a:r>
            <a:r>
              <a:rPr lang="zh-CN" altLang="en-US" dirty="0" smtClean="0"/>
              <a:t>合约实现。</a:t>
            </a:r>
            <a:endParaRPr lang="en-US" altLang="zh-CN" dirty="0" smtClean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191226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42988" y="404813"/>
            <a:ext cx="6481340" cy="576262"/>
          </a:xfrm>
        </p:spPr>
        <p:txBody>
          <a:bodyPr/>
          <a:lstStyle/>
          <a:p>
            <a:r>
              <a:rPr lang="zh-CN" altLang="en-US" dirty="0" smtClean="0"/>
              <a:t>使用</a:t>
            </a:r>
            <a:r>
              <a:rPr lang="en-US" altLang="zh-CN" dirty="0" err="1" smtClean="0"/>
              <a:t>E</a:t>
            </a:r>
            <a:r>
              <a:rPr lang="en-US" altLang="zh-CN" dirty="0" err="1" smtClean="0"/>
              <a:t>therscan</a:t>
            </a:r>
            <a:r>
              <a:rPr lang="zh-CN" altLang="en-US" dirty="0" smtClean="0"/>
              <a:t>查看合约相关信息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WETH</a:t>
            </a:r>
            <a:r>
              <a:rPr lang="zh-CN" altLang="en-US" dirty="0"/>
              <a:t>智能</a:t>
            </a:r>
            <a:r>
              <a:rPr lang="zh-CN" altLang="en-US" dirty="0" smtClean="0"/>
              <a:t>合约（</a:t>
            </a:r>
            <a:r>
              <a:rPr lang="en-US" altLang="zh-CN" dirty="0"/>
              <a:t>"wrapped ETH"</a:t>
            </a:r>
            <a:r>
              <a:rPr lang="zh-CN" altLang="en-US" dirty="0" smtClean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建立在以太坊上的</a:t>
            </a:r>
            <a:r>
              <a:rPr lang="en-US" altLang="zh-CN" dirty="0" err="1"/>
              <a:t>dAPP</a:t>
            </a:r>
            <a:r>
              <a:rPr lang="zh-CN" altLang="en-US" dirty="0"/>
              <a:t>通常会部署自己的代</a:t>
            </a:r>
            <a:r>
              <a:rPr lang="zh-CN" altLang="en-US" dirty="0" smtClean="0"/>
              <a:t>币，</a:t>
            </a:r>
            <a:r>
              <a:rPr lang="en-US" altLang="zh-CN" dirty="0" smtClean="0"/>
              <a:t>ERC-20</a:t>
            </a:r>
            <a:r>
              <a:rPr lang="zh-CN" altLang="en-US" dirty="0" smtClean="0"/>
              <a:t>标准定义不同的代币如何</a:t>
            </a:r>
            <a:r>
              <a:rPr lang="zh-CN" altLang="en-US" dirty="0"/>
              <a:t>在以太</a:t>
            </a:r>
            <a:r>
              <a:rPr lang="zh-CN" altLang="en-US" dirty="0" smtClean="0"/>
              <a:t>坊转移</a:t>
            </a:r>
            <a:r>
              <a:rPr lang="zh-CN" altLang="en-US" dirty="0"/>
              <a:t>，以及如保持代币在以太坊网络上的转移能够有一个一致的记录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lvl="1"/>
            <a:endParaRPr lang="en-US" altLang="zh-CN" dirty="0" smtClean="0"/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795762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42988" y="404813"/>
            <a:ext cx="6481340" cy="576262"/>
          </a:xfrm>
        </p:spPr>
        <p:txBody>
          <a:bodyPr/>
          <a:lstStyle/>
          <a:p>
            <a:r>
              <a:rPr lang="zh-CN" altLang="en-US" dirty="0" smtClean="0"/>
              <a:t>使用</a:t>
            </a:r>
            <a:r>
              <a:rPr lang="en-US" altLang="zh-CN" dirty="0" err="1" smtClean="0"/>
              <a:t>E</a:t>
            </a:r>
            <a:r>
              <a:rPr lang="en-US" altLang="zh-CN" dirty="0" err="1" smtClean="0"/>
              <a:t>therscan</a:t>
            </a:r>
            <a:r>
              <a:rPr lang="zh-CN" altLang="en-US" dirty="0" smtClean="0"/>
              <a:t>查看合约相关信息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9" y="1340768"/>
            <a:ext cx="8287072" cy="4536157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1800" dirty="0"/>
              <a:t>pragma solidity ^0.4.18;</a:t>
            </a:r>
          </a:p>
          <a:p>
            <a:pPr marL="0" indent="0">
              <a:buNone/>
            </a:pPr>
            <a:endParaRPr lang="zh-CN" altLang="en-US" sz="1800" dirty="0"/>
          </a:p>
          <a:p>
            <a:pPr marL="0" indent="0">
              <a:buNone/>
            </a:pPr>
            <a:r>
              <a:rPr lang="en-US" altLang="zh-CN" sz="1800" dirty="0"/>
              <a:t>contract WETH9 {</a:t>
            </a:r>
          </a:p>
          <a:p>
            <a:pPr marL="0" indent="0">
              <a:buNone/>
            </a:pPr>
            <a:r>
              <a:rPr lang="en-US" altLang="zh-CN" sz="1800" dirty="0"/>
              <a:t>    string public name     = "Wrapped Ether";</a:t>
            </a:r>
          </a:p>
          <a:p>
            <a:pPr marL="0" indent="0">
              <a:buNone/>
            </a:pPr>
            <a:r>
              <a:rPr lang="en-US" altLang="zh-CN" sz="1800" dirty="0"/>
              <a:t>    string public symbol   = "WETH";</a:t>
            </a:r>
          </a:p>
          <a:p>
            <a:pPr marL="0" indent="0">
              <a:buNone/>
            </a:pPr>
            <a:r>
              <a:rPr lang="en-US" altLang="zh-CN" sz="1800" dirty="0"/>
              <a:t>    uint8  public decimals = 18;</a:t>
            </a:r>
          </a:p>
          <a:p>
            <a:pPr marL="0" indent="0">
              <a:buNone/>
            </a:pPr>
            <a:endParaRPr lang="zh-CN" altLang="en-US" sz="1800" dirty="0"/>
          </a:p>
          <a:p>
            <a:pPr marL="0" indent="0">
              <a:buNone/>
            </a:pPr>
            <a:r>
              <a:rPr lang="en-US" altLang="zh-CN" sz="1800" dirty="0"/>
              <a:t>    event  Approval(address indexed </a:t>
            </a:r>
            <a:r>
              <a:rPr lang="en-US" altLang="zh-CN" sz="1800" dirty="0" err="1"/>
              <a:t>src</a:t>
            </a:r>
            <a:r>
              <a:rPr lang="en-US" altLang="zh-CN" sz="1800" dirty="0"/>
              <a:t>, address indexed guy, </a:t>
            </a:r>
            <a:r>
              <a:rPr lang="en-US" altLang="zh-CN" sz="1800" dirty="0" err="1"/>
              <a:t>uint</a:t>
            </a:r>
            <a:r>
              <a:rPr lang="en-US" altLang="zh-CN" sz="1800" dirty="0"/>
              <a:t> wad);</a:t>
            </a:r>
          </a:p>
          <a:p>
            <a:pPr marL="0" indent="0">
              <a:buNone/>
            </a:pPr>
            <a:r>
              <a:rPr lang="en-US" altLang="zh-CN" sz="1800" dirty="0"/>
              <a:t>    event  Transfer(address indexed </a:t>
            </a:r>
            <a:r>
              <a:rPr lang="en-US" altLang="zh-CN" sz="1800" dirty="0" err="1"/>
              <a:t>src</a:t>
            </a:r>
            <a:r>
              <a:rPr lang="en-US" altLang="zh-CN" sz="1800" dirty="0"/>
              <a:t>, address indexed </a:t>
            </a:r>
            <a:r>
              <a:rPr lang="en-US" altLang="zh-CN" sz="1800" dirty="0" err="1"/>
              <a:t>dst</a:t>
            </a:r>
            <a:r>
              <a:rPr lang="en-US" altLang="zh-CN" sz="1800" dirty="0"/>
              <a:t>, </a:t>
            </a:r>
            <a:r>
              <a:rPr lang="en-US" altLang="zh-CN" sz="1800" dirty="0" err="1"/>
              <a:t>uint</a:t>
            </a:r>
            <a:r>
              <a:rPr lang="en-US" altLang="zh-CN" sz="1800" dirty="0"/>
              <a:t> wad);</a:t>
            </a:r>
          </a:p>
          <a:p>
            <a:pPr marL="0" indent="0">
              <a:buNone/>
            </a:pPr>
            <a:r>
              <a:rPr lang="en-US" altLang="zh-CN" sz="1800" dirty="0"/>
              <a:t>    event  Deposit(address indexed </a:t>
            </a:r>
            <a:r>
              <a:rPr lang="en-US" altLang="zh-CN" sz="1800" dirty="0" err="1"/>
              <a:t>dst</a:t>
            </a:r>
            <a:r>
              <a:rPr lang="en-US" altLang="zh-CN" sz="1800" dirty="0"/>
              <a:t>, </a:t>
            </a:r>
            <a:r>
              <a:rPr lang="en-US" altLang="zh-CN" sz="1800" dirty="0" err="1"/>
              <a:t>uint</a:t>
            </a:r>
            <a:r>
              <a:rPr lang="en-US" altLang="zh-CN" sz="1800" dirty="0"/>
              <a:t> wad);</a:t>
            </a:r>
          </a:p>
          <a:p>
            <a:pPr marL="0" indent="0">
              <a:buNone/>
            </a:pPr>
            <a:r>
              <a:rPr lang="en-US" altLang="zh-CN" sz="1800" dirty="0"/>
              <a:t>    event  Withdrawal(address indexed </a:t>
            </a:r>
            <a:r>
              <a:rPr lang="en-US" altLang="zh-CN" sz="1800" dirty="0" err="1"/>
              <a:t>src</a:t>
            </a:r>
            <a:r>
              <a:rPr lang="en-US" altLang="zh-CN" sz="1800" dirty="0"/>
              <a:t>, </a:t>
            </a:r>
            <a:r>
              <a:rPr lang="en-US" altLang="zh-CN" sz="1800" dirty="0" err="1"/>
              <a:t>uint</a:t>
            </a:r>
            <a:r>
              <a:rPr lang="en-US" altLang="zh-CN" sz="1800" dirty="0"/>
              <a:t> wad);</a:t>
            </a:r>
          </a:p>
          <a:p>
            <a:pPr marL="0" indent="0">
              <a:buNone/>
            </a:pPr>
            <a:r>
              <a:rPr lang="en-US" altLang="zh-CN" sz="1800" dirty="0" smtClean="0"/>
              <a:t>    mapping </a:t>
            </a:r>
            <a:r>
              <a:rPr lang="en-US" altLang="zh-CN" sz="1800" dirty="0"/>
              <a:t>(address =&gt; </a:t>
            </a:r>
            <a:r>
              <a:rPr lang="en-US" altLang="zh-CN" sz="1800" dirty="0" err="1"/>
              <a:t>uint</a:t>
            </a:r>
            <a:r>
              <a:rPr lang="en-US" altLang="zh-CN" sz="1800" dirty="0"/>
              <a:t>)                       public  </a:t>
            </a:r>
            <a:r>
              <a:rPr lang="en-US" altLang="zh-CN" sz="1800" dirty="0" err="1"/>
              <a:t>balanceOf</a:t>
            </a:r>
            <a:r>
              <a:rPr lang="en-US" altLang="zh-CN" sz="1800" dirty="0"/>
              <a:t>;    </a:t>
            </a:r>
            <a:endParaRPr lang="en-US" altLang="zh-CN" sz="1800" dirty="0" smtClean="0"/>
          </a:p>
          <a:p>
            <a:pPr marL="0" indent="0">
              <a:buNone/>
            </a:pPr>
            <a:r>
              <a:rPr lang="en-US" altLang="zh-CN" sz="1800" dirty="0" smtClean="0"/>
              <a:t>    mapping </a:t>
            </a:r>
            <a:r>
              <a:rPr lang="en-US" altLang="zh-CN" sz="1800" dirty="0"/>
              <a:t>(address =&gt; mapping (address =&gt; </a:t>
            </a:r>
            <a:r>
              <a:rPr lang="en-US" altLang="zh-CN" sz="1800" dirty="0" err="1"/>
              <a:t>uint</a:t>
            </a:r>
            <a:r>
              <a:rPr lang="en-US" altLang="zh-CN" sz="1800" dirty="0"/>
              <a:t>))  public  allowance;</a:t>
            </a: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7579542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42988" y="404813"/>
            <a:ext cx="6481340" cy="576262"/>
          </a:xfrm>
        </p:spPr>
        <p:txBody>
          <a:bodyPr/>
          <a:lstStyle/>
          <a:p>
            <a:r>
              <a:rPr lang="zh-CN" altLang="en-US" dirty="0" smtClean="0"/>
              <a:t>使用</a:t>
            </a:r>
            <a:r>
              <a:rPr lang="en-US" altLang="zh-CN" dirty="0" err="1" smtClean="0"/>
              <a:t>E</a:t>
            </a:r>
            <a:r>
              <a:rPr lang="en-US" altLang="zh-CN" dirty="0" err="1" smtClean="0"/>
              <a:t>therscan</a:t>
            </a:r>
            <a:r>
              <a:rPr lang="zh-CN" altLang="en-US" dirty="0" smtClean="0"/>
              <a:t>查看合约相关信息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9" y="1340768"/>
            <a:ext cx="8287072" cy="4536157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1800" dirty="0"/>
              <a:t> function() public payable {</a:t>
            </a:r>
          </a:p>
          <a:p>
            <a:pPr marL="0" indent="0">
              <a:buNone/>
            </a:pPr>
            <a:r>
              <a:rPr lang="en-US" altLang="zh-CN" sz="1800" dirty="0"/>
              <a:t>        deposit();</a:t>
            </a:r>
          </a:p>
          <a:p>
            <a:pPr marL="0" indent="0">
              <a:buNone/>
            </a:pPr>
            <a:r>
              <a:rPr lang="zh-CN" altLang="en-US" sz="1800" dirty="0"/>
              <a:t>    </a:t>
            </a:r>
            <a:r>
              <a:rPr lang="en-US" altLang="zh-CN" sz="1800" dirty="0"/>
              <a:t>}</a:t>
            </a:r>
          </a:p>
          <a:p>
            <a:pPr marL="0" indent="0">
              <a:buNone/>
            </a:pPr>
            <a:endParaRPr lang="zh-CN" altLang="en-US" sz="1800" dirty="0"/>
          </a:p>
          <a:p>
            <a:pPr marL="0" indent="0">
              <a:buNone/>
            </a:pPr>
            <a:r>
              <a:rPr lang="en-US" altLang="zh-CN" sz="1800" dirty="0"/>
              <a:t>    function deposit() public payable {</a:t>
            </a:r>
          </a:p>
          <a:p>
            <a:pPr marL="0" indent="0">
              <a:buNone/>
            </a:pPr>
            <a:r>
              <a:rPr lang="en-US" altLang="zh-CN" sz="1800" dirty="0"/>
              <a:t>        </a:t>
            </a:r>
            <a:r>
              <a:rPr lang="en-US" altLang="zh-CN" sz="1800" dirty="0" err="1"/>
              <a:t>balanceOf</a:t>
            </a:r>
            <a:r>
              <a:rPr lang="en-US" altLang="zh-CN" sz="1800" dirty="0"/>
              <a:t>[</a:t>
            </a:r>
            <a:r>
              <a:rPr lang="en-US" altLang="zh-CN" sz="1800" dirty="0" err="1"/>
              <a:t>msg.sender</a:t>
            </a:r>
            <a:r>
              <a:rPr lang="en-US" altLang="zh-CN" sz="1800" dirty="0"/>
              <a:t>] += </a:t>
            </a:r>
            <a:r>
              <a:rPr lang="en-US" altLang="zh-CN" sz="1800" dirty="0" err="1"/>
              <a:t>msg.value</a:t>
            </a:r>
            <a:r>
              <a:rPr lang="en-US" altLang="zh-CN" sz="1800" dirty="0"/>
              <a:t>;</a:t>
            </a:r>
          </a:p>
          <a:p>
            <a:pPr marL="0" indent="0">
              <a:buNone/>
            </a:pPr>
            <a:r>
              <a:rPr lang="en-US" altLang="zh-CN" sz="1800" dirty="0"/>
              <a:t>        Deposit(</a:t>
            </a:r>
            <a:r>
              <a:rPr lang="en-US" altLang="zh-CN" sz="1800" dirty="0" err="1"/>
              <a:t>msg.sender</a:t>
            </a:r>
            <a:r>
              <a:rPr lang="en-US" altLang="zh-CN" sz="1800" dirty="0"/>
              <a:t>, </a:t>
            </a:r>
            <a:r>
              <a:rPr lang="en-US" altLang="zh-CN" sz="1800" dirty="0" err="1"/>
              <a:t>msg.value</a:t>
            </a:r>
            <a:r>
              <a:rPr lang="en-US" altLang="zh-CN" sz="1800" dirty="0"/>
              <a:t>);</a:t>
            </a:r>
          </a:p>
          <a:p>
            <a:pPr marL="0" indent="0">
              <a:buNone/>
            </a:pPr>
            <a:r>
              <a:rPr lang="zh-CN" altLang="en-US" sz="1800" dirty="0"/>
              <a:t>    </a:t>
            </a:r>
            <a:r>
              <a:rPr lang="en-US" altLang="zh-CN" sz="1800" dirty="0"/>
              <a:t>}</a:t>
            </a:r>
          </a:p>
          <a:p>
            <a:pPr marL="0" indent="0">
              <a:buNone/>
            </a:pPr>
            <a:endParaRPr lang="zh-CN" altLang="en-US" sz="1800" dirty="0"/>
          </a:p>
          <a:p>
            <a:pPr marL="0" indent="0">
              <a:buNone/>
            </a:pPr>
            <a:r>
              <a:rPr lang="en-US" altLang="zh-CN" sz="1800" dirty="0"/>
              <a:t>    function withdraw(</a:t>
            </a:r>
            <a:r>
              <a:rPr lang="en-US" altLang="zh-CN" sz="1800" dirty="0" err="1"/>
              <a:t>uint</a:t>
            </a:r>
            <a:r>
              <a:rPr lang="en-US" altLang="zh-CN" sz="1800" dirty="0"/>
              <a:t> wad) public {</a:t>
            </a:r>
          </a:p>
          <a:p>
            <a:pPr marL="0" indent="0">
              <a:buNone/>
            </a:pPr>
            <a:r>
              <a:rPr lang="en-US" altLang="zh-CN" sz="1800" dirty="0"/>
              <a:t>        require(</a:t>
            </a:r>
            <a:r>
              <a:rPr lang="en-US" altLang="zh-CN" sz="1800" dirty="0" err="1"/>
              <a:t>balanceOf</a:t>
            </a:r>
            <a:r>
              <a:rPr lang="en-US" altLang="zh-CN" sz="1800" dirty="0"/>
              <a:t>[</a:t>
            </a:r>
            <a:r>
              <a:rPr lang="en-US" altLang="zh-CN" sz="1800" dirty="0" err="1"/>
              <a:t>msg.sender</a:t>
            </a:r>
            <a:r>
              <a:rPr lang="en-US" altLang="zh-CN" sz="1800" dirty="0"/>
              <a:t>] &gt;= wad);</a:t>
            </a:r>
          </a:p>
          <a:p>
            <a:pPr marL="0" indent="0">
              <a:buNone/>
            </a:pPr>
            <a:r>
              <a:rPr lang="en-US" altLang="zh-CN" sz="1800" dirty="0"/>
              <a:t>        </a:t>
            </a:r>
            <a:r>
              <a:rPr lang="en-US" altLang="zh-CN" sz="1800" dirty="0" err="1"/>
              <a:t>balanceOf</a:t>
            </a:r>
            <a:r>
              <a:rPr lang="en-US" altLang="zh-CN" sz="1800" dirty="0"/>
              <a:t>[</a:t>
            </a:r>
            <a:r>
              <a:rPr lang="en-US" altLang="zh-CN" sz="1800" dirty="0" err="1"/>
              <a:t>msg.sender</a:t>
            </a:r>
            <a:r>
              <a:rPr lang="en-US" altLang="zh-CN" sz="1800" dirty="0"/>
              <a:t>] -= wad;</a:t>
            </a:r>
          </a:p>
          <a:p>
            <a:pPr marL="0" indent="0">
              <a:buNone/>
            </a:pPr>
            <a:r>
              <a:rPr lang="en-US" altLang="zh-CN" sz="1800" dirty="0"/>
              <a:t>        </a:t>
            </a:r>
            <a:r>
              <a:rPr lang="en-US" altLang="zh-CN" sz="1800" dirty="0" err="1"/>
              <a:t>msg.sender.transfer</a:t>
            </a:r>
            <a:r>
              <a:rPr lang="en-US" altLang="zh-CN" sz="1800" dirty="0"/>
              <a:t>(wad);</a:t>
            </a:r>
          </a:p>
          <a:p>
            <a:pPr marL="0" indent="0">
              <a:buNone/>
            </a:pPr>
            <a:r>
              <a:rPr lang="en-US" altLang="zh-CN" sz="1800" dirty="0"/>
              <a:t>        Withdrawal(</a:t>
            </a:r>
            <a:r>
              <a:rPr lang="en-US" altLang="zh-CN" sz="1800" dirty="0" err="1"/>
              <a:t>msg.sender</a:t>
            </a:r>
            <a:r>
              <a:rPr lang="en-US" altLang="zh-CN" sz="1800" dirty="0"/>
              <a:t>, wad);</a:t>
            </a:r>
          </a:p>
          <a:p>
            <a:pPr marL="0" indent="0">
              <a:buNone/>
            </a:pPr>
            <a:r>
              <a:rPr lang="zh-CN" altLang="en-US" sz="1800" dirty="0"/>
              <a:t>    </a:t>
            </a:r>
            <a:r>
              <a:rPr lang="en-US" altLang="zh-CN" sz="1800" dirty="0"/>
              <a:t>}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4987336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42988" y="404813"/>
            <a:ext cx="6481340" cy="576262"/>
          </a:xfrm>
        </p:spPr>
        <p:txBody>
          <a:bodyPr/>
          <a:lstStyle/>
          <a:p>
            <a:r>
              <a:rPr lang="zh-CN" altLang="en-US" dirty="0" smtClean="0"/>
              <a:t>使用</a:t>
            </a:r>
            <a:r>
              <a:rPr lang="en-US" altLang="zh-CN" dirty="0" err="1" smtClean="0"/>
              <a:t>E</a:t>
            </a:r>
            <a:r>
              <a:rPr lang="en-US" altLang="zh-CN" dirty="0" err="1" smtClean="0"/>
              <a:t>therscan</a:t>
            </a:r>
            <a:r>
              <a:rPr lang="zh-CN" altLang="en-US" dirty="0" smtClean="0"/>
              <a:t>查看合约相关信息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9" y="1340768"/>
            <a:ext cx="8287072" cy="4536157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1800" dirty="0"/>
              <a:t> function </a:t>
            </a:r>
            <a:r>
              <a:rPr lang="en-US" altLang="zh-CN" sz="1800" dirty="0" err="1"/>
              <a:t>totalSupply</a:t>
            </a:r>
            <a:r>
              <a:rPr lang="en-US" altLang="zh-CN" sz="1800" dirty="0"/>
              <a:t>() public view returns (</a:t>
            </a:r>
            <a:r>
              <a:rPr lang="en-US" altLang="zh-CN" sz="1800" dirty="0" err="1"/>
              <a:t>uint</a:t>
            </a:r>
            <a:r>
              <a:rPr lang="en-US" altLang="zh-CN" sz="1800" dirty="0"/>
              <a:t>) {</a:t>
            </a:r>
          </a:p>
          <a:p>
            <a:pPr marL="0" indent="0">
              <a:buNone/>
            </a:pPr>
            <a:r>
              <a:rPr lang="en-US" altLang="zh-CN" sz="1800" dirty="0"/>
              <a:t>        return </a:t>
            </a:r>
            <a:r>
              <a:rPr lang="en-US" altLang="zh-CN" sz="1800" dirty="0" err="1"/>
              <a:t>this.balance</a:t>
            </a:r>
            <a:r>
              <a:rPr lang="en-US" altLang="zh-CN" sz="1800" dirty="0"/>
              <a:t>;</a:t>
            </a:r>
          </a:p>
          <a:p>
            <a:pPr marL="0" indent="0">
              <a:buNone/>
            </a:pPr>
            <a:r>
              <a:rPr lang="zh-CN" altLang="en-US" sz="1800" dirty="0"/>
              <a:t>    </a:t>
            </a:r>
            <a:r>
              <a:rPr lang="en-US" altLang="zh-CN" sz="1800" dirty="0"/>
              <a:t>}</a:t>
            </a:r>
          </a:p>
          <a:p>
            <a:pPr marL="0" indent="0">
              <a:buNone/>
            </a:pPr>
            <a:endParaRPr lang="zh-CN" altLang="en-US" sz="1800" dirty="0"/>
          </a:p>
          <a:p>
            <a:pPr marL="0" indent="0">
              <a:buNone/>
            </a:pPr>
            <a:r>
              <a:rPr lang="en-US" altLang="zh-CN" sz="1800" dirty="0"/>
              <a:t>    function approve(address guy, </a:t>
            </a:r>
            <a:r>
              <a:rPr lang="en-US" altLang="zh-CN" sz="1800" dirty="0" err="1"/>
              <a:t>uint</a:t>
            </a:r>
            <a:r>
              <a:rPr lang="en-US" altLang="zh-CN" sz="1800" dirty="0"/>
              <a:t> wad) public returns (bool) {</a:t>
            </a:r>
          </a:p>
          <a:p>
            <a:pPr marL="0" indent="0">
              <a:buNone/>
            </a:pPr>
            <a:r>
              <a:rPr lang="en-US" altLang="zh-CN" sz="1800" dirty="0"/>
              <a:t>        allowance[</a:t>
            </a:r>
            <a:r>
              <a:rPr lang="en-US" altLang="zh-CN" sz="1800" dirty="0" err="1"/>
              <a:t>msg.sender</a:t>
            </a:r>
            <a:r>
              <a:rPr lang="en-US" altLang="zh-CN" sz="1800" dirty="0"/>
              <a:t>][guy] = wad;</a:t>
            </a:r>
          </a:p>
          <a:p>
            <a:pPr marL="0" indent="0">
              <a:buNone/>
            </a:pPr>
            <a:r>
              <a:rPr lang="en-US" altLang="zh-CN" sz="1800" dirty="0"/>
              <a:t>        Approval(</a:t>
            </a:r>
            <a:r>
              <a:rPr lang="en-US" altLang="zh-CN" sz="1800" dirty="0" err="1"/>
              <a:t>msg.sender</a:t>
            </a:r>
            <a:r>
              <a:rPr lang="en-US" altLang="zh-CN" sz="1800" dirty="0"/>
              <a:t>, guy, wad);</a:t>
            </a:r>
          </a:p>
          <a:p>
            <a:pPr marL="0" indent="0">
              <a:buNone/>
            </a:pPr>
            <a:r>
              <a:rPr lang="en-US" altLang="zh-CN" sz="1800" dirty="0"/>
              <a:t>        return true;</a:t>
            </a:r>
          </a:p>
          <a:p>
            <a:pPr marL="0" indent="0">
              <a:buNone/>
            </a:pPr>
            <a:r>
              <a:rPr lang="zh-CN" altLang="en-US" sz="1800" dirty="0"/>
              <a:t>    </a:t>
            </a:r>
            <a:r>
              <a:rPr lang="en-US" altLang="zh-CN" sz="1800" dirty="0"/>
              <a:t>}</a:t>
            </a:r>
          </a:p>
          <a:p>
            <a:pPr marL="0" indent="0">
              <a:buNone/>
            </a:pPr>
            <a:endParaRPr lang="zh-CN" altLang="en-US" sz="1800" dirty="0"/>
          </a:p>
          <a:p>
            <a:pPr marL="0" indent="0">
              <a:buNone/>
            </a:pPr>
            <a:r>
              <a:rPr lang="en-US" altLang="zh-CN" sz="1800" dirty="0"/>
              <a:t>    function transfer(address </a:t>
            </a:r>
            <a:r>
              <a:rPr lang="en-US" altLang="zh-CN" sz="1800" dirty="0" err="1"/>
              <a:t>dst</a:t>
            </a:r>
            <a:r>
              <a:rPr lang="en-US" altLang="zh-CN" sz="1800" dirty="0"/>
              <a:t>, </a:t>
            </a:r>
            <a:r>
              <a:rPr lang="en-US" altLang="zh-CN" sz="1800" dirty="0" err="1"/>
              <a:t>uint</a:t>
            </a:r>
            <a:r>
              <a:rPr lang="en-US" altLang="zh-CN" sz="1800" dirty="0"/>
              <a:t> wad) public returns (bool) {</a:t>
            </a:r>
          </a:p>
          <a:p>
            <a:pPr marL="0" indent="0">
              <a:buNone/>
            </a:pPr>
            <a:r>
              <a:rPr lang="en-US" altLang="zh-CN" sz="1800" dirty="0"/>
              <a:t>        return </a:t>
            </a:r>
            <a:r>
              <a:rPr lang="en-US" altLang="zh-CN" sz="1800" dirty="0" err="1"/>
              <a:t>transferFrom</a:t>
            </a:r>
            <a:r>
              <a:rPr lang="en-US" altLang="zh-CN" sz="1800" dirty="0"/>
              <a:t>(</a:t>
            </a:r>
            <a:r>
              <a:rPr lang="en-US" altLang="zh-CN" sz="1800" dirty="0" err="1"/>
              <a:t>msg.sender</a:t>
            </a:r>
            <a:r>
              <a:rPr lang="en-US" altLang="zh-CN" sz="1800" dirty="0"/>
              <a:t>, </a:t>
            </a:r>
            <a:r>
              <a:rPr lang="en-US" altLang="zh-CN" sz="1800" dirty="0" err="1"/>
              <a:t>dst</a:t>
            </a:r>
            <a:r>
              <a:rPr lang="en-US" altLang="zh-CN" sz="1800" dirty="0"/>
              <a:t>, wad);</a:t>
            </a:r>
          </a:p>
          <a:p>
            <a:pPr marL="0" indent="0">
              <a:buNone/>
            </a:pPr>
            <a:r>
              <a:rPr lang="zh-CN" altLang="en-US" sz="1800" dirty="0"/>
              <a:t>    </a:t>
            </a:r>
            <a:r>
              <a:rPr lang="en-US" altLang="zh-CN" sz="1800" dirty="0"/>
              <a:t>}</a:t>
            </a:r>
            <a:endParaRPr lang="zh-CN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1837540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42988" y="404813"/>
            <a:ext cx="6481340" cy="576262"/>
          </a:xfrm>
        </p:spPr>
        <p:txBody>
          <a:bodyPr/>
          <a:lstStyle/>
          <a:p>
            <a:r>
              <a:rPr lang="zh-CN" altLang="en-US" dirty="0" smtClean="0"/>
              <a:t>使用</a:t>
            </a:r>
            <a:r>
              <a:rPr lang="en-US" altLang="zh-CN" dirty="0" err="1" smtClean="0"/>
              <a:t>E</a:t>
            </a:r>
            <a:r>
              <a:rPr lang="en-US" altLang="zh-CN" dirty="0" err="1" smtClean="0"/>
              <a:t>therscan</a:t>
            </a:r>
            <a:r>
              <a:rPr lang="zh-CN" altLang="en-US" dirty="0" smtClean="0"/>
              <a:t>查看合约相关信息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9" y="1340768"/>
            <a:ext cx="8287072" cy="4536157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1800" dirty="0"/>
              <a:t> function </a:t>
            </a:r>
            <a:r>
              <a:rPr lang="en-US" altLang="zh-CN" sz="1800" dirty="0" err="1"/>
              <a:t>transferFrom</a:t>
            </a:r>
            <a:r>
              <a:rPr lang="en-US" altLang="zh-CN" sz="1800" dirty="0"/>
              <a:t>(address </a:t>
            </a:r>
            <a:r>
              <a:rPr lang="en-US" altLang="zh-CN" sz="1800" dirty="0" err="1"/>
              <a:t>src</a:t>
            </a:r>
            <a:r>
              <a:rPr lang="en-US" altLang="zh-CN" sz="1800" dirty="0"/>
              <a:t>, address </a:t>
            </a:r>
            <a:r>
              <a:rPr lang="en-US" altLang="zh-CN" sz="1800" dirty="0" err="1"/>
              <a:t>dst</a:t>
            </a:r>
            <a:r>
              <a:rPr lang="en-US" altLang="zh-CN" sz="1800" dirty="0"/>
              <a:t>, </a:t>
            </a:r>
            <a:r>
              <a:rPr lang="en-US" altLang="zh-CN" sz="1800" dirty="0" err="1"/>
              <a:t>uint</a:t>
            </a:r>
            <a:r>
              <a:rPr lang="en-US" altLang="zh-CN" sz="1800" dirty="0"/>
              <a:t> wad) public returns (bool)</a:t>
            </a:r>
          </a:p>
          <a:p>
            <a:pPr marL="0" indent="0">
              <a:buNone/>
            </a:pPr>
            <a:r>
              <a:rPr lang="zh-CN" altLang="en-US" sz="1800" dirty="0"/>
              <a:t>    </a:t>
            </a:r>
            <a:r>
              <a:rPr lang="en-US" altLang="zh-CN" sz="1800" dirty="0"/>
              <a:t>{</a:t>
            </a:r>
          </a:p>
          <a:p>
            <a:pPr marL="0" indent="0">
              <a:buNone/>
            </a:pPr>
            <a:r>
              <a:rPr lang="en-US" altLang="zh-CN" sz="1800" dirty="0"/>
              <a:t>        require(</a:t>
            </a:r>
            <a:r>
              <a:rPr lang="en-US" altLang="zh-CN" sz="1800" dirty="0" err="1"/>
              <a:t>balanceOf</a:t>
            </a:r>
            <a:r>
              <a:rPr lang="en-US" altLang="zh-CN" sz="1800" dirty="0"/>
              <a:t>[</a:t>
            </a:r>
            <a:r>
              <a:rPr lang="en-US" altLang="zh-CN" sz="1800" dirty="0" err="1"/>
              <a:t>src</a:t>
            </a:r>
            <a:r>
              <a:rPr lang="en-US" altLang="zh-CN" sz="1800" dirty="0"/>
              <a:t>] &gt;= wad);</a:t>
            </a:r>
          </a:p>
          <a:p>
            <a:pPr marL="0" indent="0">
              <a:buNone/>
            </a:pPr>
            <a:endParaRPr lang="zh-CN" altLang="en-US" sz="1800" dirty="0"/>
          </a:p>
          <a:p>
            <a:pPr marL="0" indent="0">
              <a:buNone/>
            </a:pPr>
            <a:r>
              <a:rPr lang="en-US" altLang="zh-CN" sz="1800" dirty="0"/>
              <a:t>        if (</a:t>
            </a:r>
            <a:r>
              <a:rPr lang="en-US" altLang="zh-CN" sz="1800" dirty="0" err="1"/>
              <a:t>src</a:t>
            </a:r>
            <a:r>
              <a:rPr lang="en-US" altLang="zh-CN" sz="1800" dirty="0"/>
              <a:t> != </a:t>
            </a:r>
            <a:r>
              <a:rPr lang="en-US" altLang="zh-CN" sz="1800" dirty="0" err="1"/>
              <a:t>msg.sender</a:t>
            </a:r>
            <a:r>
              <a:rPr lang="en-US" altLang="zh-CN" sz="1800" dirty="0"/>
              <a:t> &amp;&amp; allowance[</a:t>
            </a:r>
            <a:r>
              <a:rPr lang="en-US" altLang="zh-CN" sz="1800" dirty="0" err="1"/>
              <a:t>src</a:t>
            </a:r>
            <a:r>
              <a:rPr lang="en-US" altLang="zh-CN" sz="1800" dirty="0"/>
              <a:t>][</a:t>
            </a:r>
            <a:r>
              <a:rPr lang="en-US" altLang="zh-CN" sz="1800" dirty="0" err="1"/>
              <a:t>msg.sender</a:t>
            </a:r>
            <a:r>
              <a:rPr lang="en-US" altLang="zh-CN" sz="1800" dirty="0"/>
              <a:t>] != </a:t>
            </a:r>
            <a:r>
              <a:rPr lang="en-US" altLang="zh-CN" sz="1800" dirty="0" err="1"/>
              <a:t>uint</a:t>
            </a:r>
            <a:r>
              <a:rPr lang="en-US" altLang="zh-CN" sz="1800" dirty="0"/>
              <a:t>(-1)) {</a:t>
            </a:r>
          </a:p>
          <a:p>
            <a:pPr marL="0" indent="0">
              <a:buNone/>
            </a:pPr>
            <a:r>
              <a:rPr lang="en-US" altLang="zh-CN" sz="1800" dirty="0"/>
              <a:t>            require(allowance[</a:t>
            </a:r>
            <a:r>
              <a:rPr lang="en-US" altLang="zh-CN" sz="1800" dirty="0" err="1"/>
              <a:t>src</a:t>
            </a:r>
            <a:r>
              <a:rPr lang="en-US" altLang="zh-CN" sz="1800" dirty="0"/>
              <a:t>][</a:t>
            </a:r>
            <a:r>
              <a:rPr lang="en-US" altLang="zh-CN" sz="1800" dirty="0" err="1"/>
              <a:t>msg.sender</a:t>
            </a:r>
            <a:r>
              <a:rPr lang="en-US" altLang="zh-CN" sz="1800" dirty="0"/>
              <a:t>] &gt;= wad);</a:t>
            </a:r>
          </a:p>
          <a:p>
            <a:pPr marL="0" indent="0">
              <a:buNone/>
            </a:pPr>
            <a:r>
              <a:rPr lang="en-US" altLang="zh-CN" sz="1800" dirty="0"/>
              <a:t>            allowance[</a:t>
            </a:r>
            <a:r>
              <a:rPr lang="en-US" altLang="zh-CN" sz="1800" dirty="0" err="1"/>
              <a:t>src</a:t>
            </a:r>
            <a:r>
              <a:rPr lang="en-US" altLang="zh-CN" sz="1800" dirty="0"/>
              <a:t>][</a:t>
            </a:r>
            <a:r>
              <a:rPr lang="en-US" altLang="zh-CN" sz="1800" dirty="0" err="1"/>
              <a:t>msg.sender</a:t>
            </a:r>
            <a:r>
              <a:rPr lang="en-US" altLang="zh-CN" sz="1800" dirty="0"/>
              <a:t>] -= wad;</a:t>
            </a:r>
          </a:p>
          <a:p>
            <a:pPr marL="0" indent="0">
              <a:buNone/>
            </a:pPr>
            <a:r>
              <a:rPr lang="zh-CN" altLang="en-US" sz="1800" dirty="0"/>
              <a:t>        </a:t>
            </a:r>
            <a:r>
              <a:rPr lang="en-US" altLang="zh-CN" sz="1800" dirty="0"/>
              <a:t>}</a:t>
            </a:r>
          </a:p>
          <a:p>
            <a:pPr marL="0" indent="0">
              <a:buNone/>
            </a:pPr>
            <a:r>
              <a:rPr lang="en-US" altLang="zh-CN" sz="1800" dirty="0"/>
              <a:t>        </a:t>
            </a:r>
            <a:r>
              <a:rPr lang="en-US" altLang="zh-CN" sz="1800" dirty="0" err="1"/>
              <a:t>balanceOf</a:t>
            </a:r>
            <a:r>
              <a:rPr lang="en-US" altLang="zh-CN" sz="1800" dirty="0"/>
              <a:t>[</a:t>
            </a:r>
            <a:r>
              <a:rPr lang="en-US" altLang="zh-CN" sz="1800" dirty="0" err="1"/>
              <a:t>src</a:t>
            </a:r>
            <a:r>
              <a:rPr lang="en-US" altLang="zh-CN" sz="1800" dirty="0"/>
              <a:t>] -= wad;</a:t>
            </a:r>
          </a:p>
          <a:p>
            <a:pPr marL="0" indent="0">
              <a:buNone/>
            </a:pPr>
            <a:r>
              <a:rPr lang="en-US" altLang="zh-CN" sz="1800" dirty="0"/>
              <a:t>        </a:t>
            </a:r>
            <a:r>
              <a:rPr lang="en-US" altLang="zh-CN" sz="1800" dirty="0" err="1"/>
              <a:t>balanceOf</a:t>
            </a:r>
            <a:r>
              <a:rPr lang="en-US" altLang="zh-CN" sz="1800" dirty="0"/>
              <a:t>[</a:t>
            </a:r>
            <a:r>
              <a:rPr lang="en-US" altLang="zh-CN" sz="1800" dirty="0" err="1"/>
              <a:t>dst</a:t>
            </a:r>
            <a:r>
              <a:rPr lang="en-US" altLang="zh-CN" sz="1800" dirty="0"/>
              <a:t>] += wad;</a:t>
            </a:r>
          </a:p>
          <a:p>
            <a:pPr marL="0" indent="0">
              <a:buNone/>
            </a:pPr>
            <a:endParaRPr lang="zh-CN" altLang="en-US" sz="1800" dirty="0"/>
          </a:p>
          <a:p>
            <a:pPr marL="0" indent="0">
              <a:buNone/>
            </a:pPr>
            <a:r>
              <a:rPr lang="en-US" altLang="zh-CN" sz="1800" dirty="0"/>
              <a:t>        Transfer(</a:t>
            </a:r>
            <a:r>
              <a:rPr lang="en-US" altLang="zh-CN" sz="1800" dirty="0" err="1"/>
              <a:t>src</a:t>
            </a:r>
            <a:r>
              <a:rPr lang="en-US" altLang="zh-CN" sz="1800" dirty="0"/>
              <a:t>, </a:t>
            </a:r>
            <a:r>
              <a:rPr lang="en-US" altLang="zh-CN" sz="1800" dirty="0" err="1"/>
              <a:t>dst</a:t>
            </a:r>
            <a:r>
              <a:rPr lang="en-US" altLang="zh-CN" sz="1800" dirty="0"/>
              <a:t>, wad);</a:t>
            </a:r>
          </a:p>
          <a:p>
            <a:pPr marL="0" indent="0">
              <a:buNone/>
            </a:pPr>
            <a:r>
              <a:rPr lang="en-US" altLang="zh-CN" sz="1800" dirty="0"/>
              <a:t>        return true;</a:t>
            </a:r>
          </a:p>
          <a:p>
            <a:pPr marL="0" indent="0">
              <a:buNone/>
            </a:pPr>
            <a:r>
              <a:rPr lang="zh-CN" altLang="en-US" sz="1800" dirty="0"/>
              <a:t>    </a:t>
            </a:r>
            <a:r>
              <a:rPr lang="en-US" altLang="zh-CN" sz="1800" dirty="0"/>
              <a:t>}</a:t>
            </a:r>
          </a:p>
          <a:p>
            <a:pPr marL="0" indent="0">
              <a:buNone/>
            </a:pPr>
            <a:r>
              <a:rPr lang="en-US" altLang="zh-CN" sz="1800" dirty="0"/>
              <a:t>}</a:t>
            </a:r>
            <a:endParaRPr lang="zh-CN" altLang="en-US" sz="700" dirty="0"/>
          </a:p>
        </p:txBody>
      </p:sp>
    </p:spTree>
    <p:extLst>
      <p:ext uri="{BB962C8B-B14F-4D97-AF65-F5344CB8AC3E}">
        <p14:creationId xmlns:p14="http://schemas.microsoft.com/office/powerpoint/2010/main" val="22118493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42988" y="404813"/>
            <a:ext cx="6481340" cy="576262"/>
          </a:xfrm>
        </p:spPr>
        <p:txBody>
          <a:bodyPr/>
          <a:lstStyle/>
          <a:p>
            <a:r>
              <a:rPr lang="zh-CN" altLang="en-US" dirty="0" smtClean="0"/>
              <a:t>使用</a:t>
            </a:r>
            <a:r>
              <a:rPr lang="en-US" altLang="zh-CN" dirty="0" err="1" smtClean="0"/>
              <a:t>E</a:t>
            </a:r>
            <a:r>
              <a:rPr lang="en-US" altLang="zh-CN" dirty="0" err="1" smtClean="0"/>
              <a:t>therscan</a:t>
            </a:r>
            <a:r>
              <a:rPr lang="zh-CN" altLang="en-US" dirty="0" smtClean="0"/>
              <a:t>查看合约相关信息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在</a:t>
            </a:r>
            <a:r>
              <a:rPr lang="en-US" altLang="zh-CN" dirty="0" err="1" smtClean="0"/>
              <a:t>etherscan</a:t>
            </a:r>
            <a:r>
              <a:rPr lang="zh-CN" altLang="en-US" dirty="0" smtClean="0"/>
              <a:t>搜索</a:t>
            </a:r>
            <a:r>
              <a:rPr lang="en-US" altLang="zh-CN" dirty="0" err="1" smtClean="0"/>
              <a:t>weth</a:t>
            </a:r>
            <a:r>
              <a:rPr lang="zh-CN" altLang="en-US" dirty="0" smtClean="0"/>
              <a:t>智能合约：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通过输入关键字“</a:t>
            </a:r>
            <a:r>
              <a:rPr lang="en-US" altLang="zh-CN" dirty="0"/>
              <a:t>Wrapped Ether</a:t>
            </a:r>
            <a:r>
              <a:rPr lang="zh-CN" altLang="en-US" dirty="0" smtClean="0"/>
              <a:t>”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313" y="2564904"/>
            <a:ext cx="7713787" cy="2700736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 bwMode="auto">
          <a:xfrm>
            <a:off x="683568" y="5589240"/>
            <a:ext cx="1008112" cy="64807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合约概览</a:t>
            </a:r>
            <a:endParaRPr kumimoji="0" lang="zh-CN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868144" y="5586541"/>
            <a:ext cx="2016224" cy="64807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合约部署地址</a:t>
            </a:r>
            <a:endParaRPr kumimoji="0" lang="zh-CN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cxnSp>
        <p:nvCxnSpPr>
          <p:cNvPr id="8" name="直接箭头连接符 7"/>
          <p:cNvCxnSpPr/>
          <p:nvPr/>
        </p:nvCxnSpPr>
        <p:spPr bwMode="auto">
          <a:xfrm flipV="1">
            <a:off x="1331640" y="4653136"/>
            <a:ext cx="144016" cy="1008112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" name="直接箭头连接符 9"/>
          <p:cNvCxnSpPr>
            <a:stCxn id="6" idx="0"/>
          </p:cNvCxnSpPr>
          <p:nvPr/>
        </p:nvCxnSpPr>
        <p:spPr bwMode="auto">
          <a:xfrm flipV="1">
            <a:off x="6876256" y="4293096"/>
            <a:ext cx="0" cy="1293445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8048247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42988" y="404813"/>
            <a:ext cx="6481340" cy="576262"/>
          </a:xfrm>
        </p:spPr>
        <p:txBody>
          <a:bodyPr/>
          <a:lstStyle/>
          <a:p>
            <a:r>
              <a:rPr lang="zh-CN" altLang="en-US" dirty="0" smtClean="0"/>
              <a:t>使用</a:t>
            </a:r>
            <a:r>
              <a:rPr lang="en-US" altLang="zh-CN" dirty="0" err="1" smtClean="0"/>
              <a:t>E</a:t>
            </a:r>
            <a:r>
              <a:rPr lang="en-US" altLang="zh-CN" dirty="0" err="1" smtClean="0"/>
              <a:t>therscan</a:t>
            </a:r>
            <a:r>
              <a:rPr lang="zh-CN" altLang="en-US" dirty="0" smtClean="0"/>
              <a:t>查看合约相关信息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点击地址打开合约主页面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2636912"/>
            <a:ext cx="7129065" cy="3067486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 bwMode="auto">
          <a:xfrm>
            <a:off x="468313" y="2060848"/>
            <a:ext cx="1943447" cy="36004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合约地址</a:t>
            </a:r>
            <a:endParaRPr kumimoji="0" lang="zh-CN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1" y="2744106"/>
            <a:ext cx="827584" cy="75690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合约</a:t>
            </a:r>
            <a:endParaRPr kumimoji="0" lang="en-US" altLang="zh-CN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概览</a:t>
            </a:r>
            <a:endParaRPr kumimoji="0" lang="zh-CN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1" y="4203798"/>
            <a:ext cx="827584" cy="953393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合约</a:t>
            </a:r>
            <a:endParaRPr kumimoji="0" lang="en-US" altLang="zh-CN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交易</a:t>
            </a:r>
            <a:endParaRPr kumimoji="0" lang="en-US" altLang="zh-CN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dirty="0">
                <a:latin typeface="Times New Roman" pitchFamily="18" charset="0"/>
              </a:rPr>
              <a:t>信息</a:t>
            </a:r>
            <a:endParaRPr kumimoji="0" lang="zh-CN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5580112" y="5876925"/>
            <a:ext cx="2808312" cy="953393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合约</a:t>
            </a:r>
            <a:r>
              <a:rPr lang="zh-CN" altLang="en-US" dirty="0" smtClean="0">
                <a:latin typeface="Times New Roman" pitchFamily="18" charset="0"/>
              </a:rPr>
              <a:t>信息</a:t>
            </a:r>
            <a:r>
              <a: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（如果开源的话，</a:t>
            </a:r>
            <a:endParaRPr kumimoji="0" lang="en-US" altLang="zh-CN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可以看到合约源码）</a:t>
            </a:r>
            <a:endParaRPr kumimoji="0" lang="zh-CN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5796136" y="1983096"/>
            <a:ext cx="1943447" cy="36004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合约创建者信息</a:t>
            </a:r>
            <a:endParaRPr kumimoji="0" lang="zh-CN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cxnSp>
        <p:nvCxnSpPr>
          <p:cNvPr id="11" name="直接箭头连接符 10"/>
          <p:cNvCxnSpPr>
            <a:stCxn id="5" idx="2"/>
          </p:cNvCxnSpPr>
          <p:nvPr/>
        </p:nvCxnSpPr>
        <p:spPr bwMode="auto">
          <a:xfrm>
            <a:off x="1440037" y="2420888"/>
            <a:ext cx="611683" cy="216024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3" name="直接箭头连接符 12"/>
          <p:cNvCxnSpPr/>
          <p:nvPr/>
        </p:nvCxnSpPr>
        <p:spPr bwMode="auto">
          <a:xfrm>
            <a:off x="755576" y="3501008"/>
            <a:ext cx="504056" cy="144016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5" name="直接箭头连接符 14"/>
          <p:cNvCxnSpPr/>
          <p:nvPr/>
        </p:nvCxnSpPr>
        <p:spPr bwMode="auto">
          <a:xfrm>
            <a:off x="683568" y="5013176"/>
            <a:ext cx="504056" cy="144015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7" name="直接箭头连接符 16"/>
          <p:cNvCxnSpPr/>
          <p:nvPr/>
        </p:nvCxnSpPr>
        <p:spPr bwMode="auto">
          <a:xfrm flipH="1">
            <a:off x="5220072" y="2348880"/>
            <a:ext cx="1152128" cy="1584176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9" name="直接箭头连接符 18"/>
          <p:cNvCxnSpPr/>
          <p:nvPr/>
        </p:nvCxnSpPr>
        <p:spPr bwMode="auto">
          <a:xfrm flipH="1" flipV="1">
            <a:off x="3963008" y="4509120"/>
            <a:ext cx="2192400" cy="1411302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1" name="矩形 20"/>
          <p:cNvSpPr/>
          <p:nvPr/>
        </p:nvSpPr>
        <p:spPr bwMode="auto">
          <a:xfrm>
            <a:off x="1866339" y="6049756"/>
            <a:ext cx="1943447" cy="61257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点击这里可以看到</a:t>
            </a:r>
            <a:endParaRPr kumimoji="0" lang="en-US" altLang="zh-CN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已经确认的交易</a:t>
            </a:r>
            <a:endParaRPr kumimoji="0" lang="zh-CN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cxnSp>
        <p:nvCxnSpPr>
          <p:cNvPr id="23" name="直接箭头连接符 22"/>
          <p:cNvCxnSpPr/>
          <p:nvPr/>
        </p:nvCxnSpPr>
        <p:spPr bwMode="auto">
          <a:xfrm flipH="1" flipV="1">
            <a:off x="2051720" y="4725144"/>
            <a:ext cx="360040" cy="1367805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007619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42988" y="404813"/>
            <a:ext cx="6481340" cy="576262"/>
          </a:xfrm>
        </p:spPr>
        <p:txBody>
          <a:bodyPr/>
          <a:lstStyle/>
          <a:p>
            <a:r>
              <a:rPr lang="zh-CN" altLang="en-US" dirty="0" smtClean="0"/>
              <a:t>使用</a:t>
            </a:r>
            <a:r>
              <a:rPr lang="en-US" altLang="zh-CN" dirty="0" err="1" smtClean="0"/>
              <a:t>E</a:t>
            </a:r>
            <a:r>
              <a:rPr lang="en-US" altLang="zh-CN" dirty="0" err="1" smtClean="0"/>
              <a:t>therscan</a:t>
            </a:r>
            <a:r>
              <a:rPr lang="zh-CN" altLang="en-US" dirty="0" smtClean="0"/>
              <a:t>查看合约相关信息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9" y="1124744"/>
            <a:ext cx="8287072" cy="4752181"/>
          </a:xfrm>
        </p:spPr>
        <p:txBody>
          <a:bodyPr/>
          <a:lstStyle/>
          <a:p>
            <a:r>
              <a:rPr lang="zh-CN" altLang="en-US" dirty="0" smtClean="0"/>
              <a:t>查看合约源码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6348" y="1609761"/>
            <a:ext cx="5225569" cy="516153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 bwMode="auto">
          <a:xfrm>
            <a:off x="395536" y="1628800"/>
            <a:ext cx="1152128" cy="79208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合约名字和</a:t>
            </a:r>
            <a:endParaRPr kumimoji="0" lang="en-US" altLang="zh-CN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版本等信息</a:t>
            </a:r>
            <a:endParaRPr kumimoji="0" lang="zh-CN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395536" y="2960774"/>
            <a:ext cx="1152128" cy="79208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合约源码和</a:t>
            </a:r>
            <a:endParaRPr kumimoji="0" lang="en-US" altLang="zh-CN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dirty="0">
                <a:latin typeface="Times New Roman" pitchFamily="18" charset="0"/>
              </a:rPr>
              <a:t>版权</a:t>
            </a:r>
            <a:r>
              <a: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等信息</a:t>
            </a:r>
            <a:endParaRPr kumimoji="0" lang="zh-CN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395536" y="4797152"/>
            <a:ext cx="1152128" cy="79208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合约</a:t>
            </a:r>
            <a:r>
              <a:rPr kumimoji="0" lang="en-US" altLang="zh-C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ABI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接口信息</a:t>
            </a:r>
            <a:endParaRPr kumimoji="0" lang="zh-CN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395536" y="5979203"/>
            <a:ext cx="1152128" cy="79208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合约编译后</a:t>
            </a:r>
            <a:endParaRPr kumimoji="0" lang="en-US" altLang="zh-CN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dirty="0" smtClean="0">
                <a:latin typeface="Times New Roman" pitchFamily="18" charset="0"/>
              </a:rPr>
              <a:t>的字节码</a:t>
            </a:r>
            <a:endParaRPr kumimoji="0" lang="zh-CN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cxnSp>
        <p:nvCxnSpPr>
          <p:cNvPr id="10" name="直接箭头连接符 9"/>
          <p:cNvCxnSpPr>
            <a:stCxn id="5" idx="3"/>
          </p:cNvCxnSpPr>
          <p:nvPr/>
        </p:nvCxnSpPr>
        <p:spPr bwMode="auto">
          <a:xfrm>
            <a:off x="1547664" y="2024844"/>
            <a:ext cx="918684" cy="108012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2" name="直接箭头连接符 11"/>
          <p:cNvCxnSpPr>
            <a:stCxn id="6" idx="3"/>
          </p:cNvCxnSpPr>
          <p:nvPr/>
        </p:nvCxnSpPr>
        <p:spPr bwMode="auto">
          <a:xfrm>
            <a:off x="1547664" y="3356818"/>
            <a:ext cx="918684" cy="144016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4" name="直接箭头连接符 13"/>
          <p:cNvCxnSpPr>
            <a:stCxn id="7" idx="3"/>
          </p:cNvCxnSpPr>
          <p:nvPr/>
        </p:nvCxnSpPr>
        <p:spPr bwMode="auto">
          <a:xfrm>
            <a:off x="1547664" y="5193196"/>
            <a:ext cx="918684" cy="108012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6" name="直接箭头连接符 15"/>
          <p:cNvCxnSpPr>
            <a:stCxn id="8" idx="3"/>
          </p:cNvCxnSpPr>
          <p:nvPr/>
        </p:nvCxnSpPr>
        <p:spPr bwMode="auto">
          <a:xfrm>
            <a:off x="1547664" y="6375247"/>
            <a:ext cx="918684" cy="41564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6827517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图片 4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911" y="1636995"/>
            <a:ext cx="7425079" cy="473648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42988" y="404813"/>
            <a:ext cx="6481340" cy="576262"/>
          </a:xfrm>
        </p:spPr>
        <p:txBody>
          <a:bodyPr/>
          <a:lstStyle/>
          <a:p>
            <a:r>
              <a:rPr lang="zh-CN" altLang="en-US" dirty="0" smtClean="0"/>
              <a:t>使用</a:t>
            </a:r>
            <a:r>
              <a:rPr lang="en-US" altLang="zh-CN" dirty="0" err="1" smtClean="0"/>
              <a:t>E</a:t>
            </a:r>
            <a:r>
              <a:rPr lang="en-US" altLang="zh-CN" dirty="0" err="1" smtClean="0"/>
              <a:t>therscan</a:t>
            </a:r>
            <a:r>
              <a:rPr lang="zh-CN" altLang="en-US" dirty="0" smtClean="0"/>
              <a:t>查看合约相关信息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9" y="1124744"/>
            <a:ext cx="8287072" cy="4752181"/>
          </a:xfrm>
        </p:spPr>
        <p:txBody>
          <a:bodyPr/>
          <a:lstStyle/>
          <a:p>
            <a:r>
              <a:rPr lang="zh-CN" altLang="en-US" dirty="0" smtClean="0"/>
              <a:t>查看合约交易信息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 bwMode="auto">
          <a:xfrm>
            <a:off x="7724332" y="620688"/>
            <a:ext cx="1259632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交易哈希值</a:t>
            </a:r>
            <a:endParaRPr kumimoji="0" lang="zh-CN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7724433" y="1196405"/>
            <a:ext cx="1259632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交易状态</a:t>
            </a:r>
            <a:endParaRPr kumimoji="0" lang="zh-CN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7724332" y="1754966"/>
            <a:ext cx="1259632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区块高度</a:t>
            </a:r>
            <a:endParaRPr kumimoji="0" lang="zh-CN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7746493" y="2259195"/>
            <a:ext cx="1259632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时间戳</a:t>
            </a:r>
            <a:endParaRPr kumimoji="0" lang="zh-CN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7724332" y="2762281"/>
            <a:ext cx="1259632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交易发起方</a:t>
            </a:r>
            <a:endParaRPr kumimoji="0" lang="zh-CN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7724332" y="3265367"/>
            <a:ext cx="1259632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交易目的方</a:t>
            </a:r>
            <a:endParaRPr kumimoji="0" lang="zh-CN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1" name="矩形 10"/>
          <p:cNvSpPr/>
          <p:nvPr/>
        </p:nvSpPr>
        <p:spPr bwMode="auto">
          <a:xfrm>
            <a:off x="7596336" y="3796914"/>
            <a:ext cx="1387628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交易动作描述</a:t>
            </a:r>
            <a:endParaRPr kumimoji="0" lang="zh-CN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2" name="矩形 11"/>
          <p:cNvSpPr/>
          <p:nvPr/>
        </p:nvSpPr>
        <p:spPr bwMode="auto">
          <a:xfrm>
            <a:off x="7746493" y="4309166"/>
            <a:ext cx="1259632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交易费</a:t>
            </a:r>
            <a:endParaRPr kumimoji="0" lang="zh-CN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3" name="矩形 12"/>
          <p:cNvSpPr/>
          <p:nvPr/>
        </p:nvSpPr>
        <p:spPr bwMode="auto">
          <a:xfrm>
            <a:off x="7700988" y="4808695"/>
            <a:ext cx="1259632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GAS</a:t>
            </a:r>
            <a:r>
              <a: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价格</a:t>
            </a:r>
            <a:endParaRPr kumimoji="0" lang="zh-CN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7724332" y="5288468"/>
            <a:ext cx="1259632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GAS</a:t>
            </a:r>
            <a:r>
              <a: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上限</a:t>
            </a:r>
            <a:endParaRPr kumimoji="0" lang="zh-CN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7596336" y="5800827"/>
            <a:ext cx="1387628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dirty="0" smtClean="0">
                <a:latin typeface="Times New Roman" pitchFamily="18" charset="0"/>
              </a:rPr>
              <a:t>实际</a:t>
            </a:r>
            <a:r>
              <a:rPr lang="en-US" altLang="zh-CN" dirty="0" smtClean="0">
                <a:latin typeface="Times New Roman" pitchFamily="18" charset="0"/>
              </a:rPr>
              <a:t>GAS</a:t>
            </a:r>
            <a:r>
              <a:rPr lang="zh-CN" altLang="en-US" dirty="0" smtClean="0">
                <a:latin typeface="Times New Roman" pitchFamily="18" charset="0"/>
              </a:rPr>
              <a:t>使用</a:t>
            </a:r>
            <a:endParaRPr kumimoji="0" lang="zh-CN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6" name="矩形 15"/>
          <p:cNvSpPr/>
          <p:nvPr/>
        </p:nvSpPr>
        <p:spPr bwMode="auto">
          <a:xfrm>
            <a:off x="6432601" y="6380981"/>
            <a:ext cx="2627784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调用的合约方法及其参数</a:t>
            </a:r>
            <a:endParaRPr kumimoji="0" lang="zh-CN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cxnSp>
        <p:nvCxnSpPr>
          <p:cNvPr id="18" name="直接箭头连接符 17"/>
          <p:cNvCxnSpPr>
            <a:stCxn id="5" idx="1"/>
          </p:cNvCxnSpPr>
          <p:nvPr/>
        </p:nvCxnSpPr>
        <p:spPr bwMode="auto">
          <a:xfrm flipH="1">
            <a:off x="2591831" y="836712"/>
            <a:ext cx="5132501" cy="1612417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0" name="直接箭头连接符 19"/>
          <p:cNvCxnSpPr>
            <a:stCxn id="6" idx="1"/>
          </p:cNvCxnSpPr>
          <p:nvPr/>
        </p:nvCxnSpPr>
        <p:spPr bwMode="auto">
          <a:xfrm flipH="1">
            <a:off x="2591831" y="1412429"/>
            <a:ext cx="5132602" cy="1440507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3" name="直接箭头连接符 22"/>
          <p:cNvCxnSpPr>
            <a:stCxn id="7" idx="1"/>
          </p:cNvCxnSpPr>
          <p:nvPr/>
        </p:nvCxnSpPr>
        <p:spPr bwMode="auto">
          <a:xfrm flipH="1">
            <a:off x="3347864" y="1970990"/>
            <a:ext cx="4376468" cy="1097970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5" name="直接箭头连接符 24"/>
          <p:cNvCxnSpPr>
            <a:stCxn id="8" idx="1"/>
          </p:cNvCxnSpPr>
          <p:nvPr/>
        </p:nvCxnSpPr>
        <p:spPr bwMode="auto">
          <a:xfrm flipH="1">
            <a:off x="5004048" y="2475219"/>
            <a:ext cx="2742445" cy="881773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7" name="直接箭头连接符 26"/>
          <p:cNvCxnSpPr>
            <a:stCxn id="9" idx="1"/>
          </p:cNvCxnSpPr>
          <p:nvPr/>
        </p:nvCxnSpPr>
        <p:spPr bwMode="auto">
          <a:xfrm flipH="1">
            <a:off x="3825708" y="2978305"/>
            <a:ext cx="3898624" cy="637909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9" name="直接箭头连接符 28"/>
          <p:cNvCxnSpPr>
            <a:stCxn id="10" idx="1"/>
          </p:cNvCxnSpPr>
          <p:nvPr/>
        </p:nvCxnSpPr>
        <p:spPr bwMode="auto">
          <a:xfrm flipH="1">
            <a:off x="5004048" y="3481391"/>
            <a:ext cx="2720284" cy="359693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1" name="直接箭头连接符 30"/>
          <p:cNvCxnSpPr>
            <a:stCxn id="11" idx="1"/>
          </p:cNvCxnSpPr>
          <p:nvPr/>
        </p:nvCxnSpPr>
        <p:spPr bwMode="auto">
          <a:xfrm flipH="1">
            <a:off x="4716016" y="4012938"/>
            <a:ext cx="2880320" cy="216024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3" name="直接箭头连接符 32"/>
          <p:cNvCxnSpPr>
            <a:stCxn id="12" idx="1"/>
          </p:cNvCxnSpPr>
          <p:nvPr/>
        </p:nvCxnSpPr>
        <p:spPr bwMode="auto">
          <a:xfrm flipH="1">
            <a:off x="3275856" y="4525190"/>
            <a:ext cx="4470637" cy="145623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5" name="直接箭头连接符 34"/>
          <p:cNvCxnSpPr>
            <a:stCxn id="13" idx="1"/>
          </p:cNvCxnSpPr>
          <p:nvPr/>
        </p:nvCxnSpPr>
        <p:spPr bwMode="auto">
          <a:xfrm flipH="1" flipV="1">
            <a:off x="3825708" y="4963629"/>
            <a:ext cx="3875280" cy="61090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7" name="直接箭头连接符 36"/>
          <p:cNvCxnSpPr>
            <a:stCxn id="14" idx="1"/>
          </p:cNvCxnSpPr>
          <p:nvPr/>
        </p:nvCxnSpPr>
        <p:spPr bwMode="auto">
          <a:xfrm flipH="1" flipV="1">
            <a:off x="2591831" y="5174869"/>
            <a:ext cx="5132501" cy="329623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9" name="直接箭头连接符 38"/>
          <p:cNvCxnSpPr>
            <a:stCxn id="15" idx="1"/>
          </p:cNvCxnSpPr>
          <p:nvPr/>
        </p:nvCxnSpPr>
        <p:spPr bwMode="auto">
          <a:xfrm flipH="1" flipV="1">
            <a:off x="2699792" y="5441134"/>
            <a:ext cx="4896544" cy="575717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1" name="直接箭头连接符 40"/>
          <p:cNvCxnSpPr/>
          <p:nvPr/>
        </p:nvCxnSpPr>
        <p:spPr bwMode="auto">
          <a:xfrm flipH="1" flipV="1">
            <a:off x="4283658" y="6031859"/>
            <a:ext cx="2148943" cy="417387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3" name="矩形 42"/>
          <p:cNvSpPr/>
          <p:nvPr/>
        </p:nvSpPr>
        <p:spPr bwMode="auto">
          <a:xfrm>
            <a:off x="74576" y="6395917"/>
            <a:ext cx="4857463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交易的价值，这里是兑换，相当于存入合约。</a:t>
            </a:r>
            <a:endParaRPr kumimoji="0" lang="zh-CN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cxnSp>
        <p:nvCxnSpPr>
          <p:cNvPr id="45" name="直接箭头连接符 44"/>
          <p:cNvCxnSpPr/>
          <p:nvPr/>
        </p:nvCxnSpPr>
        <p:spPr bwMode="auto">
          <a:xfrm flipV="1">
            <a:off x="1042988" y="4309166"/>
            <a:ext cx="1080740" cy="2071815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4575503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42988" y="404813"/>
            <a:ext cx="6481340" cy="576262"/>
          </a:xfrm>
        </p:spPr>
        <p:txBody>
          <a:bodyPr/>
          <a:lstStyle/>
          <a:p>
            <a:r>
              <a:rPr lang="zh-CN" altLang="en-US" dirty="0" smtClean="0"/>
              <a:t>使用</a:t>
            </a:r>
            <a:r>
              <a:rPr lang="en-US" altLang="zh-CN" dirty="0" err="1" smtClean="0"/>
              <a:t>E</a:t>
            </a:r>
            <a:r>
              <a:rPr lang="en-US" altLang="zh-CN" dirty="0" err="1" smtClean="0"/>
              <a:t>therscan</a:t>
            </a:r>
            <a:r>
              <a:rPr lang="zh-CN" altLang="en-US" dirty="0" smtClean="0"/>
              <a:t>查看合约相关信息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504" y="1124744"/>
            <a:ext cx="8784975" cy="5328592"/>
          </a:xfrm>
        </p:spPr>
        <p:txBody>
          <a:bodyPr/>
          <a:lstStyle/>
          <a:p>
            <a:r>
              <a:rPr lang="zh-CN" altLang="en-US" dirty="0" smtClean="0"/>
              <a:t>交易失败的情形</a:t>
            </a:r>
            <a:r>
              <a:rPr lang="en-US" altLang="zh-CN" dirty="0" smtClean="0"/>
              <a:t>——GAS</a:t>
            </a:r>
            <a:r>
              <a:rPr lang="zh-CN" altLang="en-US" dirty="0" smtClean="0"/>
              <a:t>不足</a:t>
            </a:r>
            <a:endParaRPr lang="en-US" altLang="zh-CN" dirty="0" smtClean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1763909"/>
            <a:ext cx="6821388" cy="4831817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 bwMode="auto">
          <a:xfrm>
            <a:off x="3131840" y="4179817"/>
            <a:ext cx="4589140" cy="545327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smtClean="0">
              <a:ln w="38100">
                <a:solidFill>
                  <a:schemeClr val="tx1"/>
                </a:solidFill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40591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总评成绩构成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平时</a:t>
            </a:r>
            <a:r>
              <a:rPr lang="en-US" altLang="zh-CN" dirty="0" smtClean="0"/>
              <a:t>40%</a:t>
            </a:r>
          </a:p>
          <a:p>
            <a:endParaRPr lang="en-US" altLang="zh-CN" dirty="0"/>
          </a:p>
          <a:p>
            <a:r>
              <a:rPr lang="zh-CN" altLang="en-US" dirty="0" smtClean="0"/>
              <a:t>期末考试</a:t>
            </a:r>
            <a:r>
              <a:rPr lang="en-US" altLang="zh-CN" dirty="0" smtClean="0"/>
              <a:t>60%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646600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期末考试内容和题型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1268760"/>
            <a:ext cx="8359080" cy="4752181"/>
          </a:xfrm>
        </p:spPr>
        <p:txBody>
          <a:bodyPr/>
          <a:lstStyle/>
          <a:p>
            <a:r>
              <a:rPr lang="zh-CN" altLang="en-US" dirty="0" smtClean="0"/>
              <a:t>考核形式：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笔试，开卷。</a:t>
            </a:r>
            <a:endParaRPr lang="en-US" altLang="zh-CN" dirty="0" smtClean="0"/>
          </a:p>
          <a:p>
            <a:pPr lvl="1"/>
            <a:endParaRPr lang="en-US" altLang="zh-CN" dirty="0" smtClean="0"/>
          </a:p>
          <a:p>
            <a:r>
              <a:rPr lang="zh-CN" altLang="en-US" dirty="0" smtClean="0"/>
              <a:t>考核内容：</a:t>
            </a:r>
            <a:endParaRPr lang="en-US" altLang="zh-CN" dirty="0" smtClean="0"/>
          </a:p>
          <a:p>
            <a:pPr lvl="1"/>
            <a:r>
              <a:rPr lang="zh-CN" altLang="en-US" dirty="0"/>
              <a:t>区</a:t>
            </a:r>
            <a:r>
              <a:rPr lang="zh-CN" altLang="en-US" dirty="0" smtClean="0"/>
              <a:t>块链基本技术原理（</a:t>
            </a:r>
            <a:r>
              <a:rPr lang="en-US" altLang="zh-CN" dirty="0" smtClean="0"/>
              <a:t>20%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1"/>
            <a:endParaRPr lang="en-US" altLang="zh-CN" dirty="0" smtClean="0"/>
          </a:p>
          <a:p>
            <a:pPr lvl="1"/>
            <a:r>
              <a:rPr lang="zh-CN" altLang="en-US" dirty="0" smtClean="0"/>
              <a:t>以太坊、</a:t>
            </a:r>
            <a:r>
              <a:rPr lang="en-US" altLang="zh-CN" dirty="0" smtClean="0"/>
              <a:t>DAPP</a:t>
            </a:r>
            <a:r>
              <a:rPr lang="zh-CN" altLang="en-US" dirty="0" smtClean="0"/>
              <a:t>和智能合约基本技术原理（</a:t>
            </a:r>
            <a:r>
              <a:rPr lang="en-US" altLang="zh-CN" dirty="0" smtClean="0"/>
              <a:t>35%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1"/>
            <a:endParaRPr lang="en-US" altLang="zh-CN" dirty="0" smtClean="0"/>
          </a:p>
          <a:p>
            <a:pPr lvl="1"/>
            <a:r>
              <a:rPr lang="en-US" altLang="zh-CN" dirty="0" smtClean="0"/>
              <a:t>SOLIDITY</a:t>
            </a:r>
            <a:r>
              <a:rPr lang="zh-CN" altLang="en-US" dirty="0" smtClean="0"/>
              <a:t>基础知识（</a:t>
            </a:r>
            <a:r>
              <a:rPr lang="en-US" altLang="zh-CN" dirty="0" smtClean="0"/>
              <a:t>15%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1"/>
            <a:endParaRPr lang="en-US" altLang="zh-CN" dirty="0" smtClean="0"/>
          </a:p>
          <a:p>
            <a:pPr lvl="1"/>
            <a:r>
              <a:rPr lang="zh-CN" altLang="en-US" dirty="0" smtClean="0"/>
              <a:t>使用</a:t>
            </a:r>
            <a:r>
              <a:rPr lang="en-US" altLang="zh-CN" dirty="0" smtClean="0"/>
              <a:t>SOLIDITY</a:t>
            </a:r>
            <a:r>
              <a:rPr lang="zh-CN" altLang="en-US" dirty="0" smtClean="0"/>
              <a:t>进行智能合约编程（</a:t>
            </a:r>
            <a:r>
              <a:rPr lang="en-US" altLang="zh-CN" dirty="0" smtClean="0"/>
              <a:t>30%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240004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期末考试内容和题型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判断题（</a:t>
            </a:r>
            <a:r>
              <a:rPr lang="en-US" altLang="zh-CN" dirty="0"/>
              <a:t>2</a:t>
            </a:r>
            <a:r>
              <a:rPr lang="zh-CN" altLang="en-US" dirty="0" smtClean="0"/>
              <a:t>分*</a:t>
            </a:r>
            <a:r>
              <a:rPr lang="en-US" altLang="zh-CN" dirty="0" smtClean="0"/>
              <a:t>10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r>
              <a:rPr lang="zh-CN" altLang="en-US" dirty="0"/>
              <a:t>单</a:t>
            </a:r>
            <a:r>
              <a:rPr lang="zh-CN" altLang="en-US" dirty="0" smtClean="0"/>
              <a:t>选题（</a:t>
            </a:r>
            <a:r>
              <a:rPr lang="en-US" altLang="zh-CN" dirty="0" smtClean="0"/>
              <a:t>2</a:t>
            </a:r>
            <a:r>
              <a:rPr lang="zh-CN" altLang="en-US" dirty="0" smtClean="0"/>
              <a:t>分*</a:t>
            </a:r>
            <a:r>
              <a:rPr lang="en-US" altLang="zh-CN" dirty="0" smtClean="0"/>
              <a:t>15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r>
              <a:rPr lang="zh-CN" altLang="en-US" dirty="0" smtClean="0"/>
              <a:t>简答题（</a:t>
            </a:r>
            <a:r>
              <a:rPr lang="en-US" altLang="zh-CN" dirty="0" smtClean="0"/>
              <a:t>10</a:t>
            </a:r>
            <a:r>
              <a:rPr lang="zh-CN" altLang="en-US" dirty="0" smtClean="0"/>
              <a:t>分*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r>
              <a:rPr lang="zh-CN" altLang="en-US" dirty="0" smtClean="0"/>
              <a:t>阅读程序题（</a:t>
            </a:r>
            <a:r>
              <a:rPr lang="en-US" altLang="zh-CN" dirty="0" smtClean="0"/>
              <a:t>10</a:t>
            </a:r>
            <a:r>
              <a:rPr lang="zh-CN" altLang="en-US" dirty="0" smtClean="0"/>
              <a:t>分*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r>
              <a:rPr lang="zh-CN" altLang="en-US" dirty="0" smtClean="0"/>
              <a:t>改写程序题（</a:t>
            </a:r>
            <a:r>
              <a:rPr lang="en-US" altLang="zh-CN" dirty="0" smtClean="0"/>
              <a:t>10</a:t>
            </a:r>
            <a:r>
              <a:rPr lang="zh-CN" altLang="en-US" dirty="0" smtClean="0"/>
              <a:t>分*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r>
              <a:rPr lang="zh-CN" altLang="en-US" dirty="0" smtClean="0"/>
              <a:t>编程题（</a:t>
            </a:r>
            <a:r>
              <a:rPr lang="en-US" altLang="zh-CN" dirty="0" smtClean="0"/>
              <a:t>10</a:t>
            </a:r>
            <a:r>
              <a:rPr lang="zh-CN" altLang="en-US" dirty="0" smtClean="0"/>
              <a:t>分*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485711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期末考试内容和题型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单选题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比特</a:t>
            </a:r>
            <a:r>
              <a:rPr lang="zh-CN" altLang="en-US" dirty="0"/>
              <a:t>币区块链系统中，区块的内容中除了包含交易双方的地址外，还包含账户余额。（  </a:t>
            </a:r>
            <a:r>
              <a:rPr lang="zh-CN" altLang="en-US" dirty="0" smtClean="0"/>
              <a:t>  </a:t>
            </a:r>
            <a:r>
              <a:rPr lang="zh-CN" altLang="en-US" dirty="0"/>
              <a:t>）</a:t>
            </a:r>
          </a:p>
          <a:p>
            <a:pPr lvl="1"/>
            <a:endParaRPr lang="en-US" altLang="zh-CN" dirty="0" smtClean="0"/>
          </a:p>
          <a:p>
            <a:pPr lvl="1"/>
            <a:r>
              <a:rPr lang="zh-CN" altLang="en-US" dirty="0" smtClean="0"/>
              <a:t>哈</a:t>
            </a:r>
            <a:r>
              <a:rPr lang="zh-CN" altLang="en-US" dirty="0"/>
              <a:t>希函数的特点是不同的输入会导致不同输出，并且正向计算容易，而逆向计算困难。（  </a:t>
            </a:r>
            <a:r>
              <a:rPr lang="zh-CN" altLang="en-US" dirty="0" smtClean="0"/>
              <a:t> ）</a:t>
            </a:r>
            <a:endParaRPr lang="en-US" altLang="zh-CN" dirty="0" smtClean="0"/>
          </a:p>
          <a:p>
            <a:pPr lvl="1"/>
            <a:endParaRPr lang="en-US" altLang="zh-CN" dirty="0" smtClean="0"/>
          </a:p>
          <a:p>
            <a:pPr lvl="1"/>
            <a:r>
              <a:rPr lang="zh-CN" altLang="en-US" dirty="0" smtClean="0"/>
              <a:t>如果</a:t>
            </a:r>
            <a:r>
              <a:rPr lang="zh-CN" altLang="en-US" dirty="0"/>
              <a:t>发现智能合约代码有错误，可以上传正确的代码覆盖错误的代码。（  </a:t>
            </a:r>
            <a:r>
              <a:rPr lang="zh-CN" altLang="en-US" dirty="0" smtClean="0"/>
              <a:t>  </a:t>
            </a:r>
            <a:r>
              <a:rPr lang="zh-CN" altLang="en-US" dirty="0"/>
              <a:t>）</a:t>
            </a:r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991979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期末考试内容和题型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单选题</a:t>
            </a:r>
            <a:endParaRPr lang="en-US" altLang="zh-CN" dirty="0" smtClean="0"/>
          </a:p>
          <a:p>
            <a:pPr lvl="1"/>
            <a:endParaRPr lang="en-US" altLang="zh-CN" dirty="0" smtClean="0"/>
          </a:p>
          <a:p>
            <a:pPr lvl="1"/>
            <a:r>
              <a:rPr lang="zh-CN" altLang="en-US" dirty="0" smtClean="0"/>
              <a:t>区块</a:t>
            </a:r>
            <a:r>
              <a:rPr lang="zh-CN" altLang="en-US" dirty="0"/>
              <a:t>中将所有的交易数据组织成（  </a:t>
            </a:r>
            <a:r>
              <a:rPr lang="en-US" altLang="zh-CN" dirty="0"/>
              <a:t> </a:t>
            </a:r>
            <a:r>
              <a:rPr lang="en-US" altLang="zh-CN" dirty="0" smtClean="0"/>
              <a:t>    </a:t>
            </a:r>
            <a:r>
              <a:rPr lang="zh-CN" altLang="en-US" dirty="0"/>
              <a:t>）。</a:t>
            </a:r>
          </a:p>
          <a:p>
            <a:pPr lvl="1"/>
            <a:r>
              <a:rPr lang="en-US" altLang="zh-CN" dirty="0"/>
              <a:t>A. </a:t>
            </a:r>
            <a:r>
              <a:rPr lang="zh-CN" altLang="en-US" dirty="0"/>
              <a:t>数组         </a:t>
            </a:r>
            <a:r>
              <a:rPr lang="en-US" altLang="zh-CN" dirty="0"/>
              <a:t>B. </a:t>
            </a:r>
            <a:r>
              <a:rPr lang="zh-CN" altLang="en-US" dirty="0"/>
              <a:t>链表        </a:t>
            </a:r>
            <a:r>
              <a:rPr lang="en-US" altLang="zh-CN" dirty="0"/>
              <a:t>C. </a:t>
            </a:r>
            <a:r>
              <a:rPr lang="en-US" altLang="zh-CN" dirty="0" err="1"/>
              <a:t>Merkle</a:t>
            </a:r>
            <a:r>
              <a:rPr lang="zh-CN" altLang="en-US" dirty="0"/>
              <a:t>树           </a:t>
            </a:r>
            <a:r>
              <a:rPr lang="en-US" altLang="zh-CN" dirty="0"/>
              <a:t>D. </a:t>
            </a:r>
            <a:r>
              <a:rPr lang="zh-CN" altLang="en-US" dirty="0"/>
              <a:t>图</a:t>
            </a:r>
          </a:p>
          <a:p>
            <a:pPr lvl="1"/>
            <a:endParaRPr lang="zh-CN" altLang="en-US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 smtClean="0"/>
              <a:t>在</a:t>
            </a:r>
            <a:r>
              <a:rPr lang="zh-CN" altLang="en-US" dirty="0"/>
              <a:t>区块链系统中，完整的账本保存在（  </a:t>
            </a:r>
            <a:r>
              <a:rPr lang="en-US" altLang="zh-CN" dirty="0" smtClean="0"/>
              <a:t>    </a:t>
            </a:r>
            <a:r>
              <a:rPr lang="zh-CN" altLang="en-US" dirty="0"/>
              <a:t>）。</a:t>
            </a:r>
          </a:p>
          <a:p>
            <a:pPr lvl="1"/>
            <a:r>
              <a:rPr lang="en-US" altLang="zh-CN" dirty="0"/>
              <a:t>A. </a:t>
            </a:r>
            <a:r>
              <a:rPr lang="zh-CN" altLang="en-US" dirty="0"/>
              <a:t>所有全节点上                           </a:t>
            </a:r>
            <a:r>
              <a:rPr lang="en-US" altLang="zh-CN" dirty="0"/>
              <a:t>B. </a:t>
            </a:r>
            <a:r>
              <a:rPr lang="zh-CN" altLang="en-US" dirty="0"/>
              <a:t>所有轻节点上    </a:t>
            </a:r>
          </a:p>
          <a:p>
            <a:pPr lvl="1"/>
            <a:r>
              <a:rPr lang="en-US" altLang="zh-CN" dirty="0"/>
              <a:t>C. </a:t>
            </a:r>
            <a:r>
              <a:rPr lang="zh-CN" altLang="en-US" dirty="0"/>
              <a:t>后台数据库服务器上                     </a:t>
            </a:r>
            <a:r>
              <a:rPr lang="en-US" altLang="zh-CN" dirty="0"/>
              <a:t>D. </a:t>
            </a:r>
            <a:r>
              <a:rPr lang="zh-CN" altLang="en-US" dirty="0"/>
              <a:t>云端</a:t>
            </a:r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539954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期末考试内容和题型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340768"/>
            <a:ext cx="8142287" cy="4392612"/>
          </a:xfrm>
        </p:spPr>
        <p:txBody>
          <a:bodyPr/>
          <a:lstStyle/>
          <a:p>
            <a:r>
              <a:rPr lang="zh-CN" altLang="en-US" sz="2400" dirty="0"/>
              <a:t>单</a:t>
            </a:r>
            <a:r>
              <a:rPr lang="zh-CN" altLang="en-US" sz="2400" dirty="0" smtClean="0"/>
              <a:t>选题</a:t>
            </a:r>
            <a:endParaRPr lang="en-US" altLang="zh-CN" sz="2400" dirty="0" smtClean="0"/>
          </a:p>
          <a:p>
            <a:pPr lvl="1"/>
            <a:r>
              <a:rPr lang="en-US" altLang="zh-CN" sz="2000" dirty="0"/>
              <a:t>EVM</a:t>
            </a:r>
            <a:r>
              <a:rPr lang="zh-CN" altLang="en-US" sz="2000" dirty="0"/>
              <a:t>是（  </a:t>
            </a:r>
            <a:r>
              <a:rPr lang="en-US" altLang="zh-CN" sz="2000" dirty="0" smtClean="0"/>
              <a:t>     </a:t>
            </a:r>
            <a:r>
              <a:rPr lang="zh-CN" altLang="en-US" sz="2000" dirty="0"/>
              <a:t>）上用于执行智能合约的虚拟环境。</a:t>
            </a:r>
          </a:p>
          <a:p>
            <a:pPr lvl="1"/>
            <a:r>
              <a:rPr lang="en-US" altLang="zh-CN" sz="2000" dirty="0"/>
              <a:t>A. </a:t>
            </a:r>
            <a:r>
              <a:rPr lang="zh-CN" altLang="en-US" sz="2000" dirty="0"/>
              <a:t>比特币       </a:t>
            </a:r>
            <a:r>
              <a:rPr lang="en-US" altLang="zh-CN" sz="2000" dirty="0"/>
              <a:t>B. </a:t>
            </a:r>
            <a:r>
              <a:rPr lang="zh-CN" altLang="en-US" sz="2000" dirty="0"/>
              <a:t>超级账本        </a:t>
            </a:r>
            <a:r>
              <a:rPr lang="en-US" altLang="zh-CN" sz="2000" dirty="0"/>
              <a:t>C. </a:t>
            </a:r>
            <a:r>
              <a:rPr lang="zh-CN" altLang="en-US" sz="2000" dirty="0"/>
              <a:t>以太坊        </a:t>
            </a:r>
            <a:r>
              <a:rPr lang="en-US" altLang="zh-CN" sz="2000" dirty="0"/>
              <a:t>D. EOS</a:t>
            </a:r>
          </a:p>
          <a:p>
            <a:pPr lvl="1"/>
            <a:endParaRPr lang="en-US" altLang="zh-CN" sz="2000" dirty="0"/>
          </a:p>
          <a:p>
            <a:pPr lvl="1"/>
            <a:r>
              <a:rPr lang="zh-CN" altLang="en-US" sz="2000" dirty="0" smtClean="0"/>
              <a:t>以下</a:t>
            </a:r>
            <a:r>
              <a:rPr lang="zh-CN" altLang="en-US" sz="2000" dirty="0"/>
              <a:t>说法中错误的是（  </a:t>
            </a:r>
            <a:r>
              <a:rPr lang="en-US" altLang="zh-CN" sz="2000" dirty="0" smtClean="0"/>
              <a:t>      </a:t>
            </a:r>
            <a:r>
              <a:rPr lang="zh-CN" altLang="en-US" sz="2000" dirty="0"/>
              <a:t>）。</a:t>
            </a:r>
          </a:p>
          <a:p>
            <a:pPr lvl="1"/>
            <a:r>
              <a:rPr lang="en-US" altLang="zh-CN" sz="2000" dirty="0"/>
              <a:t>A. </a:t>
            </a:r>
            <a:r>
              <a:rPr lang="zh-CN" altLang="en-US" sz="2000" dirty="0"/>
              <a:t>以太坊上智能合约的执行需要外部账户和合约账户的互相配合完成。</a:t>
            </a:r>
          </a:p>
          <a:p>
            <a:pPr lvl="1"/>
            <a:r>
              <a:rPr lang="en-US" altLang="zh-CN" sz="2000" dirty="0"/>
              <a:t>B. </a:t>
            </a:r>
            <a:r>
              <a:rPr lang="zh-CN" altLang="en-US" sz="2000" dirty="0"/>
              <a:t>以太坊上智能合约的部署是通过交易实现的     </a:t>
            </a:r>
          </a:p>
          <a:p>
            <a:pPr lvl="1"/>
            <a:r>
              <a:rPr lang="en-US" altLang="zh-CN" sz="2000" dirty="0"/>
              <a:t>C. </a:t>
            </a:r>
            <a:r>
              <a:rPr lang="zh-CN" altLang="en-US" sz="2000" dirty="0"/>
              <a:t>智能合约的代码和交易数据都是保存在以太坊区块链的区块中的。</a:t>
            </a:r>
          </a:p>
          <a:p>
            <a:pPr lvl="1"/>
            <a:r>
              <a:rPr lang="en-US" altLang="zh-CN" sz="2000" dirty="0"/>
              <a:t>D. </a:t>
            </a:r>
            <a:r>
              <a:rPr lang="zh-CN" altLang="en-US" sz="2000" dirty="0"/>
              <a:t>可以使用区块链智能合约完成任何中心化系统可以完成的任务，并且能够完成的比中心化系统完成的更好。</a:t>
            </a:r>
          </a:p>
          <a:p>
            <a:pPr lvl="1"/>
            <a:endParaRPr lang="en-US" altLang="zh-CN" sz="2000" dirty="0"/>
          </a:p>
          <a:p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8565853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期末考试内容和题型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9" y="1196752"/>
            <a:ext cx="8287072" cy="4680173"/>
          </a:xfrm>
        </p:spPr>
        <p:txBody>
          <a:bodyPr/>
          <a:lstStyle/>
          <a:p>
            <a:r>
              <a:rPr lang="zh-CN" altLang="en-US" dirty="0" smtClean="0"/>
              <a:t>简答题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请结合下面这张图，解释</a:t>
            </a:r>
            <a:r>
              <a:rPr lang="en-US" altLang="zh-CN" dirty="0" smtClean="0"/>
              <a:t>DAPP</a:t>
            </a:r>
            <a:r>
              <a:rPr lang="zh-CN" altLang="en-US" dirty="0" smtClean="0"/>
              <a:t>的工作原理。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4" y="2420888"/>
            <a:ext cx="5345114" cy="3851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3725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期末考试内容和题型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简答题</a:t>
            </a:r>
            <a:endParaRPr lang="en-US" altLang="zh-CN" dirty="0" smtClean="0"/>
          </a:p>
          <a:p>
            <a:pPr lvl="1"/>
            <a:r>
              <a:rPr lang="zh-CN" altLang="en-US" dirty="0"/>
              <a:t>请简述智能合约的基本概念，并给出一个以智能合约为基础构建</a:t>
            </a:r>
            <a:r>
              <a:rPr lang="en-US" altLang="zh-CN" dirty="0"/>
              <a:t>DAPP</a:t>
            </a:r>
            <a:r>
              <a:rPr lang="zh-CN" altLang="en-US" dirty="0"/>
              <a:t>解决问题的实例（可以是目前已有的，也可以是自己构造的实例）。</a:t>
            </a:r>
          </a:p>
        </p:txBody>
      </p:sp>
    </p:spTree>
    <p:extLst>
      <p:ext uri="{BB962C8B-B14F-4D97-AF65-F5344CB8AC3E}">
        <p14:creationId xmlns:p14="http://schemas.microsoft.com/office/powerpoint/2010/main" val="11132691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期末考试内容和题型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阅读程序题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请解释以下合约的作用，并给出每个属性和函数的作用解释，可以以在代码旁注释的方式。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321990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期末考试内容和题型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1196752"/>
            <a:ext cx="8712968" cy="5112568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1200" dirty="0"/>
              <a:t>pragma solidity ^0.4.22;</a:t>
            </a:r>
          </a:p>
          <a:p>
            <a:pPr marL="0" indent="0">
              <a:buNone/>
            </a:pPr>
            <a:endParaRPr lang="en-US" altLang="zh-CN" sz="1200" dirty="0"/>
          </a:p>
          <a:p>
            <a:pPr marL="0" indent="0">
              <a:buNone/>
            </a:pPr>
            <a:r>
              <a:rPr lang="en-US" altLang="zh-CN" sz="1200" dirty="0"/>
              <a:t>contract Purchase {</a:t>
            </a:r>
          </a:p>
          <a:p>
            <a:pPr marL="0" indent="0">
              <a:buNone/>
            </a:pPr>
            <a:r>
              <a:rPr lang="en-US" altLang="zh-CN" sz="1200" dirty="0"/>
              <a:t>    </a:t>
            </a:r>
            <a:r>
              <a:rPr lang="en-US" altLang="zh-CN" sz="1200" dirty="0" err="1"/>
              <a:t>uint</a:t>
            </a:r>
            <a:r>
              <a:rPr lang="en-US" altLang="zh-CN" sz="1200" dirty="0"/>
              <a:t> public value;</a:t>
            </a:r>
          </a:p>
          <a:p>
            <a:pPr marL="0" indent="0">
              <a:buNone/>
            </a:pPr>
            <a:r>
              <a:rPr lang="en-US" altLang="zh-CN" sz="1200" dirty="0"/>
              <a:t>    address public seller; </a:t>
            </a:r>
          </a:p>
          <a:p>
            <a:pPr marL="0" indent="0">
              <a:buNone/>
            </a:pPr>
            <a:r>
              <a:rPr lang="en-US" altLang="zh-CN" sz="1200" dirty="0"/>
              <a:t>    address public buyer;  </a:t>
            </a:r>
          </a:p>
          <a:p>
            <a:pPr marL="0" indent="0">
              <a:buNone/>
            </a:pPr>
            <a:r>
              <a:rPr lang="en-US" altLang="zh-CN" sz="1200" dirty="0"/>
              <a:t>    </a:t>
            </a:r>
            <a:r>
              <a:rPr lang="en-US" altLang="zh-CN" sz="1200" dirty="0" err="1"/>
              <a:t>enum</a:t>
            </a:r>
            <a:r>
              <a:rPr lang="en-US" altLang="zh-CN" sz="1200" dirty="0"/>
              <a:t> State { Created, Locked, Inactive }</a:t>
            </a:r>
          </a:p>
          <a:p>
            <a:pPr marL="0" indent="0">
              <a:buNone/>
            </a:pPr>
            <a:r>
              <a:rPr lang="en-US" altLang="zh-CN" sz="1200" dirty="0"/>
              <a:t>    State public state;  </a:t>
            </a:r>
          </a:p>
          <a:p>
            <a:pPr marL="0" indent="0">
              <a:buNone/>
            </a:pPr>
            <a:endParaRPr lang="en-US" altLang="zh-CN" sz="1200" dirty="0"/>
          </a:p>
          <a:p>
            <a:pPr marL="0" indent="0">
              <a:buNone/>
            </a:pPr>
            <a:r>
              <a:rPr lang="en-US" altLang="zh-CN" sz="1200" dirty="0"/>
              <a:t>    function Purchase() public payable {</a:t>
            </a:r>
          </a:p>
          <a:p>
            <a:pPr marL="0" indent="0">
              <a:buNone/>
            </a:pPr>
            <a:r>
              <a:rPr lang="en-US" altLang="zh-CN" sz="1200" dirty="0"/>
              <a:t>        seller = </a:t>
            </a:r>
            <a:r>
              <a:rPr lang="en-US" altLang="zh-CN" sz="1200" dirty="0" err="1"/>
              <a:t>msg.sender</a:t>
            </a:r>
            <a:r>
              <a:rPr lang="en-US" altLang="zh-CN" sz="1200" dirty="0"/>
              <a:t>;</a:t>
            </a:r>
          </a:p>
          <a:p>
            <a:pPr marL="0" indent="0">
              <a:buNone/>
            </a:pPr>
            <a:r>
              <a:rPr lang="en-US" altLang="zh-CN" sz="1200" dirty="0"/>
              <a:t>        value = </a:t>
            </a:r>
            <a:r>
              <a:rPr lang="en-US" altLang="zh-CN" sz="1200" dirty="0" err="1"/>
              <a:t>msg.value</a:t>
            </a:r>
            <a:r>
              <a:rPr lang="en-US" altLang="zh-CN" sz="1200" dirty="0"/>
              <a:t> / 2;</a:t>
            </a:r>
          </a:p>
          <a:p>
            <a:pPr marL="0" indent="0">
              <a:buNone/>
            </a:pPr>
            <a:r>
              <a:rPr lang="en-US" altLang="zh-CN" sz="1200" dirty="0"/>
              <a:t>        require((2 * value) == </a:t>
            </a:r>
            <a:r>
              <a:rPr lang="en-US" altLang="zh-CN" sz="1200" dirty="0" err="1"/>
              <a:t>msg.value</a:t>
            </a:r>
            <a:r>
              <a:rPr lang="en-US" altLang="zh-CN" sz="1200" dirty="0"/>
              <a:t>, "Value has to be even.");</a:t>
            </a:r>
          </a:p>
          <a:p>
            <a:pPr marL="0" indent="0">
              <a:buNone/>
            </a:pPr>
            <a:r>
              <a:rPr lang="en-US" altLang="zh-CN" sz="1200" dirty="0"/>
              <a:t>    }</a:t>
            </a:r>
          </a:p>
          <a:p>
            <a:pPr marL="0" indent="0">
              <a:buNone/>
            </a:pPr>
            <a:r>
              <a:rPr lang="en-US" altLang="zh-CN" sz="1200" dirty="0" smtClean="0"/>
              <a:t>    </a:t>
            </a:r>
            <a:r>
              <a:rPr lang="en-US" altLang="zh-CN" sz="1200" dirty="0"/>
              <a:t>modifier condition(bool _condition) {</a:t>
            </a:r>
          </a:p>
          <a:p>
            <a:pPr marL="0" indent="0">
              <a:buNone/>
            </a:pPr>
            <a:r>
              <a:rPr lang="en-US" altLang="zh-CN" sz="1200" dirty="0"/>
              <a:t>        require(_condition);</a:t>
            </a:r>
          </a:p>
          <a:p>
            <a:pPr marL="0" indent="0">
              <a:buNone/>
            </a:pPr>
            <a:r>
              <a:rPr lang="en-US" altLang="zh-CN" sz="1200" dirty="0"/>
              <a:t>        _;</a:t>
            </a:r>
          </a:p>
          <a:p>
            <a:pPr marL="0" indent="0">
              <a:buNone/>
            </a:pPr>
            <a:r>
              <a:rPr lang="en-US" altLang="zh-CN" sz="1200" dirty="0"/>
              <a:t>    </a:t>
            </a:r>
            <a:r>
              <a:rPr lang="en-US" altLang="zh-CN" sz="1200" dirty="0" smtClean="0"/>
              <a:t>}</a:t>
            </a:r>
          </a:p>
          <a:p>
            <a:pPr marL="0" indent="0">
              <a:buNone/>
            </a:pPr>
            <a:r>
              <a:rPr lang="en-US" altLang="zh-CN" sz="1200" dirty="0"/>
              <a:t> </a:t>
            </a:r>
            <a:r>
              <a:rPr lang="en-US" altLang="zh-CN" sz="1200" dirty="0" smtClean="0"/>
              <a:t>   modifier </a:t>
            </a:r>
            <a:r>
              <a:rPr lang="en-US" altLang="zh-CN" sz="1200" dirty="0" err="1"/>
              <a:t>onlyBuyer</a:t>
            </a:r>
            <a:r>
              <a:rPr lang="en-US" altLang="zh-CN" sz="1200" dirty="0"/>
              <a:t>() {</a:t>
            </a:r>
          </a:p>
          <a:p>
            <a:pPr marL="0" indent="0">
              <a:buNone/>
            </a:pPr>
            <a:r>
              <a:rPr lang="en-US" altLang="zh-CN" sz="1200" dirty="0"/>
              <a:t>        require(</a:t>
            </a:r>
          </a:p>
          <a:p>
            <a:pPr marL="0" indent="0">
              <a:buNone/>
            </a:pPr>
            <a:r>
              <a:rPr lang="en-US" altLang="zh-CN" sz="1200" dirty="0"/>
              <a:t>            </a:t>
            </a:r>
            <a:r>
              <a:rPr lang="en-US" altLang="zh-CN" sz="1200" dirty="0" err="1"/>
              <a:t>msg.sender</a:t>
            </a:r>
            <a:r>
              <a:rPr lang="en-US" altLang="zh-CN" sz="1200" dirty="0"/>
              <a:t> == buyer,</a:t>
            </a:r>
          </a:p>
          <a:p>
            <a:pPr marL="0" indent="0">
              <a:buNone/>
            </a:pPr>
            <a:r>
              <a:rPr lang="en-US" altLang="zh-CN" sz="1200" dirty="0"/>
              <a:t>            "Only buyer can call this."</a:t>
            </a:r>
          </a:p>
          <a:p>
            <a:pPr marL="0" indent="0">
              <a:buNone/>
            </a:pPr>
            <a:r>
              <a:rPr lang="en-US" altLang="zh-CN" sz="1200" dirty="0"/>
              <a:t>        );</a:t>
            </a:r>
          </a:p>
          <a:p>
            <a:pPr marL="0" indent="0">
              <a:buNone/>
            </a:pPr>
            <a:r>
              <a:rPr lang="en-US" altLang="zh-CN" sz="1200" dirty="0"/>
              <a:t>        _;</a:t>
            </a:r>
          </a:p>
          <a:p>
            <a:pPr marL="0" indent="0">
              <a:buNone/>
            </a:pPr>
            <a:r>
              <a:rPr lang="en-US" altLang="zh-CN" sz="1200" dirty="0"/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37283726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15616" y="260648"/>
            <a:ext cx="5616575" cy="576262"/>
          </a:xfrm>
        </p:spPr>
        <p:txBody>
          <a:bodyPr/>
          <a:lstStyle/>
          <a:p>
            <a:r>
              <a:rPr lang="zh-CN" altLang="en-US" dirty="0"/>
              <a:t>期末考试内容和题型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997276"/>
            <a:ext cx="8712968" cy="5744091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1200" dirty="0"/>
              <a:t> modifier </a:t>
            </a:r>
            <a:r>
              <a:rPr lang="en-US" altLang="zh-CN" sz="1200" dirty="0" err="1"/>
              <a:t>onlySeller</a:t>
            </a:r>
            <a:r>
              <a:rPr lang="en-US" altLang="zh-CN" sz="1200" dirty="0"/>
              <a:t>() {</a:t>
            </a:r>
          </a:p>
          <a:p>
            <a:pPr marL="0" indent="0">
              <a:buNone/>
            </a:pPr>
            <a:r>
              <a:rPr lang="en-US" altLang="zh-CN" sz="1200" dirty="0"/>
              <a:t>        require(</a:t>
            </a:r>
          </a:p>
          <a:p>
            <a:pPr marL="0" indent="0">
              <a:buNone/>
            </a:pPr>
            <a:r>
              <a:rPr lang="en-US" altLang="zh-CN" sz="1200" dirty="0"/>
              <a:t>            </a:t>
            </a:r>
            <a:r>
              <a:rPr lang="en-US" altLang="zh-CN" sz="1200" dirty="0" err="1"/>
              <a:t>msg.sender</a:t>
            </a:r>
            <a:r>
              <a:rPr lang="en-US" altLang="zh-CN" sz="1200" dirty="0"/>
              <a:t> == seller,</a:t>
            </a:r>
          </a:p>
          <a:p>
            <a:pPr marL="0" indent="0">
              <a:buNone/>
            </a:pPr>
            <a:r>
              <a:rPr lang="en-US" altLang="zh-CN" sz="1200" dirty="0"/>
              <a:t>            "Only seller can call this."</a:t>
            </a:r>
          </a:p>
          <a:p>
            <a:pPr marL="0" indent="0">
              <a:buNone/>
            </a:pPr>
            <a:r>
              <a:rPr lang="en-US" altLang="zh-CN" sz="1200" dirty="0"/>
              <a:t>        );</a:t>
            </a:r>
          </a:p>
          <a:p>
            <a:pPr marL="0" indent="0">
              <a:buNone/>
            </a:pPr>
            <a:r>
              <a:rPr lang="en-US" altLang="zh-CN" sz="1200" dirty="0"/>
              <a:t>        _;</a:t>
            </a:r>
          </a:p>
          <a:p>
            <a:pPr marL="0" indent="0">
              <a:buNone/>
            </a:pPr>
            <a:r>
              <a:rPr lang="en-US" altLang="zh-CN" sz="1200" dirty="0"/>
              <a:t>    }</a:t>
            </a:r>
          </a:p>
          <a:p>
            <a:pPr marL="0" indent="0">
              <a:buNone/>
            </a:pPr>
            <a:endParaRPr lang="en-US" altLang="zh-CN" sz="1200" dirty="0"/>
          </a:p>
          <a:p>
            <a:pPr marL="0" indent="0">
              <a:buNone/>
            </a:pPr>
            <a:r>
              <a:rPr lang="en-US" altLang="zh-CN" sz="1200" dirty="0"/>
              <a:t>    modifier </a:t>
            </a:r>
            <a:r>
              <a:rPr lang="en-US" altLang="zh-CN" sz="1200" dirty="0" err="1"/>
              <a:t>inState</a:t>
            </a:r>
            <a:r>
              <a:rPr lang="en-US" altLang="zh-CN" sz="1200" dirty="0"/>
              <a:t>(State _state) {</a:t>
            </a:r>
          </a:p>
          <a:p>
            <a:pPr marL="0" indent="0">
              <a:buNone/>
            </a:pPr>
            <a:r>
              <a:rPr lang="en-US" altLang="zh-CN" sz="1200" dirty="0"/>
              <a:t>        require(</a:t>
            </a:r>
          </a:p>
          <a:p>
            <a:pPr marL="0" indent="0">
              <a:buNone/>
            </a:pPr>
            <a:r>
              <a:rPr lang="en-US" altLang="zh-CN" sz="1200" dirty="0"/>
              <a:t>            state == _state,</a:t>
            </a:r>
          </a:p>
          <a:p>
            <a:pPr marL="0" indent="0">
              <a:buNone/>
            </a:pPr>
            <a:r>
              <a:rPr lang="en-US" altLang="zh-CN" sz="1200" dirty="0"/>
              <a:t>            "Invalid state."</a:t>
            </a:r>
          </a:p>
          <a:p>
            <a:pPr marL="0" indent="0">
              <a:buNone/>
            </a:pPr>
            <a:r>
              <a:rPr lang="en-US" altLang="zh-CN" sz="1200" dirty="0"/>
              <a:t>        );</a:t>
            </a:r>
          </a:p>
          <a:p>
            <a:pPr marL="0" indent="0">
              <a:buNone/>
            </a:pPr>
            <a:r>
              <a:rPr lang="en-US" altLang="zh-CN" sz="1200" dirty="0"/>
              <a:t>        _;</a:t>
            </a:r>
          </a:p>
          <a:p>
            <a:pPr marL="0" indent="0">
              <a:buNone/>
            </a:pPr>
            <a:r>
              <a:rPr lang="en-US" altLang="zh-CN" sz="1200" dirty="0"/>
              <a:t>    }</a:t>
            </a:r>
          </a:p>
          <a:p>
            <a:pPr marL="0" indent="0">
              <a:buNone/>
            </a:pPr>
            <a:endParaRPr lang="en-US" altLang="zh-CN" sz="1200" dirty="0"/>
          </a:p>
          <a:p>
            <a:pPr marL="0" indent="0">
              <a:buNone/>
            </a:pPr>
            <a:r>
              <a:rPr lang="en-US" altLang="zh-CN" sz="1200" dirty="0"/>
              <a:t>    event Aborted();  </a:t>
            </a:r>
          </a:p>
          <a:p>
            <a:pPr marL="0" indent="0">
              <a:buNone/>
            </a:pPr>
            <a:r>
              <a:rPr lang="en-US" altLang="zh-CN" sz="1200" dirty="0"/>
              <a:t>    event </a:t>
            </a:r>
            <a:r>
              <a:rPr lang="en-US" altLang="zh-CN" sz="1200" dirty="0" err="1"/>
              <a:t>PurchaseConfirmed</a:t>
            </a:r>
            <a:r>
              <a:rPr lang="en-US" altLang="zh-CN" sz="1200" dirty="0"/>
              <a:t>(); </a:t>
            </a:r>
          </a:p>
          <a:p>
            <a:pPr marL="0" indent="0">
              <a:buNone/>
            </a:pPr>
            <a:r>
              <a:rPr lang="en-US" altLang="zh-CN" sz="1200" dirty="0"/>
              <a:t>    event </a:t>
            </a:r>
            <a:r>
              <a:rPr lang="en-US" altLang="zh-CN" sz="1200" dirty="0" err="1"/>
              <a:t>ItemReceived</a:t>
            </a:r>
            <a:r>
              <a:rPr lang="en-US" altLang="zh-CN" sz="1200" dirty="0"/>
              <a:t>();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5716319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期末考试内容和题型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1124744"/>
            <a:ext cx="8784976" cy="5472608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1200" dirty="0"/>
              <a:t> function abort() public </a:t>
            </a:r>
            <a:r>
              <a:rPr lang="en-US" altLang="zh-CN" sz="1200" dirty="0" err="1"/>
              <a:t>onlySeller</a:t>
            </a:r>
            <a:r>
              <a:rPr lang="en-US" altLang="zh-CN" sz="1200" dirty="0"/>
              <a:t> </a:t>
            </a:r>
            <a:r>
              <a:rPr lang="en-US" altLang="zh-CN" sz="1200" dirty="0" err="1"/>
              <a:t>inState</a:t>
            </a:r>
            <a:r>
              <a:rPr lang="en-US" altLang="zh-CN" sz="1200" dirty="0"/>
              <a:t>(</a:t>
            </a:r>
            <a:r>
              <a:rPr lang="en-US" altLang="zh-CN" sz="1200" dirty="0" err="1"/>
              <a:t>State.Created</a:t>
            </a:r>
            <a:r>
              <a:rPr lang="en-US" altLang="zh-CN" sz="1200" dirty="0"/>
              <a:t>)</a:t>
            </a:r>
          </a:p>
          <a:p>
            <a:pPr marL="0" indent="0">
              <a:buNone/>
            </a:pPr>
            <a:r>
              <a:rPr lang="en-US" altLang="zh-CN" sz="1200" dirty="0"/>
              <a:t>    {</a:t>
            </a:r>
          </a:p>
          <a:p>
            <a:pPr marL="0" indent="0">
              <a:buNone/>
            </a:pPr>
            <a:r>
              <a:rPr lang="en-US" altLang="zh-CN" sz="1200" dirty="0"/>
              <a:t>        emit Aborted();</a:t>
            </a:r>
          </a:p>
          <a:p>
            <a:pPr marL="0" indent="0">
              <a:buNone/>
            </a:pPr>
            <a:r>
              <a:rPr lang="en-US" altLang="zh-CN" sz="1200" dirty="0"/>
              <a:t>        state = </a:t>
            </a:r>
            <a:r>
              <a:rPr lang="en-US" altLang="zh-CN" sz="1200" dirty="0" err="1"/>
              <a:t>State.Inactive</a:t>
            </a:r>
            <a:r>
              <a:rPr lang="en-US" altLang="zh-CN" sz="1200" dirty="0"/>
              <a:t>;</a:t>
            </a:r>
          </a:p>
          <a:p>
            <a:pPr marL="0" indent="0">
              <a:buNone/>
            </a:pPr>
            <a:r>
              <a:rPr lang="en-US" altLang="zh-CN" sz="1200" dirty="0"/>
              <a:t>        </a:t>
            </a:r>
            <a:r>
              <a:rPr lang="en-US" altLang="zh-CN" sz="1200" dirty="0" err="1"/>
              <a:t>seller.transfer</a:t>
            </a:r>
            <a:r>
              <a:rPr lang="en-US" altLang="zh-CN" sz="1200" dirty="0"/>
              <a:t>(</a:t>
            </a:r>
            <a:r>
              <a:rPr lang="en-US" altLang="zh-CN" sz="1200" dirty="0" err="1"/>
              <a:t>this.balance</a:t>
            </a:r>
            <a:r>
              <a:rPr lang="en-US" altLang="zh-CN" sz="1200" dirty="0"/>
              <a:t>);</a:t>
            </a:r>
          </a:p>
          <a:p>
            <a:pPr marL="0" indent="0">
              <a:buNone/>
            </a:pPr>
            <a:r>
              <a:rPr lang="en-US" altLang="zh-CN" sz="1200" dirty="0"/>
              <a:t>    }</a:t>
            </a:r>
          </a:p>
          <a:p>
            <a:pPr marL="0" indent="0">
              <a:buNone/>
            </a:pPr>
            <a:endParaRPr lang="en-US" altLang="zh-CN" sz="1200" dirty="0"/>
          </a:p>
          <a:p>
            <a:pPr marL="0" indent="0">
              <a:buNone/>
            </a:pPr>
            <a:r>
              <a:rPr lang="en-US" altLang="zh-CN" sz="1200" dirty="0"/>
              <a:t>    function </a:t>
            </a:r>
            <a:r>
              <a:rPr lang="en-US" altLang="zh-CN" sz="1200" dirty="0" err="1"/>
              <a:t>confirmPurchase</a:t>
            </a:r>
            <a:r>
              <a:rPr lang="en-US" altLang="zh-CN" sz="1200" dirty="0"/>
              <a:t>() public </a:t>
            </a:r>
            <a:r>
              <a:rPr lang="en-US" altLang="zh-CN" sz="1200" dirty="0" err="1"/>
              <a:t>inState</a:t>
            </a:r>
            <a:r>
              <a:rPr lang="en-US" altLang="zh-CN" sz="1200" dirty="0"/>
              <a:t>(</a:t>
            </a:r>
            <a:r>
              <a:rPr lang="en-US" altLang="zh-CN" sz="1200" dirty="0" err="1"/>
              <a:t>State.Created</a:t>
            </a:r>
            <a:r>
              <a:rPr lang="en-US" altLang="zh-CN" sz="1200" dirty="0"/>
              <a:t>)</a:t>
            </a:r>
          </a:p>
          <a:p>
            <a:pPr marL="0" indent="0">
              <a:buNone/>
            </a:pPr>
            <a:r>
              <a:rPr lang="en-US" altLang="zh-CN" sz="1200" dirty="0"/>
              <a:t>        condition(</a:t>
            </a:r>
            <a:r>
              <a:rPr lang="en-US" altLang="zh-CN" sz="1200" dirty="0" err="1"/>
              <a:t>msg.value</a:t>
            </a:r>
            <a:r>
              <a:rPr lang="en-US" altLang="zh-CN" sz="1200" dirty="0"/>
              <a:t> == (2 * value))</a:t>
            </a:r>
          </a:p>
          <a:p>
            <a:pPr marL="0" indent="0">
              <a:buNone/>
            </a:pPr>
            <a:r>
              <a:rPr lang="en-US" altLang="zh-CN" sz="1200" dirty="0"/>
              <a:t>        payable</a:t>
            </a:r>
          </a:p>
          <a:p>
            <a:pPr marL="0" indent="0">
              <a:buNone/>
            </a:pPr>
            <a:r>
              <a:rPr lang="en-US" altLang="zh-CN" sz="1200" dirty="0"/>
              <a:t>    {</a:t>
            </a:r>
          </a:p>
          <a:p>
            <a:pPr marL="0" indent="0">
              <a:buNone/>
            </a:pPr>
            <a:r>
              <a:rPr lang="en-US" altLang="zh-CN" sz="1200" dirty="0"/>
              <a:t>        emit </a:t>
            </a:r>
            <a:r>
              <a:rPr lang="en-US" altLang="zh-CN" sz="1200" dirty="0" err="1"/>
              <a:t>PurchaseConfirmed</a:t>
            </a:r>
            <a:r>
              <a:rPr lang="en-US" altLang="zh-CN" sz="1200" dirty="0"/>
              <a:t>();</a:t>
            </a:r>
          </a:p>
          <a:p>
            <a:pPr marL="0" indent="0">
              <a:buNone/>
            </a:pPr>
            <a:r>
              <a:rPr lang="en-US" altLang="zh-CN" sz="1200" dirty="0"/>
              <a:t>        buyer = </a:t>
            </a:r>
            <a:r>
              <a:rPr lang="en-US" altLang="zh-CN" sz="1200" dirty="0" err="1"/>
              <a:t>msg.sender</a:t>
            </a:r>
            <a:r>
              <a:rPr lang="en-US" altLang="zh-CN" sz="1200" dirty="0"/>
              <a:t>;</a:t>
            </a:r>
          </a:p>
          <a:p>
            <a:pPr marL="0" indent="0">
              <a:buNone/>
            </a:pPr>
            <a:r>
              <a:rPr lang="en-US" altLang="zh-CN" sz="1200" dirty="0"/>
              <a:t>        state = </a:t>
            </a:r>
            <a:r>
              <a:rPr lang="en-US" altLang="zh-CN" sz="1200" dirty="0" err="1"/>
              <a:t>State.Locked</a:t>
            </a:r>
            <a:r>
              <a:rPr lang="en-US" altLang="zh-CN" sz="1200" dirty="0"/>
              <a:t>;</a:t>
            </a:r>
          </a:p>
          <a:p>
            <a:pPr marL="0" indent="0">
              <a:buNone/>
            </a:pPr>
            <a:r>
              <a:rPr lang="en-US" altLang="zh-CN" sz="1200" dirty="0"/>
              <a:t>    }</a:t>
            </a:r>
          </a:p>
          <a:p>
            <a:pPr marL="0" indent="0">
              <a:buNone/>
            </a:pPr>
            <a:endParaRPr lang="en-US" altLang="zh-CN" sz="1200" dirty="0"/>
          </a:p>
          <a:p>
            <a:pPr marL="0" indent="0">
              <a:buNone/>
            </a:pPr>
            <a:r>
              <a:rPr lang="en-US" altLang="zh-CN" sz="1200" dirty="0"/>
              <a:t>    function </a:t>
            </a:r>
            <a:r>
              <a:rPr lang="en-US" altLang="zh-CN" sz="1200" dirty="0" err="1"/>
              <a:t>confirmReceived</a:t>
            </a:r>
            <a:r>
              <a:rPr lang="en-US" altLang="zh-CN" sz="1200" dirty="0"/>
              <a:t>() public </a:t>
            </a:r>
            <a:r>
              <a:rPr lang="en-US" altLang="zh-CN" sz="1200" dirty="0" err="1"/>
              <a:t>onlyBuyer</a:t>
            </a:r>
            <a:r>
              <a:rPr lang="en-US" altLang="zh-CN" sz="1200" dirty="0"/>
              <a:t> </a:t>
            </a:r>
            <a:r>
              <a:rPr lang="en-US" altLang="zh-CN" sz="1200" dirty="0" err="1"/>
              <a:t>inState</a:t>
            </a:r>
            <a:r>
              <a:rPr lang="en-US" altLang="zh-CN" sz="1200" dirty="0"/>
              <a:t>(</a:t>
            </a:r>
            <a:r>
              <a:rPr lang="en-US" altLang="zh-CN" sz="1200" dirty="0" err="1"/>
              <a:t>State.Locked</a:t>
            </a:r>
            <a:r>
              <a:rPr lang="en-US" altLang="zh-CN" sz="1200" dirty="0"/>
              <a:t>)</a:t>
            </a:r>
          </a:p>
          <a:p>
            <a:pPr marL="0" indent="0">
              <a:buNone/>
            </a:pPr>
            <a:r>
              <a:rPr lang="en-US" altLang="zh-CN" sz="1200" dirty="0"/>
              <a:t>    {</a:t>
            </a:r>
          </a:p>
          <a:p>
            <a:pPr marL="0" indent="0">
              <a:buNone/>
            </a:pPr>
            <a:r>
              <a:rPr lang="en-US" altLang="zh-CN" sz="1200" dirty="0"/>
              <a:t>        emit </a:t>
            </a:r>
            <a:r>
              <a:rPr lang="en-US" altLang="zh-CN" sz="1200" dirty="0" err="1"/>
              <a:t>ItemReceived</a:t>
            </a:r>
            <a:r>
              <a:rPr lang="en-US" altLang="zh-CN" sz="1200" dirty="0"/>
              <a:t>();</a:t>
            </a:r>
          </a:p>
          <a:p>
            <a:pPr marL="0" indent="0">
              <a:buNone/>
            </a:pPr>
            <a:r>
              <a:rPr lang="en-US" altLang="zh-CN" sz="1200" dirty="0"/>
              <a:t>        state = </a:t>
            </a:r>
            <a:r>
              <a:rPr lang="en-US" altLang="zh-CN" sz="1200" dirty="0" err="1"/>
              <a:t>State.Inactive</a:t>
            </a:r>
            <a:r>
              <a:rPr lang="en-US" altLang="zh-CN" sz="1200" dirty="0"/>
              <a:t>;</a:t>
            </a:r>
          </a:p>
          <a:p>
            <a:pPr marL="0" indent="0">
              <a:buNone/>
            </a:pPr>
            <a:r>
              <a:rPr lang="en-US" altLang="zh-CN" sz="1200" dirty="0"/>
              <a:t>        </a:t>
            </a:r>
            <a:r>
              <a:rPr lang="en-US" altLang="zh-CN" sz="1200" dirty="0" err="1"/>
              <a:t>buyer.transfer</a:t>
            </a:r>
            <a:r>
              <a:rPr lang="en-US" altLang="zh-CN" sz="1200" dirty="0"/>
              <a:t>(value);</a:t>
            </a:r>
          </a:p>
          <a:p>
            <a:pPr marL="0" indent="0">
              <a:buNone/>
            </a:pPr>
            <a:r>
              <a:rPr lang="en-US" altLang="zh-CN" sz="1200" dirty="0"/>
              <a:t>        </a:t>
            </a:r>
            <a:r>
              <a:rPr lang="en-US" altLang="zh-CN" sz="1200" dirty="0" err="1"/>
              <a:t>seller.transfer</a:t>
            </a:r>
            <a:r>
              <a:rPr lang="en-US" altLang="zh-CN" sz="1200" dirty="0"/>
              <a:t>(</a:t>
            </a:r>
            <a:r>
              <a:rPr lang="en-US" altLang="zh-CN" sz="1200" dirty="0" err="1"/>
              <a:t>this.balance</a:t>
            </a:r>
            <a:r>
              <a:rPr lang="en-US" altLang="zh-CN" sz="1200" dirty="0"/>
              <a:t>);</a:t>
            </a:r>
          </a:p>
          <a:p>
            <a:pPr marL="0" indent="0">
              <a:buNone/>
            </a:pPr>
            <a:r>
              <a:rPr lang="en-US" altLang="zh-CN" sz="1200" dirty="0"/>
              <a:t>    }</a:t>
            </a:r>
          </a:p>
          <a:p>
            <a:pPr marL="0" indent="0">
              <a:buNone/>
            </a:pPr>
            <a:r>
              <a:rPr lang="en-US" altLang="zh-CN" sz="1200" dirty="0"/>
              <a:t>}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8817988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期末考试内容和题型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1196752"/>
            <a:ext cx="8640959" cy="5400600"/>
          </a:xfrm>
        </p:spPr>
        <p:txBody>
          <a:bodyPr/>
          <a:lstStyle/>
          <a:p>
            <a:r>
              <a:rPr lang="zh-CN" altLang="en-US" dirty="0" smtClean="0"/>
              <a:t>修改程序题</a:t>
            </a:r>
            <a:endParaRPr lang="en-US" altLang="zh-CN" dirty="0" smtClean="0"/>
          </a:p>
          <a:p>
            <a:pPr lvl="1"/>
            <a:r>
              <a:rPr lang="zh-CN" altLang="en-US" dirty="0"/>
              <a:t>请</a:t>
            </a:r>
            <a:r>
              <a:rPr lang="zh-CN" altLang="en-US" dirty="0" smtClean="0"/>
              <a:t>将下面合约方法中的前置条件判断实现从在原函数的开始位置使用</a:t>
            </a:r>
            <a:r>
              <a:rPr lang="en-US" altLang="zh-CN" dirty="0" smtClean="0"/>
              <a:t>require</a:t>
            </a:r>
            <a:r>
              <a:rPr lang="zh-CN" altLang="en-US" dirty="0" smtClean="0"/>
              <a:t>函数改为使用</a:t>
            </a:r>
            <a:r>
              <a:rPr lang="en-US" altLang="zh-CN" dirty="0" smtClean="0"/>
              <a:t>modifier</a:t>
            </a:r>
            <a:r>
              <a:rPr lang="zh-CN" altLang="en-US" dirty="0" smtClean="0"/>
              <a:t>修改器函数实现。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sz="1800" dirty="0"/>
              <a:t>contract </a:t>
            </a:r>
            <a:r>
              <a:rPr lang="en-US" altLang="zh-CN" sz="1800" dirty="0" err="1" smtClean="0"/>
              <a:t>Ownertest</a:t>
            </a:r>
            <a:r>
              <a:rPr lang="en-US" altLang="zh-CN" sz="1800" dirty="0" smtClean="0"/>
              <a:t>{</a:t>
            </a:r>
            <a:endParaRPr lang="en-US" altLang="zh-CN" sz="1800" dirty="0"/>
          </a:p>
          <a:p>
            <a:pPr marL="0" indent="0">
              <a:buNone/>
            </a:pPr>
            <a:r>
              <a:rPr lang="en-US" altLang="zh-CN" sz="1800" dirty="0"/>
              <a:t>    string public record; 	</a:t>
            </a:r>
          </a:p>
          <a:p>
            <a:pPr marL="0" indent="0">
              <a:buNone/>
            </a:pPr>
            <a:r>
              <a:rPr lang="en-US" altLang="zh-CN" sz="1800" dirty="0"/>
              <a:t>    address owner;			</a:t>
            </a:r>
          </a:p>
          <a:p>
            <a:pPr marL="0" indent="0">
              <a:buNone/>
            </a:pPr>
            <a:r>
              <a:rPr lang="en-US" altLang="zh-CN" sz="1800" dirty="0"/>
              <a:t>    constructor() {</a:t>
            </a:r>
          </a:p>
          <a:p>
            <a:pPr marL="0" indent="0">
              <a:buNone/>
            </a:pPr>
            <a:r>
              <a:rPr lang="en-US" altLang="zh-CN" sz="1800" dirty="0"/>
              <a:t>        owner = </a:t>
            </a:r>
            <a:r>
              <a:rPr lang="en-US" altLang="zh-CN" sz="1800" dirty="0" err="1"/>
              <a:t>msg.sender</a:t>
            </a:r>
            <a:r>
              <a:rPr lang="en-US" altLang="zh-CN" sz="1800" dirty="0"/>
              <a:t>;</a:t>
            </a:r>
          </a:p>
          <a:p>
            <a:pPr marL="0" indent="0">
              <a:buNone/>
            </a:pPr>
            <a:r>
              <a:rPr lang="en-US" altLang="zh-CN" sz="1800" dirty="0"/>
              <a:t>    }</a:t>
            </a:r>
          </a:p>
          <a:p>
            <a:pPr marL="0" indent="0">
              <a:buNone/>
            </a:pPr>
            <a:r>
              <a:rPr lang="en-US" altLang="zh-CN" sz="1800" dirty="0"/>
              <a:t>    function </a:t>
            </a:r>
            <a:r>
              <a:rPr lang="en-US" altLang="zh-CN" sz="1800" dirty="0" err="1"/>
              <a:t>changeRecord</a:t>
            </a:r>
            <a:r>
              <a:rPr lang="en-US" altLang="zh-CN" sz="1800" dirty="0"/>
              <a:t>(string memory _record) public </a:t>
            </a:r>
            <a:r>
              <a:rPr lang="en-US" altLang="zh-CN" sz="1800" dirty="0" err="1"/>
              <a:t>isOwner</a:t>
            </a:r>
            <a:r>
              <a:rPr lang="en-US" altLang="zh-CN" sz="1800" dirty="0"/>
              <a:t> {</a:t>
            </a:r>
          </a:p>
          <a:p>
            <a:pPr marL="0" indent="0">
              <a:buNone/>
            </a:pPr>
            <a:r>
              <a:rPr lang="en-US" altLang="zh-CN" sz="1800" dirty="0" smtClean="0"/>
              <a:t>          require(</a:t>
            </a:r>
            <a:r>
              <a:rPr lang="en-US" altLang="zh-CN" sz="1800" dirty="0" err="1" smtClean="0"/>
              <a:t>msg.sender</a:t>
            </a:r>
            <a:r>
              <a:rPr lang="en-US" altLang="zh-CN" sz="1800" dirty="0" smtClean="0"/>
              <a:t> </a:t>
            </a:r>
            <a:r>
              <a:rPr lang="en-US" altLang="zh-CN" sz="1800" dirty="0"/>
              <a:t>== owner, "You are not the owner of this </a:t>
            </a:r>
            <a:r>
              <a:rPr lang="en-US" altLang="zh-CN" sz="1800" dirty="0" err="1"/>
              <a:t>NoteBook</a:t>
            </a:r>
            <a:r>
              <a:rPr lang="en-US" altLang="zh-CN" sz="1800" dirty="0"/>
              <a:t>");</a:t>
            </a:r>
            <a:r>
              <a:rPr lang="en-US" altLang="zh-CN" sz="1800" dirty="0" smtClean="0"/>
              <a:t>        </a:t>
            </a:r>
          </a:p>
          <a:p>
            <a:pPr marL="0" indent="0">
              <a:buNone/>
            </a:pPr>
            <a:r>
              <a:rPr lang="en-US" altLang="zh-CN" sz="1800" dirty="0" smtClean="0"/>
              <a:t>          record </a:t>
            </a:r>
            <a:r>
              <a:rPr lang="en-US" altLang="zh-CN" sz="1800" dirty="0"/>
              <a:t>= _record;</a:t>
            </a:r>
          </a:p>
          <a:p>
            <a:pPr marL="0" indent="0">
              <a:buNone/>
            </a:pPr>
            <a:r>
              <a:rPr lang="en-US" altLang="zh-CN" sz="1800" dirty="0"/>
              <a:t>    }</a:t>
            </a:r>
          </a:p>
          <a:p>
            <a:pPr marL="0" indent="0">
              <a:buNone/>
            </a:pPr>
            <a:r>
              <a:rPr lang="en-US" altLang="zh-CN" sz="1800" dirty="0" smtClean="0"/>
              <a:t>}</a:t>
            </a:r>
            <a:endParaRPr lang="en-US" altLang="zh-CN" sz="1800" dirty="0"/>
          </a:p>
          <a:p>
            <a:pPr marL="0" indent="0">
              <a:buNone/>
            </a:pP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5418064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期末考试内容和题型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1600" dirty="0" smtClean="0"/>
              <a:t>contract </a:t>
            </a:r>
            <a:r>
              <a:rPr lang="en-US" altLang="zh-CN" sz="1600" dirty="0" err="1"/>
              <a:t>Ownertest</a:t>
            </a:r>
            <a:r>
              <a:rPr lang="en-US" altLang="zh-CN" sz="1600" dirty="0" smtClean="0"/>
              <a:t>{</a:t>
            </a:r>
            <a:endParaRPr lang="en-US" altLang="zh-CN" sz="1600" dirty="0"/>
          </a:p>
          <a:p>
            <a:pPr marL="0" indent="0">
              <a:buNone/>
            </a:pPr>
            <a:r>
              <a:rPr lang="en-US" altLang="zh-CN" sz="1600" dirty="0" smtClean="0"/>
              <a:t>    </a:t>
            </a:r>
            <a:r>
              <a:rPr lang="en-US" altLang="zh-CN" sz="1600" dirty="0"/>
              <a:t>string public record; 	</a:t>
            </a:r>
            <a:endParaRPr lang="zh-CN" altLang="en-US" sz="1600" dirty="0"/>
          </a:p>
          <a:p>
            <a:pPr marL="0" indent="0">
              <a:buNone/>
            </a:pPr>
            <a:r>
              <a:rPr lang="zh-CN" altLang="en-US" sz="1600" dirty="0"/>
              <a:t>    </a:t>
            </a:r>
            <a:r>
              <a:rPr lang="en-US" altLang="zh-CN" sz="1600" dirty="0"/>
              <a:t>address owner;			</a:t>
            </a:r>
            <a:endParaRPr lang="zh-CN" altLang="en-US" sz="1600" dirty="0"/>
          </a:p>
          <a:p>
            <a:pPr marL="0" indent="0">
              <a:buNone/>
            </a:pPr>
            <a:r>
              <a:rPr lang="en-US" altLang="zh-CN" sz="1600" dirty="0" smtClean="0"/>
              <a:t>    constructor</a:t>
            </a:r>
            <a:r>
              <a:rPr lang="en-US" altLang="zh-CN" sz="1600" dirty="0"/>
              <a:t>() {</a:t>
            </a:r>
          </a:p>
          <a:p>
            <a:pPr marL="0" indent="0">
              <a:buNone/>
            </a:pPr>
            <a:r>
              <a:rPr lang="en-US" altLang="zh-CN" sz="1600" dirty="0"/>
              <a:t>        owner = </a:t>
            </a:r>
            <a:r>
              <a:rPr lang="en-US" altLang="zh-CN" sz="1600" dirty="0" err="1"/>
              <a:t>msg.sender</a:t>
            </a:r>
            <a:r>
              <a:rPr lang="en-US" altLang="zh-CN" sz="1600" dirty="0"/>
              <a:t>;</a:t>
            </a:r>
          </a:p>
          <a:p>
            <a:pPr marL="0" indent="0">
              <a:buNone/>
            </a:pPr>
            <a:r>
              <a:rPr lang="en-US" altLang="zh-CN" sz="1600" dirty="0"/>
              <a:t>    }</a:t>
            </a:r>
          </a:p>
          <a:p>
            <a:pPr marL="0" indent="0">
              <a:buNone/>
            </a:pPr>
            <a:r>
              <a:rPr lang="en-US" altLang="zh-CN" sz="1600" dirty="0" smtClean="0"/>
              <a:t>    function </a:t>
            </a:r>
            <a:r>
              <a:rPr lang="en-US" altLang="zh-CN" sz="1600" dirty="0" err="1"/>
              <a:t>changeRecord</a:t>
            </a:r>
            <a:r>
              <a:rPr lang="en-US" altLang="zh-CN" sz="1600" dirty="0"/>
              <a:t>(string memory _record) public </a:t>
            </a:r>
            <a:r>
              <a:rPr lang="en-US" altLang="zh-CN" sz="1600" dirty="0" err="1"/>
              <a:t>isOwner</a:t>
            </a:r>
            <a:r>
              <a:rPr lang="en-US" altLang="zh-CN" sz="1600" dirty="0"/>
              <a:t> {</a:t>
            </a:r>
          </a:p>
          <a:p>
            <a:pPr marL="0" indent="0">
              <a:buNone/>
            </a:pPr>
            <a:r>
              <a:rPr lang="en-US" altLang="zh-CN" sz="1600" dirty="0"/>
              <a:t>        record = _record;</a:t>
            </a:r>
          </a:p>
          <a:p>
            <a:pPr marL="0" indent="0">
              <a:buNone/>
            </a:pPr>
            <a:r>
              <a:rPr lang="en-US" altLang="zh-CN" sz="1600" dirty="0"/>
              <a:t>    }</a:t>
            </a:r>
          </a:p>
          <a:p>
            <a:pPr marL="0" indent="0">
              <a:buNone/>
            </a:pPr>
            <a:r>
              <a:rPr lang="en-US" altLang="zh-CN" sz="1600" dirty="0" smtClean="0"/>
              <a:t>    modifier </a:t>
            </a:r>
            <a:r>
              <a:rPr lang="en-US" altLang="zh-CN" sz="1600" dirty="0" err="1"/>
              <a:t>isOwner</a:t>
            </a:r>
            <a:r>
              <a:rPr lang="en-US" altLang="zh-CN" sz="1600" dirty="0"/>
              <a:t>{</a:t>
            </a:r>
          </a:p>
          <a:p>
            <a:pPr marL="0" indent="0">
              <a:buNone/>
            </a:pPr>
            <a:r>
              <a:rPr lang="en-US" altLang="zh-CN" sz="1600" dirty="0"/>
              <a:t>        require(</a:t>
            </a:r>
            <a:r>
              <a:rPr lang="en-US" altLang="zh-CN" sz="1600" dirty="0" err="1"/>
              <a:t>msg.sender</a:t>
            </a:r>
            <a:r>
              <a:rPr lang="en-US" altLang="zh-CN" sz="1600" dirty="0"/>
              <a:t> == owner, "You are not the owner of this </a:t>
            </a:r>
            <a:r>
              <a:rPr lang="en-US" altLang="zh-CN" sz="1600" dirty="0" err="1"/>
              <a:t>NoteBook</a:t>
            </a:r>
            <a:r>
              <a:rPr lang="en-US" altLang="zh-CN" sz="1600" dirty="0"/>
              <a:t>");</a:t>
            </a:r>
          </a:p>
          <a:p>
            <a:pPr marL="0" indent="0">
              <a:buNone/>
            </a:pPr>
            <a:r>
              <a:rPr lang="en-US" altLang="zh-CN" sz="1600" dirty="0"/>
              <a:t>        _;</a:t>
            </a:r>
          </a:p>
          <a:p>
            <a:pPr marL="0" indent="0">
              <a:buNone/>
            </a:pPr>
            <a:r>
              <a:rPr lang="en-US" altLang="zh-CN" sz="1600" dirty="0"/>
              <a:t>    }</a:t>
            </a:r>
          </a:p>
          <a:p>
            <a:pPr marL="0" indent="0">
              <a:buNone/>
            </a:pPr>
            <a:r>
              <a:rPr lang="en-US" altLang="zh-CN" sz="1600" dirty="0" smtClean="0"/>
              <a:t>}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3610899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期末考试内容和题型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编程题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请编写一个简单的合约，由合约创建者存入一个秘密信息，并存入一定的以太币；</a:t>
            </a:r>
            <a:endParaRPr lang="en-US" altLang="zh-CN" dirty="0" smtClean="0"/>
          </a:p>
          <a:p>
            <a:pPr lvl="1"/>
            <a:endParaRPr lang="en-US" altLang="zh-CN" dirty="0" smtClean="0"/>
          </a:p>
          <a:p>
            <a:pPr lvl="1"/>
            <a:r>
              <a:rPr lang="zh-CN" altLang="en-US" dirty="0" smtClean="0"/>
              <a:t>合约部署后，如果用户能够答对秘密信息，并且合约还有足够的以太币余额，则奖励用户一定的以太币，否则给出出错信息。</a:t>
            </a:r>
            <a:endParaRPr lang="en-US" altLang="zh-CN" dirty="0" smtClean="0"/>
          </a:p>
          <a:p>
            <a:pPr lvl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28464152"/>
      </p:ext>
    </p:extLst>
  </p:cSld>
  <p:clrMapOvr>
    <a:masterClrMapping/>
  </p:clrMapOvr>
</p:sld>
</file>

<file path=ppt/theme/theme1.xml><?xml version="1.0" encoding="utf-8"?>
<a:theme xmlns:a="http://schemas.openxmlformats.org/drawingml/2006/main" name="nju">
  <a:themeElements>
    <a:clrScheme name="Axis 8">
      <a:dk1>
        <a:srgbClr val="292929"/>
      </a:dk1>
      <a:lt1>
        <a:srgbClr val="FFFFFF"/>
      </a:lt1>
      <a:dk2>
        <a:srgbClr val="000000"/>
      </a:dk2>
      <a:lt2>
        <a:srgbClr val="808080"/>
      </a:lt2>
      <a:accent1>
        <a:srgbClr val="CC9900"/>
      </a:accent1>
      <a:accent2>
        <a:srgbClr val="CCCC99"/>
      </a:accent2>
      <a:accent3>
        <a:srgbClr val="FFFFFF"/>
      </a:accent3>
      <a:accent4>
        <a:srgbClr val="212121"/>
      </a:accent4>
      <a:accent5>
        <a:srgbClr val="E2CAAA"/>
      </a:accent5>
      <a:accent6>
        <a:srgbClr val="B9B98A"/>
      </a:accent6>
      <a:hlink>
        <a:srgbClr val="999933"/>
      </a:hlink>
      <a:folHlink>
        <a:srgbClr val="B2B2B2"/>
      </a:folHlink>
    </a:clrScheme>
    <a:fontScheme name="Axis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Axis 1">
        <a:dk1>
          <a:srgbClr val="080808"/>
        </a:dk1>
        <a:lt1>
          <a:srgbClr val="F8F8F8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ADAAAA"/>
        </a:accent3>
        <a:accent4>
          <a:srgbClr val="D4D4D4"/>
        </a:accent4>
        <a:accent5>
          <a:srgbClr val="FFCAAA"/>
        </a:accent5>
        <a:accent6>
          <a:srgbClr val="B92D00"/>
        </a:accent6>
        <a:hlink>
          <a:srgbClr val="CC6600"/>
        </a:hlink>
        <a:folHlink>
          <a:srgbClr val="B2B28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xis 2">
        <a:dk1>
          <a:srgbClr val="333333"/>
        </a:dk1>
        <a:lt1>
          <a:srgbClr val="F8F8F8"/>
        </a:lt1>
        <a:dk2>
          <a:srgbClr val="800000"/>
        </a:dk2>
        <a:lt2>
          <a:srgbClr val="FFFFFF"/>
        </a:lt2>
        <a:accent1>
          <a:srgbClr val="CC9900"/>
        </a:accent1>
        <a:accent2>
          <a:srgbClr val="666666"/>
        </a:accent2>
        <a:accent3>
          <a:srgbClr val="C0AAAA"/>
        </a:accent3>
        <a:accent4>
          <a:srgbClr val="D4D4D4"/>
        </a:accent4>
        <a:accent5>
          <a:srgbClr val="E2CAAA"/>
        </a:accent5>
        <a:accent6>
          <a:srgbClr val="5C5C5C"/>
        </a:accent6>
        <a:hlink>
          <a:srgbClr val="CC6600"/>
        </a:hlink>
        <a:folHlink>
          <a:srgbClr val="95A58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xis 3">
        <a:dk1>
          <a:srgbClr val="5F5F5F"/>
        </a:dk1>
        <a:lt1>
          <a:srgbClr val="A4BEE0"/>
        </a:lt1>
        <a:dk2>
          <a:srgbClr val="013253"/>
        </a:dk2>
        <a:lt2>
          <a:srgbClr val="FFFFFF"/>
        </a:lt2>
        <a:accent1>
          <a:srgbClr val="588480"/>
        </a:accent1>
        <a:accent2>
          <a:srgbClr val="6600FF"/>
        </a:accent2>
        <a:accent3>
          <a:srgbClr val="AAADB3"/>
        </a:accent3>
        <a:accent4>
          <a:srgbClr val="8BA2BF"/>
        </a:accent4>
        <a:accent5>
          <a:srgbClr val="B4C2C0"/>
        </a:accent5>
        <a:accent6>
          <a:srgbClr val="5C00E7"/>
        </a:accent6>
        <a:hlink>
          <a:srgbClr val="CCCC00"/>
        </a:hlink>
        <a:folHlink>
          <a:srgbClr val="5F5F5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xis 4">
        <a:dk1>
          <a:srgbClr val="003300"/>
        </a:dk1>
        <a:lt1>
          <a:srgbClr val="F8F8F8"/>
        </a:lt1>
        <a:dk2>
          <a:srgbClr val="3D4A1C"/>
        </a:dk2>
        <a:lt2>
          <a:srgbClr val="FFFFFF"/>
        </a:lt2>
        <a:accent1>
          <a:srgbClr val="99CC00"/>
        </a:accent1>
        <a:accent2>
          <a:srgbClr val="669900"/>
        </a:accent2>
        <a:accent3>
          <a:srgbClr val="AFB1AB"/>
        </a:accent3>
        <a:accent4>
          <a:srgbClr val="D4D4D4"/>
        </a:accent4>
        <a:accent5>
          <a:srgbClr val="CAE2AA"/>
        </a:accent5>
        <a:accent6>
          <a:srgbClr val="5C8A00"/>
        </a:accent6>
        <a:hlink>
          <a:srgbClr val="CC9900"/>
        </a:hlink>
        <a:folHlink>
          <a:srgbClr val="B2B28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xis 5">
        <a:dk1>
          <a:srgbClr val="333333"/>
        </a:dk1>
        <a:lt1>
          <a:srgbClr val="F8F8F8"/>
        </a:lt1>
        <a:dk2>
          <a:srgbClr val="005D8C"/>
        </a:dk2>
        <a:lt2>
          <a:srgbClr val="FFFFFF"/>
        </a:lt2>
        <a:accent1>
          <a:srgbClr val="00CC99"/>
        </a:accent1>
        <a:accent2>
          <a:srgbClr val="0099CC"/>
        </a:accent2>
        <a:accent3>
          <a:srgbClr val="AAB6C5"/>
        </a:accent3>
        <a:accent4>
          <a:srgbClr val="D4D4D4"/>
        </a:accent4>
        <a:accent5>
          <a:srgbClr val="AAE2CA"/>
        </a:accent5>
        <a:accent6>
          <a:srgbClr val="008AB9"/>
        </a:accent6>
        <a:hlink>
          <a:srgbClr val="FFCC00"/>
        </a:hlink>
        <a:folHlink>
          <a:srgbClr val="D8D48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xis 6">
        <a:dk1>
          <a:srgbClr val="000000"/>
        </a:dk1>
        <a:lt1>
          <a:srgbClr val="ECAE00"/>
        </a:lt1>
        <a:dk2>
          <a:srgbClr val="FFFFFF"/>
        </a:dk2>
        <a:lt2>
          <a:srgbClr val="333333"/>
        </a:lt2>
        <a:accent1>
          <a:srgbClr val="CC6600"/>
        </a:accent1>
        <a:accent2>
          <a:srgbClr val="BA6D10"/>
        </a:accent2>
        <a:accent3>
          <a:srgbClr val="F4D3AA"/>
        </a:accent3>
        <a:accent4>
          <a:srgbClr val="000000"/>
        </a:accent4>
        <a:accent5>
          <a:srgbClr val="E2B8AA"/>
        </a:accent5>
        <a:accent6>
          <a:srgbClr val="A8620D"/>
        </a:accent6>
        <a:hlink>
          <a:srgbClr val="666633"/>
        </a:hlink>
        <a:folHlink>
          <a:srgbClr val="8D996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xis 7">
        <a:dk1>
          <a:srgbClr val="000000"/>
        </a:dk1>
        <a:lt1>
          <a:srgbClr val="FFFFFF"/>
        </a:lt1>
        <a:dk2>
          <a:srgbClr val="372221"/>
        </a:dk2>
        <a:lt2>
          <a:srgbClr val="808080"/>
        </a:lt2>
        <a:accent1>
          <a:srgbClr val="009999"/>
        </a:accent1>
        <a:accent2>
          <a:srgbClr val="9AAC98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8B9B89"/>
        </a:accent6>
        <a:hlink>
          <a:srgbClr val="666699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xis 8">
        <a:dk1>
          <a:srgbClr val="292929"/>
        </a:dk1>
        <a:lt1>
          <a:srgbClr val="FFFFFF"/>
        </a:lt1>
        <a:dk2>
          <a:srgbClr val="000000"/>
        </a:dk2>
        <a:lt2>
          <a:srgbClr val="808080"/>
        </a:lt2>
        <a:accent1>
          <a:srgbClr val="CC9900"/>
        </a:accent1>
        <a:accent2>
          <a:srgbClr val="CCCC99"/>
        </a:accent2>
        <a:accent3>
          <a:srgbClr val="FFFFFF"/>
        </a:accent3>
        <a:accent4>
          <a:srgbClr val="212121"/>
        </a:accent4>
        <a:accent5>
          <a:srgbClr val="E2CAAA"/>
        </a:accent5>
        <a:accent6>
          <a:srgbClr val="B9B98A"/>
        </a:accent6>
        <a:hlink>
          <a:srgbClr val="9999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第2章 信息安全体系结构.pptx" id="{2A91B836-FFFD-4C9D-ACEB-12964C45F731}" vid="{3FEFB23B-0341-4517-8F01-752859B552F3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朴素模板</Template>
  <TotalTime>3255</TotalTime>
  <Words>1991</Words>
  <Application>Microsoft Office PowerPoint</Application>
  <PresentationFormat>全屏显示(4:3)</PresentationFormat>
  <Paragraphs>399</Paragraphs>
  <Slides>36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3" baseType="lpstr">
      <vt:lpstr>楷体</vt:lpstr>
      <vt:lpstr>宋体</vt:lpstr>
      <vt:lpstr>Arial</vt:lpstr>
      <vt:lpstr>Calibri</vt:lpstr>
      <vt:lpstr>Times New Roman</vt:lpstr>
      <vt:lpstr>Wingdings</vt:lpstr>
      <vt:lpstr>nju</vt:lpstr>
      <vt:lpstr>以太坊智能合约进阶</vt:lpstr>
      <vt:lpstr>数组</vt:lpstr>
      <vt:lpstr>数组</vt:lpstr>
      <vt:lpstr>数组</vt:lpstr>
      <vt:lpstr>数组</vt:lpstr>
      <vt:lpstr>数组</vt:lpstr>
      <vt:lpstr>销毁合约</vt:lpstr>
      <vt:lpstr>selfdestruct</vt:lpstr>
      <vt:lpstr>与智能合约交互的三个工具</vt:lpstr>
      <vt:lpstr>使用Etherscan查看合约相关信息</vt:lpstr>
      <vt:lpstr>使用Etherscan查看合约相关信息</vt:lpstr>
      <vt:lpstr>使用Etherscan查看合约相关信息</vt:lpstr>
      <vt:lpstr>使用Etherscan查看合约相关信息</vt:lpstr>
      <vt:lpstr>使用Etherscan查看合约相关信息</vt:lpstr>
      <vt:lpstr>使用Etherscan查看合约相关信息</vt:lpstr>
      <vt:lpstr>使用Etherscan查看合约相关信息</vt:lpstr>
      <vt:lpstr>使用Etherscan查看合约相关信息</vt:lpstr>
      <vt:lpstr>使用Etherscan查看合约相关信息</vt:lpstr>
      <vt:lpstr>使用Etherscan查看合约相关信息</vt:lpstr>
      <vt:lpstr>使用Etherscan查看合约相关信息</vt:lpstr>
      <vt:lpstr>使用Etherscan查看合约相关信息</vt:lpstr>
      <vt:lpstr>总评成绩构成</vt:lpstr>
      <vt:lpstr>期末考试内容和题型</vt:lpstr>
      <vt:lpstr>期末考试内容和题型</vt:lpstr>
      <vt:lpstr>期末考试内容和题型</vt:lpstr>
      <vt:lpstr>期末考试内容和题型</vt:lpstr>
      <vt:lpstr>期末考试内容和题型</vt:lpstr>
      <vt:lpstr>期末考试内容和题型</vt:lpstr>
      <vt:lpstr>期末考试内容和题型</vt:lpstr>
      <vt:lpstr>期末考试内容和题型</vt:lpstr>
      <vt:lpstr>期末考试内容和题型</vt:lpstr>
      <vt:lpstr>期末考试内容和题型</vt:lpstr>
      <vt:lpstr>期末考试内容和题型</vt:lpstr>
      <vt:lpstr>期末考试内容和题型</vt:lpstr>
      <vt:lpstr>期末考试内容和题型</vt:lpstr>
      <vt:lpstr>期末考试内容和题型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大学计算机信息技术</dc:title>
  <dc:creator>Hp</dc:creator>
  <cp:lastModifiedBy>dell</cp:lastModifiedBy>
  <cp:revision>550</cp:revision>
  <dcterms:created xsi:type="dcterms:W3CDTF">2013-09-23T10:22:11Z</dcterms:created>
  <dcterms:modified xsi:type="dcterms:W3CDTF">2021-06-03T07:26:20Z</dcterms:modified>
</cp:coreProperties>
</file>