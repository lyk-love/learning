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5" r:id="rId1"/>
  </p:sldMasterIdLst>
  <p:notesMasterIdLst>
    <p:notesMasterId r:id="rId17"/>
  </p:notesMasterIdLst>
  <p:sldIdLst>
    <p:sldId id="395" r:id="rId2"/>
    <p:sldId id="398" r:id="rId3"/>
    <p:sldId id="399" r:id="rId4"/>
    <p:sldId id="400" r:id="rId5"/>
    <p:sldId id="401" r:id="rId6"/>
    <p:sldId id="402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13" r:id="rId15"/>
    <p:sldId id="414" r:id="rId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3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E977AA7-57E9-4A56-AFE1-34A5A5DC790A}" type="datetimeFigureOut">
              <a:rPr lang="zh-CN" altLang="en-US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64121CE6-E712-413E-ACD8-955771AA458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7061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228600" y="1635125"/>
            <a:ext cx="2514600" cy="25146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mtClean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hidden">
          <a:xfrm>
            <a:off x="0" y="2397125"/>
            <a:ext cx="47244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 smtClean="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hidden">
          <a:xfrm>
            <a:off x="3962400" y="2397125"/>
            <a:ext cx="4724400" cy="1143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 smtClean="0"/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059113" y="4149725"/>
            <a:ext cx="5184775" cy="1336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189449" name="Rectangle 9"/>
          <p:cNvSpPr>
            <a:spLocks noGrp="1" noChangeArrowheads="1"/>
          </p:cNvSpPr>
          <p:nvPr>
            <p:ph type="ctrTitle"/>
          </p:nvPr>
        </p:nvSpPr>
        <p:spPr>
          <a:xfrm>
            <a:off x="838200" y="2163763"/>
            <a:ext cx="7405688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84913"/>
            <a:ext cx="129381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38E57-93F9-4D16-9D65-7B0414EDCF8F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202363"/>
            <a:ext cx="5113337" cy="539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548130-33E5-4651-8CB0-053FFE4C99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4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36114-4B0D-48F2-AFFD-DD492E28E8B1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09C164-7C40-4743-A1D0-60CDBD9780F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1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5F954-ED4F-4BB5-81E4-369170938DD6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F6FC0A-5A87-4514-96BC-E02BA09E53F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311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B7F95-78A0-4EB8-A841-36370DAECFC3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225C4B-1503-4E05-91D6-4EAE80571F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81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30273-FB3F-4409-B68D-27AC6E41ADBA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0D7FE8-9F4A-4FCC-9904-F8AD160DF52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66980-E121-4D27-8E64-7E45764D8807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2B6336-A0FB-4BAE-AFC2-E4641F2915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45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D6303-86B8-435D-9CDF-1D9D86A9AD6C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C6FD49-9006-4ACC-B270-EC04A2D917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12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CEF59-9DF9-4BC2-9D2C-8C5C0BAE01A8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6C489-D1FB-4028-9879-44C39A67CF5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70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582AB-7697-423A-8094-EDFC4FB6F069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C00C18-A1A9-4C03-9462-5B70A010C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35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01C4D-A13F-4CBF-A93F-917A0BB25796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CD0368-030E-4470-9CC0-A8539E28CCE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60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5425" y="404813"/>
            <a:ext cx="2035175" cy="5472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404813"/>
            <a:ext cx="5954712" cy="547211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5B808-DAE2-490F-9DA8-6B1F02696318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6C2C6C-AFC8-4EC7-BA35-3E0EA0828F2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991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5616575" cy="5762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486B6-4D75-475D-A2BA-381A4D02304A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D680A7-0A96-4F61-9ECD-6D8EEA3CDDB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275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5616575" cy="5762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4863" y="1484313"/>
            <a:ext cx="3995737" cy="2119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4863" y="3756025"/>
            <a:ext cx="3995737" cy="21209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121C5-8A82-461F-9C43-B895C2BB9631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87A25D-A7AB-4FD5-BCD7-8D09FECE40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886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5616575" cy="5762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484313"/>
            <a:ext cx="8142287" cy="439261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47007-5084-4A4B-96D7-4CA561231CE2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8F181F-B538-4183-9F44-79237E3859D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26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404813"/>
            <a:ext cx="56165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484313"/>
            <a:ext cx="81422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884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6284913"/>
            <a:ext cx="1293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8C693853-0C9D-41EA-8BCF-EF3ACA4223C9}" type="datetimeFigureOut">
              <a:rPr lang="zh-CN" altLang="en-US" smtClean="0"/>
              <a:pPr>
                <a:defRPr/>
              </a:pPr>
              <a:t>2021/5/20</a:t>
            </a:fld>
            <a:endParaRPr lang="zh-CN" altLang="en-US"/>
          </a:p>
        </p:txBody>
      </p:sp>
      <p:sp>
        <p:nvSpPr>
          <p:cNvPr id="1884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51050" y="6202363"/>
            <a:ext cx="52578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842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24750" y="6284913"/>
            <a:ext cx="933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600"/>
            </a:lvl1pPr>
          </a:lstStyle>
          <a:p>
            <a:fld id="{40102EC4-04E9-4BDC-BD4F-A88C8CF733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022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楷体" pitchFamily="49" charset="-122"/>
          <a:cs typeface="+mn-cs"/>
        </a:defRPr>
      </a:lvl1pPr>
      <a:lvl2pPr marL="889000" indent="-43973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400">
          <a:solidFill>
            <a:schemeClr val="tx1"/>
          </a:solidFill>
          <a:latin typeface="+mn-lt"/>
          <a:ea typeface="楷体" pitchFamily="49" charset="-122"/>
        </a:defRPr>
      </a:lvl2pPr>
      <a:lvl3pPr marL="1293813" indent="-4032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楷体" pitchFamily="49" charset="-122"/>
        </a:defRPr>
      </a:lvl3pPr>
      <a:lvl4pPr marL="1681163" indent="-38576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>
          <a:solidFill>
            <a:schemeClr val="tx1"/>
          </a:solidFill>
          <a:latin typeface="+mn-lt"/>
          <a:ea typeface="楷体" pitchFamily="49" charset="-122"/>
        </a:defRPr>
      </a:lvl4pPr>
      <a:lvl5pPr marL="20701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楷体" pitchFamily="49" charset="-122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智能合约案例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案例学习</a:t>
            </a:r>
            <a:r>
              <a:rPr lang="en-US" altLang="zh-CN" dirty="0" smtClean="0"/>
              <a:t>——</a:t>
            </a:r>
            <a:r>
              <a:rPr lang="zh-CN" altLang="en-US" dirty="0"/>
              <a:t>电子</a:t>
            </a:r>
            <a:r>
              <a:rPr lang="zh-CN" altLang="en-US" dirty="0" smtClean="0"/>
              <a:t>投票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电子投票要实现的目标：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将投票权</a:t>
            </a:r>
            <a:r>
              <a:rPr lang="zh-CN" altLang="en-US" dirty="0"/>
              <a:t>分配给正确的</a:t>
            </a:r>
            <a:r>
              <a:rPr lang="zh-CN" altLang="en-US" dirty="0" smtClean="0"/>
              <a:t>人员；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防止投票被操纵；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防止被投票结果被篡改；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实现自动</a:t>
            </a:r>
            <a:r>
              <a:rPr lang="zh-CN" altLang="en-US" dirty="0"/>
              <a:t>和完全透明</a:t>
            </a:r>
            <a:r>
              <a:rPr lang="zh-CN" altLang="en-US" dirty="0" smtClean="0"/>
              <a:t>的计票；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3694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投票智能合约的设计：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为每一个需要投票解决的问题创建一个投票合约；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合约创建者作为投票委员会的主席，其主要权限是确定哪些人具有投票的权力，这通过为投票人拥有的账户地址赋予投票权来实现，在合约代码中设置一个状态变量来记录，由合约创建时的构造函数初始化；</a:t>
            </a:r>
            <a:endParaRPr lang="en-US" altLang="zh-CN" dirty="0" smtClean="0"/>
          </a:p>
          <a:p>
            <a:pPr lvl="2"/>
            <a:r>
              <a:rPr lang="en-US" altLang="zh-CN" dirty="0"/>
              <a:t>address public chairperson;</a:t>
            </a:r>
            <a:endParaRPr lang="en-US" altLang="zh-CN" dirty="0" smtClean="0"/>
          </a:p>
          <a:p>
            <a:pPr lvl="1"/>
            <a:r>
              <a:rPr lang="zh-CN" altLang="en-US" dirty="0"/>
              <a:t>投票</a:t>
            </a:r>
            <a:r>
              <a:rPr lang="zh-CN" altLang="en-US" dirty="0" smtClean="0"/>
              <a:t>人可以通过账户地址实现投票；</a:t>
            </a:r>
            <a:endParaRPr lang="en-US" altLang="zh-CN" dirty="0" smtClean="0"/>
          </a:p>
          <a:p>
            <a:pPr lvl="1"/>
            <a:r>
              <a:rPr lang="zh-CN" altLang="en-US" dirty="0"/>
              <a:t>投票</a:t>
            </a:r>
            <a:r>
              <a:rPr lang="zh-CN" altLang="en-US" dirty="0" smtClean="0"/>
              <a:t>人也可以委托其他人投票，这通过指定委托人账户地址实现；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投票截止后，自动计算得到获得最多投票数的提案。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4348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投票人数据结构设计：</a:t>
            </a:r>
            <a:endParaRPr lang="en-US" altLang="zh-CN" dirty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err="1" smtClean="0"/>
              <a:t>struct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Voter {</a:t>
            </a:r>
          </a:p>
          <a:p>
            <a:pPr marL="0" indent="0"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uint</a:t>
            </a:r>
            <a:r>
              <a:rPr lang="en-US" altLang="zh-CN" sz="2000" dirty="0"/>
              <a:t> weight; // </a:t>
            </a:r>
            <a:r>
              <a:rPr lang="zh-CN" altLang="en-US" sz="2000" dirty="0"/>
              <a:t>计票的权重</a:t>
            </a:r>
          </a:p>
          <a:p>
            <a:pPr marL="0" indent="0">
              <a:buNone/>
            </a:pPr>
            <a:r>
              <a:rPr lang="zh-CN" altLang="en-US" sz="2000" dirty="0"/>
              <a:t>        </a:t>
            </a:r>
            <a:r>
              <a:rPr lang="en-US" altLang="zh-CN" sz="2000" dirty="0"/>
              <a:t>bool voted;  // </a:t>
            </a:r>
            <a:r>
              <a:rPr lang="zh-CN" altLang="en-US" sz="2000" dirty="0"/>
              <a:t>若为真，代表该人已投票</a:t>
            </a:r>
          </a:p>
          <a:p>
            <a:pPr marL="0" indent="0">
              <a:buNone/>
            </a:pPr>
            <a:r>
              <a:rPr lang="zh-CN" altLang="en-US" sz="2000" dirty="0"/>
              <a:t>        </a:t>
            </a:r>
            <a:r>
              <a:rPr lang="en-US" altLang="zh-CN" sz="2000" dirty="0"/>
              <a:t>address delegate; // </a:t>
            </a:r>
            <a:r>
              <a:rPr lang="zh-CN" altLang="en-US" sz="2000" dirty="0"/>
              <a:t>被委托人</a:t>
            </a:r>
          </a:p>
          <a:p>
            <a:pPr marL="0" indent="0">
              <a:buNone/>
            </a:pPr>
            <a:r>
              <a:rPr lang="zh-CN" altLang="en-US" sz="2000" dirty="0"/>
              <a:t>        </a:t>
            </a:r>
            <a:r>
              <a:rPr lang="en-US" altLang="zh-CN" sz="2000" dirty="0" err="1"/>
              <a:t>uint</a:t>
            </a:r>
            <a:r>
              <a:rPr lang="en-US" altLang="zh-CN" sz="2000" dirty="0"/>
              <a:t> vote;   // </a:t>
            </a:r>
            <a:r>
              <a:rPr lang="zh-CN" altLang="en-US" sz="2000" dirty="0"/>
              <a:t>投票提案的索引</a:t>
            </a:r>
          </a:p>
          <a:p>
            <a:pPr marL="0" indent="0">
              <a:buNone/>
            </a:pPr>
            <a:r>
              <a:rPr lang="zh-CN" altLang="en-US" sz="2000" dirty="0"/>
              <a:t>    </a:t>
            </a:r>
            <a:r>
              <a:rPr lang="en-US" altLang="zh-CN" sz="2000" dirty="0" smtClean="0"/>
              <a:t>}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</a:t>
            </a:r>
            <a:r>
              <a:rPr lang="en-US" altLang="zh-CN" sz="2000" dirty="0" smtClean="0"/>
              <a:t>// </a:t>
            </a:r>
            <a:r>
              <a:rPr lang="zh-CN" altLang="en-US" sz="2000" dirty="0" smtClean="0"/>
              <a:t>这声明一个</a:t>
            </a:r>
            <a:r>
              <a:rPr lang="en-US" altLang="zh-CN" sz="2000" dirty="0" smtClean="0"/>
              <a:t>mapping</a:t>
            </a:r>
            <a:r>
              <a:rPr lang="zh-CN" altLang="en-US" sz="2000" dirty="0" smtClean="0"/>
              <a:t>类型的状态变量，其实是建立了账户地址和投票人之间映射的一个哈希表</a:t>
            </a: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mapping(address =&gt; Voter) public voters;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6510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投票候选提案的数据结构设计：</a:t>
            </a:r>
            <a:endParaRPr lang="en-US" altLang="zh-CN" dirty="0" smtClean="0"/>
          </a:p>
          <a:p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err="1"/>
              <a:t>struct</a:t>
            </a:r>
            <a:r>
              <a:rPr lang="en-US" altLang="zh-CN" sz="2400" dirty="0"/>
              <a:t> Proposal {</a:t>
            </a:r>
          </a:p>
          <a:p>
            <a:pPr marL="0" indent="0">
              <a:buNone/>
            </a:pPr>
            <a:r>
              <a:rPr lang="en-US" altLang="zh-CN" sz="2400" dirty="0"/>
              <a:t>        bytes32 name;   // </a:t>
            </a:r>
            <a:r>
              <a:rPr lang="zh-CN" altLang="en-US" sz="2400" dirty="0"/>
              <a:t>简称（最长</a:t>
            </a:r>
            <a:r>
              <a:rPr lang="en-US" altLang="zh-CN" sz="2400" dirty="0"/>
              <a:t>32</a:t>
            </a:r>
            <a:r>
              <a:rPr lang="zh-CN" altLang="en-US" sz="2400" dirty="0"/>
              <a:t>个字节）</a:t>
            </a:r>
          </a:p>
          <a:p>
            <a:pPr marL="0" indent="0">
              <a:buNone/>
            </a:pPr>
            <a:r>
              <a:rPr lang="zh-CN" altLang="en-US" sz="2400" dirty="0"/>
              <a:t>        </a:t>
            </a:r>
            <a:r>
              <a:rPr lang="en-US" altLang="zh-CN" sz="2400" dirty="0" err="1"/>
              <a:t>uint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voteCount</a:t>
            </a:r>
            <a:r>
              <a:rPr lang="en-US" altLang="zh-CN" sz="2400" dirty="0"/>
              <a:t>; // </a:t>
            </a:r>
            <a:r>
              <a:rPr lang="zh-CN" altLang="en-US" sz="2400" dirty="0"/>
              <a:t>得票数</a:t>
            </a:r>
          </a:p>
          <a:p>
            <a:pPr marL="0" indent="0">
              <a:buNone/>
            </a:pPr>
            <a:r>
              <a:rPr lang="en-US" altLang="zh-CN" sz="2400" dirty="0" smtClean="0"/>
              <a:t>}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// </a:t>
            </a:r>
            <a:r>
              <a:rPr lang="zh-CN" altLang="en-US" sz="2400" dirty="0" smtClean="0"/>
              <a:t> 建立一个“</a:t>
            </a:r>
            <a:r>
              <a:rPr lang="en-US" altLang="zh-CN" sz="2400" dirty="0" smtClean="0"/>
              <a:t>Proposal</a:t>
            </a:r>
            <a:r>
              <a:rPr lang="zh-CN" altLang="en-US" sz="2400" dirty="0" smtClean="0"/>
              <a:t>”结构</a:t>
            </a:r>
            <a:r>
              <a:rPr lang="zh-CN" altLang="en-US" sz="2400" dirty="0"/>
              <a:t>类型的动态</a:t>
            </a:r>
            <a:r>
              <a:rPr lang="zh-CN" altLang="en-US" sz="2400" dirty="0" smtClean="0"/>
              <a:t>数组，由合约的构造函数初始化。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Proposal[] public proposals;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334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124744"/>
            <a:ext cx="8856983" cy="5256584"/>
          </a:xfrm>
        </p:spPr>
        <p:txBody>
          <a:bodyPr/>
          <a:lstStyle/>
          <a:p>
            <a:r>
              <a:rPr lang="zh-CN" altLang="en-US" sz="2400" dirty="0" smtClean="0"/>
              <a:t>构造函数，完成主席、投票提案的初始化等工作。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000" dirty="0"/>
              <a:t>constructor(bytes32[] </a:t>
            </a:r>
            <a:r>
              <a:rPr lang="en-US" altLang="zh-CN" sz="2000" dirty="0" err="1"/>
              <a:t>proposalNames</a:t>
            </a:r>
            <a:r>
              <a:rPr lang="en-US" altLang="zh-CN" sz="2000" dirty="0"/>
              <a:t>) public {</a:t>
            </a:r>
          </a:p>
          <a:p>
            <a:pPr marL="0" indent="0">
              <a:buNone/>
            </a:pPr>
            <a:r>
              <a:rPr lang="en-US" altLang="zh-CN" sz="2000" dirty="0"/>
              <a:t>        chairperson = </a:t>
            </a:r>
            <a:r>
              <a:rPr lang="en-US" altLang="zh-CN" sz="2000" dirty="0" err="1"/>
              <a:t>msg.sender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     voters[chairperson].weight = 1;</a:t>
            </a:r>
          </a:p>
          <a:p>
            <a:pPr marL="0" indent="0">
              <a:buNone/>
            </a:pPr>
            <a:r>
              <a:rPr lang="en-US" altLang="zh-CN" sz="2000" dirty="0"/>
              <a:t>        //</a:t>
            </a:r>
            <a:r>
              <a:rPr lang="zh-CN" altLang="en-US" sz="2000" dirty="0"/>
              <a:t>对于提供的每个提案名称，</a:t>
            </a:r>
          </a:p>
          <a:p>
            <a:pPr marL="0" indent="0">
              <a:buNone/>
            </a:pPr>
            <a:r>
              <a:rPr lang="zh-CN" altLang="en-US" sz="2000" dirty="0"/>
              <a:t>        </a:t>
            </a:r>
            <a:r>
              <a:rPr lang="en-US" altLang="zh-CN" sz="2000" dirty="0"/>
              <a:t>//</a:t>
            </a:r>
            <a:r>
              <a:rPr lang="zh-CN" altLang="en-US" sz="2000" dirty="0"/>
              <a:t>创建一个新的 </a:t>
            </a:r>
            <a:r>
              <a:rPr lang="en-US" altLang="zh-CN" sz="2000" dirty="0"/>
              <a:t>Proposal </a:t>
            </a:r>
            <a:r>
              <a:rPr lang="zh-CN" altLang="en-US" sz="2000" dirty="0"/>
              <a:t>对象并把它添加到数组的末尾。</a:t>
            </a:r>
          </a:p>
          <a:p>
            <a:pPr marL="0" indent="0">
              <a:buNone/>
            </a:pPr>
            <a:r>
              <a:rPr lang="zh-CN" altLang="en-US" sz="2000" dirty="0"/>
              <a:t>        </a:t>
            </a:r>
            <a:r>
              <a:rPr lang="en-US" altLang="zh-CN" sz="2000" dirty="0"/>
              <a:t>for (</a:t>
            </a:r>
            <a:r>
              <a:rPr lang="en-US" altLang="zh-CN" sz="2000" dirty="0" err="1"/>
              <a:t>uint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 </a:t>
            </a:r>
            <a:r>
              <a:rPr lang="en-US" altLang="zh-CN" sz="2000" dirty="0" err="1"/>
              <a:t>proposalNames.length</a:t>
            </a:r>
            <a:r>
              <a:rPr lang="en-US" altLang="zh-CN" sz="2000" dirty="0"/>
              <a:t>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{</a:t>
            </a:r>
          </a:p>
          <a:p>
            <a:pPr marL="0" indent="0">
              <a:buNone/>
            </a:pPr>
            <a:r>
              <a:rPr lang="en-US" altLang="zh-CN" sz="2000" dirty="0"/>
              <a:t>            // </a:t>
            </a:r>
            <a:r>
              <a:rPr lang="zh-CN" altLang="en-US" sz="2000" dirty="0" smtClean="0"/>
              <a:t>“</a:t>
            </a:r>
            <a:r>
              <a:rPr lang="en-US" altLang="zh-CN" sz="2000" dirty="0" smtClean="0"/>
              <a:t>Proposal({...})</a:t>
            </a:r>
            <a:r>
              <a:rPr lang="zh-CN" altLang="en-US" sz="2000" dirty="0" smtClean="0"/>
              <a:t>”创建</a:t>
            </a:r>
            <a:r>
              <a:rPr lang="zh-CN" altLang="en-US" sz="2000" dirty="0"/>
              <a:t>一个临时 </a:t>
            </a:r>
            <a:r>
              <a:rPr lang="en-US" altLang="zh-CN" sz="2000" dirty="0"/>
              <a:t>Proposal </a:t>
            </a:r>
            <a:r>
              <a:rPr lang="zh-CN" altLang="en-US" sz="2000" dirty="0"/>
              <a:t>对象，</a:t>
            </a:r>
          </a:p>
          <a:p>
            <a:pPr marL="0" indent="0">
              <a:buNone/>
            </a:pPr>
            <a:r>
              <a:rPr lang="zh-CN" altLang="en-US" sz="2000" dirty="0"/>
              <a:t>            </a:t>
            </a:r>
            <a:r>
              <a:rPr lang="en-US" altLang="zh-CN" sz="2000" dirty="0"/>
              <a:t>// </a:t>
            </a:r>
            <a:r>
              <a:rPr lang="zh-CN" altLang="en-US" sz="2000" dirty="0" smtClean="0"/>
              <a:t>“</a:t>
            </a:r>
            <a:r>
              <a:rPr lang="en-US" altLang="zh-CN" sz="2000" dirty="0" err="1" smtClean="0"/>
              <a:t>proposals.push</a:t>
            </a:r>
            <a:r>
              <a:rPr lang="en-US" altLang="zh-CN" sz="2000" dirty="0" smtClean="0"/>
              <a:t>(...)</a:t>
            </a:r>
            <a:r>
              <a:rPr lang="zh-CN" altLang="en-US" sz="2000" dirty="0" smtClean="0"/>
              <a:t>”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将其添加到 </a:t>
            </a:r>
            <a:r>
              <a:rPr lang="zh-CN" altLang="en-US" sz="2000" dirty="0" smtClean="0"/>
              <a:t>“</a:t>
            </a:r>
            <a:r>
              <a:rPr lang="en-US" altLang="zh-CN" sz="2000" dirty="0" smtClean="0"/>
              <a:t>proposals</a:t>
            </a:r>
            <a:r>
              <a:rPr lang="zh-CN" altLang="en-US" sz="2000" dirty="0" smtClean="0"/>
              <a:t>”动态数组的</a:t>
            </a:r>
            <a:r>
              <a:rPr lang="zh-CN" altLang="en-US" sz="2000" dirty="0"/>
              <a:t>末尾</a:t>
            </a:r>
          </a:p>
          <a:p>
            <a:pPr marL="0" indent="0">
              <a:buNone/>
            </a:pPr>
            <a:r>
              <a:rPr lang="zh-CN" altLang="en-US" sz="2000" dirty="0"/>
              <a:t>            </a:t>
            </a:r>
            <a:r>
              <a:rPr lang="en-US" altLang="zh-CN" sz="2000" dirty="0" err="1"/>
              <a:t>proposals.push</a:t>
            </a:r>
            <a:r>
              <a:rPr lang="en-US" altLang="zh-CN" sz="2000" dirty="0"/>
              <a:t>(Proposal({</a:t>
            </a:r>
          </a:p>
          <a:p>
            <a:pPr marL="0" indent="0">
              <a:buNone/>
            </a:pPr>
            <a:r>
              <a:rPr lang="en-US" altLang="zh-CN" sz="2000" dirty="0"/>
              <a:t>                name: </a:t>
            </a:r>
            <a:r>
              <a:rPr lang="en-US" altLang="zh-CN" sz="2000" dirty="0" err="1"/>
              <a:t>proposalNames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],</a:t>
            </a:r>
          </a:p>
          <a:p>
            <a:pPr marL="0" indent="0">
              <a:buNone/>
            </a:pPr>
            <a:r>
              <a:rPr lang="en-US" altLang="zh-CN" sz="2000" dirty="0"/>
              <a:t>                </a:t>
            </a:r>
            <a:r>
              <a:rPr lang="en-US" altLang="zh-CN" sz="2000" dirty="0" err="1"/>
              <a:t>voteCount</a:t>
            </a:r>
            <a:r>
              <a:rPr lang="en-US" altLang="zh-CN" sz="2000" dirty="0"/>
              <a:t>: 0</a:t>
            </a:r>
          </a:p>
          <a:p>
            <a:pPr marL="0" indent="0">
              <a:buNone/>
            </a:pPr>
            <a:r>
              <a:rPr lang="en-US" altLang="zh-CN" sz="2000" dirty="0"/>
              <a:t>            }));</a:t>
            </a:r>
          </a:p>
          <a:p>
            <a:pPr marL="0" indent="0">
              <a:buNone/>
            </a:pPr>
            <a:r>
              <a:rPr lang="en-US" altLang="zh-CN" sz="2000" dirty="0"/>
              <a:t>        }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3496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5" cy="5400600"/>
          </a:xfrm>
        </p:spPr>
        <p:txBody>
          <a:bodyPr/>
          <a:lstStyle/>
          <a:p>
            <a:r>
              <a:rPr lang="zh-CN" altLang="en-US" sz="2400" dirty="0" smtClean="0"/>
              <a:t>投票开始前，主席向合法投票人授权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1800" dirty="0"/>
              <a:t>function </a:t>
            </a:r>
            <a:r>
              <a:rPr lang="en-US" altLang="zh-CN" sz="1800" dirty="0" err="1"/>
              <a:t>giveRightToVote</a:t>
            </a:r>
            <a:r>
              <a:rPr lang="en-US" altLang="zh-CN" sz="1800" dirty="0"/>
              <a:t>(address voter) public </a:t>
            </a:r>
            <a:r>
              <a:rPr lang="en-US" altLang="zh-CN" sz="1800" dirty="0" smtClean="0"/>
              <a:t>{</a:t>
            </a:r>
          </a:p>
          <a:p>
            <a:pPr marL="0" indent="0"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 // </a:t>
            </a:r>
            <a:r>
              <a:rPr lang="zh-CN" altLang="en-US" sz="1800" dirty="0" smtClean="0"/>
              <a:t>这里的</a:t>
            </a:r>
            <a:r>
              <a:rPr lang="en-US" altLang="zh-CN" sz="1800" dirty="0" smtClean="0"/>
              <a:t>require</a:t>
            </a:r>
            <a:r>
              <a:rPr lang="zh-CN" altLang="en-US" sz="1800" dirty="0" smtClean="0"/>
              <a:t>函数都可以被函数修改器替代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smtClean="0"/>
              <a:t>require</a:t>
            </a:r>
            <a:r>
              <a:rPr lang="en-US" altLang="zh-CN" sz="1800" dirty="0"/>
              <a:t>(</a:t>
            </a:r>
          </a:p>
          <a:p>
            <a:pPr marL="0" indent="0"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 == chairperson</a:t>
            </a:r>
            <a:r>
              <a:rPr lang="en-US" altLang="zh-CN" sz="1800" dirty="0" smtClean="0"/>
              <a:t>,   // </a:t>
            </a:r>
            <a:r>
              <a:rPr lang="zh-CN" altLang="en-US" sz="1800" dirty="0" smtClean="0"/>
              <a:t>只有主席能执行这个授权函数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       "Only chairperson can give right to vote."</a:t>
            </a:r>
          </a:p>
          <a:p>
            <a:pPr marL="0" indent="0">
              <a:buNone/>
            </a:pPr>
            <a:r>
              <a:rPr lang="en-US" altLang="zh-CN" sz="1800" dirty="0"/>
              <a:t>        );</a:t>
            </a:r>
          </a:p>
          <a:p>
            <a:pPr marL="0" indent="0">
              <a:buNone/>
            </a:pPr>
            <a:r>
              <a:rPr lang="en-US" altLang="zh-CN" sz="1800" dirty="0"/>
              <a:t>        require(</a:t>
            </a:r>
          </a:p>
          <a:p>
            <a:pPr marL="0" indent="0">
              <a:buNone/>
            </a:pPr>
            <a:r>
              <a:rPr lang="en-US" altLang="zh-CN" sz="1800" dirty="0"/>
              <a:t>            !voters[voter].voted</a:t>
            </a:r>
            <a:r>
              <a:rPr lang="en-US" altLang="zh-CN" sz="1800" dirty="0" smtClean="0"/>
              <a:t>,   // </a:t>
            </a:r>
            <a:r>
              <a:rPr lang="zh-CN" altLang="en-US" sz="1800" dirty="0" smtClean="0"/>
              <a:t>被授权的投票人应该还没有投过票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       "The voter already voted."</a:t>
            </a:r>
          </a:p>
          <a:p>
            <a:pPr marL="0" indent="0">
              <a:buNone/>
            </a:pPr>
            <a:r>
              <a:rPr lang="en-US" altLang="zh-CN" sz="1800" dirty="0"/>
              <a:t>        );</a:t>
            </a:r>
          </a:p>
          <a:p>
            <a:pPr marL="0" indent="0">
              <a:buNone/>
            </a:pPr>
            <a:r>
              <a:rPr lang="en-US" altLang="zh-CN" sz="1800" dirty="0"/>
              <a:t>        require(voters[voter].weight == 0</a:t>
            </a:r>
            <a:r>
              <a:rPr lang="en-US" altLang="zh-CN" sz="1800" dirty="0" smtClean="0"/>
              <a:t>);     // </a:t>
            </a:r>
            <a:r>
              <a:rPr lang="zh-CN" altLang="en-US" sz="1800" dirty="0" smtClean="0"/>
              <a:t>要求计票权重一开始为</a:t>
            </a:r>
            <a:r>
              <a:rPr lang="en-US" altLang="zh-CN" sz="1800" dirty="0" smtClean="0"/>
              <a:t>0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   voters[voter].weight = 1;</a:t>
            </a:r>
          </a:p>
          <a:p>
            <a:pPr marL="0" indent="0">
              <a:buNone/>
            </a:pPr>
            <a:r>
              <a:rPr lang="en-US" altLang="zh-CN" sz="1800" dirty="0"/>
              <a:t>    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6414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5656" y="116632"/>
            <a:ext cx="5616575" cy="576262"/>
          </a:xfrm>
        </p:spPr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96" y="692894"/>
            <a:ext cx="9108504" cy="5904111"/>
          </a:xfrm>
        </p:spPr>
        <p:txBody>
          <a:bodyPr/>
          <a:lstStyle/>
          <a:p>
            <a:r>
              <a:rPr lang="zh-CN" altLang="en-US" sz="1600" dirty="0" smtClean="0"/>
              <a:t>投票人可以将投票权委托给其他投票人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 function delegate(address to) public {</a:t>
            </a:r>
          </a:p>
          <a:p>
            <a:pPr marL="0" indent="0">
              <a:buNone/>
            </a:pPr>
            <a:r>
              <a:rPr lang="zh-CN" altLang="en-US" sz="1600" dirty="0" smtClean="0"/>
              <a:t>        </a:t>
            </a:r>
            <a:r>
              <a:rPr lang="en-US" altLang="zh-CN" sz="1600" dirty="0" smtClean="0"/>
              <a:t>Voter storage sender = voters[</a:t>
            </a:r>
            <a:r>
              <a:rPr lang="en-US" altLang="zh-CN" sz="1600" dirty="0" err="1" smtClean="0"/>
              <a:t>msg.sender</a:t>
            </a:r>
            <a:r>
              <a:rPr lang="en-US" altLang="zh-CN" sz="1600" dirty="0" smtClean="0"/>
              <a:t>];  // storage</a:t>
            </a:r>
            <a:r>
              <a:rPr lang="zh-CN" altLang="en-US" sz="1600" dirty="0" smtClean="0"/>
              <a:t>表示传引用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      </a:t>
            </a:r>
            <a:r>
              <a:rPr lang="en-US" altLang="zh-CN" sz="1600" dirty="0"/>
              <a:t>require(!</a:t>
            </a:r>
            <a:r>
              <a:rPr lang="en-US" altLang="zh-CN" sz="1600" dirty="0" err="1"/>
              <a:t>sender.voted</a:t>
            </a:r>
            <a:r>
              <a:rPr lang="en-US" altLang="zh-CN" sz="1600" dirty="0"/>
              <a:t>, </a:t>
            </a:r>
            <a:r>
              <a:rPr lang="en-US" altLang="zh-CN" sz="1600" dirty="0" smtClean="0"/>
              <a:t>“You </a:t>
            </a:r>
            <a:r>
              <a:rPr lang="en-US" altLang="zh-CN" sz="1600" dirty="0"/>
              <a:t>already voted</a:t>
            </a:r>
            <a:r>
              <a:rPr lang="en-US" altLang="zh-CN" sz="1600" dirty="0" smtClean="0"/>
              <a:t>.”); // </a:t>
            </a:r>
            <a:r>
              <a:rPr lang="zh-CN" altLang="en-US" sz="1600" dirty="0" smtClean="0"/>
              <a:t>委托人应该还没投过票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  </a:t>
            </a:r>
            <a:r>
              <a:rPr lang="en-US" altLang="zh-CN" sz="1600" dirty="0"/>
              <a:t>require(to != </a:t>
            </a:r>
            <a:r>
              <a:rPr lang="en-US" altLang="zh-CN" sz="1600" dirty="0" err="1"/>
              <a:t>msg.sender</a:t>
            </a:r>
            <a:r>
              <a:rPr lang="en-US" altLang="zh-CN" sz="1600" dirty="0"/>
              <a:t>, </a:t>
            </a:r>
            <a:r>
              <a:rPr lang="en-US" altLang="zh-CN" sz="1600" dirty="0" smtClean="0"/>
              <a:t>“Self-delegation </a:t>
            </a:r>
            <a:r>
              <a:rPr lang="en-US" altLang="zh-CN" sz="1600" dirty="0"/>
              <a:t>is disallowed</a:t>
            </a:r>
            <a:r>
              <a:rPr lang="en-US" altLang="zh-CN" sz="1600" dirty="0" smtClean="0"/>
              <a:t>.”); // </a:t>
            </a:r>
            <a:r>
              <a:rPr lang="zh-CN" altLang="en-US" sz="1600" dirty="0" smtClean="0"/>
              <a:t>不能委托自己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  /</a:t>
            </a:r>
            <a:r>
              <a:rPr lang="zh-CN" altLang="en-US" sz="1600" dirty="0" smtClean="0"/>
              <a:t>*</a:t>
            </a:r>
            <a:r>
              <a:rPr lang="en-US" altLang="zh-CN" sz="1600" dirty="0" smtClean="0"/>
              <a:t> </a:t>
            </a:r>
            <a:r>
              <a:rPr lang="zh-CN" altLang="en-US" sz="1600" dirty="0"/>
              <a:t>委托是可以传递的，只要被委托</a:t>
            </a:r>
            <a:r>
              <a:rPr lang="zh-CN" altLang="en-US" sz="1600" dirty="0" smtClean="0"/>
              <a:t>者“</a:t>
            </a:r>
            <a:r>
              <a:rPr lang="en-US" altLang="zh-CN" sz="1600" dirty="0" smtClean="0"/>
              <a:t>to</a:t>
            </a:r>
            <a:r>
              <a:rPr lang="zh-CN" altLang="en-US" sz="1600" dirty="0" smtClean="0"/>
              <a:t>”也</a:t>
            </a:r>
            <a:r>
              <a:rPr lang="zh-CN" altLang="en-US" sz="1600" dirty="0"/>
              <a:t>设置了委托</a:t>
            </a:r>
            <a:r>
              <a:rPr lang="zh-CN" altLang="en-US" sz="1600" dirty="0" smtClean="0"/>
              <a:t>。但是需要避免委托链条太长导致消耗完所有</a:t>
            </a:r>
            <a:r>
              <a:rPr lang="en-US" altLang="zh-CN" sz="1600" dirty="0" smtClean="0"/>
              <a:t>gas</a:t>
            </a:r>
            <a:r>
              <a:rPr lang="zh-CN" altLang="en-US" sz="1600" dirty="0" smtClean="0"/>
              <a:t>，或者委托形成</a:t>
            </a:r>
            <a:r>
              <a:rPr lang="zh-CN" altLang="en-US" sz="1600" dirty="0"/>
              <a:t>闭环</a:t>
            </a:r>
            <a:r>
              <a:rPr lang="zh-CN" altLang="en-US" sz="1600" dirty="0" smtClean="0"/>
              <a:t>，导致合约</a:t>
            </a:r>
            <a:r>
              <a:rPr lang="zh-CN" altLang="en-US" sz="1600" dirty="0"/>
              <a:t>完全卡住</a:t>
            </a:r>
            <a:r>
              <a:rPr lang="zh-CN" altLang="en-US" sz="1600" dirty="0" smtClean="0"/>
              <a:t>。*</a:t>
            </a:r>
            <a:r>
              <a:rPr lang="en-US" altLang="zh-CN" sz="1600" dirty="0" smtClean="0"/>
              <a:t>/</a:t>
            </a: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        </a:t>
            </a:r>
            <a:r>
              <a:rPr lang="en-US" altLang="zh-CN" sz="1600" dirty="0"/>
              <a:t>while (voters[to].delegate != address(0)) {</a:t>
            </a:r>
          </a:p>
          <a:p>
            <a:pPr marL="0" indent="0">
              <a:buNone/>
            </a:pPr>
            <a:r>
              <a:rPr lang="en-US" altLang="zh-CN" sz="1600" dirty="0"/>
              <a:t>            to = voters[to].delegate;</a:t>
            </a:r>
          </a:p>
          <a:p>
            <a:pPr marL="0" indent="0">
              <a:buNone/>
            </a:pPr>
            <a:r>
              <a:rPr lang="en-US" altLang="zh-CN" sz="1600" dirty="0" smtClean="0"/>
              <a:t>            require(to </a:t>
            </a:r>
            <a:r>
              <a:rPr lang="en-US" altLang="zh-CN" sz="1600" dirty="0"/>
              <a:t>!= </a:t>
            </a:r>
            <a:r>
              <a:rPr lang="en-US" altLang="zh-CN" sz="1600" dirty="0" err="1"/>
              <a:t>msg.sender</a:t>
            </a:r>
            <a:r>
              <a:rPr lang="en-US" altLang="zh-CN" sz="1600" dirty="0"/>
              <a:t>, </a:t>
            </a:r>
            <a:r>
              <a:rPr lang="en-US" altLang="zh-CN" sz="1600" dirty="0" smtClean="0"/>
              <a:t>“Found </a:t>
            </a:r>
            <a:r>
              <a:rPr lang="en-US" altLang="zh-CN" sz="1600" dirty="0"/>
              <a:t>loop in delegation</a:t>
            </a:r>
            <a:r>
              <a:rPr lang="en-US" altLang="zh-CN" sz="1600" dirty="0" smtClean="0"/>
              <a:t>.”); // </a:t>
            </a:r>
            <a:r>
              <a:rPr lang="zh-CN" altLang="en-US" sz="1600" dirty="0" smtClean="0"/>
              <a:t>防止闭环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     }</a:t>
            </a:r>
          </a:p>
          <a:p>
            <a:pPr marL="0" indent="0">
              <a:buNone/>
            </a:pPr>
            <a:r>
              <a:rPr lang="en-US" altLang="zh-CN" sz="1600" dirty="0" smtClean="0"/>
              <a:t>        </a:t>
            </a:r>
            <a:r>
              <a:rPr lang="en-US" altLang="zh-CN" sz="1600" dirty="0" err="1" smtClean="0"/>
              <a:t>sender.voted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= true</a:t>
            </a:r>
            <a:r>
              <a:rPr lang="en-US" altLang="zh-CN" sz="1600" dirty="0" smtClean="0"/>
              <a:t>;    // </a:t>
            </a:r>
            <a:r>
              <a:rPr lang="zh-CN" altLang="en-US" sz="1600" dirty="0" smtClean="0"/>
              <a:t>委托别人后，相当于自己已投过票了，票数会有被委托人的投票体现；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sender.delegate</a:t>
            </a:r>
            <a:r>
              <a:rPr lang="en-US" altLang="zh-CN" sz="1600" dirty="0"/>
              <a:t> = to</a:t>
            </a:r>
            <a:r>
              <a:rPr lang="en-US" altLang="zh-CN" sz="1600" dirty="0" smtClean="0"/>
              <a:t>;   // </a:t>
            </a:r>
            <a:r>
              <a:rPr lang="zh-CN" altLang="en-US" sz="1600" dirty="0" smtClean="0"/>
              <a:t>记录下委托了谁，以备自己被别人委托时可以传递委托；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     Voter storage delegate_ = voters[to</a:t>
            </a:r>
            <a:r>
              <a:rPr lang="en-US" altLang="zh-CN" sz="1600" dirty="0" smtClean="0"/>
              <a:t>];    // </a:t>
            </a:r>
            <a:r>
              <a:rPr lang="zh-CN" altLang="en-US" sz="1600" dirty="0" smtClean="0"/>
              <a:t>得到被委托人的引用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     if (</a:t>
            </a:r>
            <a:r>
              <a:rPr lang="en-US" altLang="zh-CN" sz="1600" dirty="0" err="1"/>
              <a:t>delegate_.voted</a:t>
            </a:r>
            <a:r>
              <a:rPr lang="en-US" altLang="zh-CN" sz="1600" dirty="0"/>
              <a:t>) {</a:t>
            </a:r>
          </a:p>
          <a:p>
            <a:pPr marL="0" indent="0">
              <a:buNone/>
            </a:pPr>
            <a:r>
              <a:rPr lang="en-US" altLang="zh-CN" sz="1600" dirty="0"/>
              <a:t>            // </a:t>
            </a:r>
            <a:r>
              <a:rPr lang="zh-CN" altLang="en-US" sz="1600" dirty="0"/>
              <a:t>若被委托者已经投过票了，直接增加得票数</a:t>
            </a:r>
          </a:p>
          <a:p>
            <a:pPr marL="0" indent="0">
              <a:buNone/>
            </a:pPr>
            <a:r>
              <a:rPr lang="zh-CN" altLang="en-US" sz="1600" dirty="0"/>
              <a:t>            </a:t>
            </a:r>
            <a:r>
              <a:rPr lang="en-US" altLang="zh-CN" sz="1600" dirty="0"/>
              <a:t>proposals[</a:t>
            </a:r>
            <a:r>
              <a:rPr lang="en-US" altLang="zh-CN" sz="1600" dirty="0" err="1"/>
              <a:t>delegate_.vote</a:t>
            </a:r>
            <a:r>
              <a:rPr lang="en-US" altLang="zh-CN" sz="1600" dirty="0"/>
              <a:t>].</a:t>
            </a:r>
            <a:r>
              <a:rPr lang="en-US" altLang="zh-CN" sz="1600" dirty="0" err="1"/>
              <a:t>voteCount</a:t>
            </a:r>
            <a:r>
              <a:rPr lang="en-US" altLang="zh-CN" sz="1600" dirty="0"/>
              <a:t> += </a:t>
            </a:r>
            <a:r>
              <a:rPr lang="en-US" altLang="zh-CN" sz="1600" dirty="0" err="1"/>
              <a:t>sender.weight</a:t>
            </a:r>
            <a:r>
              <a:rPr lang="en-US" altLang="zh-CN" sz="1600" dirty="0"/>
              <a:t>;</a:t>
            </a:r>
          </a:p>
          <a:p>
            <a:pPr marL="0" indent="0">
              <a:buNone/>
            </a:pPr>
            <a:r>
              <a:rPr lang="en-US" altLang="zh-CN" sz="1600" dirty="0"/>
              <a:t>        } else {</a:t>
            </a:r>
          </a:p>
          <a:p>
            <a:pPr marL="0" indent="0">
              <a:buNone/>
            </a:pPr>
            <a:r>
              <a:rPr lang="en-US" altLang="zh-CN" sz="1600" dirty="0" smtClean="0"/>
              <a:t>             </a:t>
            </a:r>
            <a:r>
              <a:rPr lang="en-US" altLang="zh-CN" sz="1600" dirty="0" err="1" smtClean="0"/>
              <a:t>delegate</a:t>
            </a:r>
            <a:r>
              <a:rPr lang="en-US" altLang="zh-CN" sz="1600" dirty="0" err="1"/>
              <a:t>_.weight</a:t>
            </a:r>
            <a:r>
              <a:rPr lang="en-US" altLang="zh-CN" sz="1600" dirty="0"/>
              <a:t> += </a:t>
            </a:r>
            <a:r>
              <a:rPr lang="en-US" altLang="zh-CN" sz="1600" dirty="0" err="1"/>
              <a:t>sender.weight</a:t>
            </a:r>
            <a:r>
              <a:rPr lang="en-US" altLang="zh-CN" sz="1600" dirty="0" smtClean="0"/>
              <a:t>; </a:t>
            </a:r>
            <a:r>
              <a:rPr lang="en-US" altLang="zh-CN" sz="1600" dirty="0"/>
              <a:t>// </a:t>
            </a:r>
            <a:r>
              <a:rPr lang="zh-CN" altLang="en-US" sz="1600" dirty="0"/>
              <a:t>若被委托者还没投票，增加委托者的权重</a:t>
            </a:r>
          </a:p>
          <a:p>
            <a:pPr marL="0" indent="0">
              <a:buNone/>
            </a:pPr>
            <a:r>
              <a:rPr lang="en-US" altLang="zh-CN" sz="1600" dirty="0" smtClean="0"/>
              <a:t>        </a:t>
            </a:r>
            <a:r>
              <a:rPr lang="en-US" altLang="zh-CN" sz="1600" dirty="0"/>
              <a:t>}</a:t>
            </a:r>
          </a:p>
          <a:p>
            <a:pPr marL="0" indent="0">
              <a:buNone/>
            </a:pPr>
            <a:r>
              <a:rPr lang="en-US" altLang="zh-CN" sz="1600" dirty="0"/>
              <a:t>    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9033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268760"/>
            <a:ext cx="8712967" cy="5184576"/>
          </a:xfrm>
        </p:spPr>
        <p:txBody>
          <a:bodyPr/>
          <a:lstStyle/>
          <a:p>
            <a:r>
              <a:rPr lang="zh-CN" altLang="en-US" dirty="0" smtClean="0"/>
              <a:t>实现投票的函数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dirty="0"/>
              <a:t>function vote(</a:t>
            </a:r>
            <a:r>
              <a:rPr lang="en-US" altLang="zh-CN" sz="2400" dirty="0" err="1"/>
              <a:t>uint</a:t>
            </a:r>
            <a:r>
              <a:rPr lang="en-US" altLang="zh-CN" sz="2400" dirty="0"/>
              <a:t> proposal) public </a:t>
            </a:r>
            <a:r>
              <a:rPr lang="en-US" altLang="zh-CN" sz="2400" dirty="0" smtClean="0"/>
              <a:t>{</a:t>
            </a:r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// </a:t>
            </a:r>
            <a:r>
              <a:rPr lang="zh-CN" altLang="en-US" sz="2400" dirty="0" smtClean="0"/>
              <a:t>调用合约方法的账户地址就是投票人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Voter storage sender = voters[</a:t>
            </a:r>
            <a:r>
              <a:rPr lang="en-US" altLang="zh-CN" sz="2400" dirty="0" err="1"/>
              <a:t>msg.sender</a:t>
            </a:r>
            <a:r>
              <a:rPr lang="en-US" altLang="zh-CN" sz="2400" dirty="0"/>
              <a:t>];</a:t>
            </a:r>
          </a:p>
          <a:p>
            <a:pPr marL="0" indent="0">
              <a:buNone/>
            </a:pPr>
            <a:r>
              <a:rPr lang="en-US" altLang="zh-CN" sz="2400" dirty="0"/>
              <a:t>        require(!</a:t>
            </a:r>
            <a:r>
              <a:rPr lang="en-US" altLang="zh-CN" sz="2400" dirty="0" err="1"/>
              <a:t>sender.voted</a:t>
            </a:r>
            <a:r>
              <a:rPr lang="en-US" altLang="zh-CN" sz="2400" dirty="0"/>
              <a:t>, "Already voted.");</a:t>
            </a:r>
          </a:p>
          <a:p>
            <a:pPr marL="0" indent="0"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sender.voted</a:t>
            </a:r>
            <a:r>
              <a:rPr lang="en-US" altLang="zh-CN" sz="2400" dirty="0"/>
              <a:t> = true;</a:t>
            </a:r>
          </a:p>
          <a:p>
            <a:pPr marL="0" indent="0"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sender.vote</a:t>
            </a:r>
            <a:r>
              <a:rPr lang="en-US" altLang="zh-CN" sz="2400" dirty="0"/>
              <a:t> = proposal;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// </a:t>
            </a:r>
            <a:r>
              <a:rPr lang="zh-CN" altLang="en-US" sz="2400" dirty="0" smtClean="0"/>
              <a:t>如果“</a:t>
            </a:r>
            <a:r>
              <a:rPr lang="en-US" altLang="zh-CN" sz="2400" dirty="0" smtClean="0"/>
              <a:t>proposal</a:t>
            </a:r>
            <a:r>
              <a:rPr lang="zh-CN" altLang="en-US" sz="2400" dirty="0" smtClean="0"/>
              <a:t>”超过</a:t>
            </a:r>
            <a:r>
              <a:rPr lang="zh-CN" altLang="en-US" sz="2400" dirty="0"/>
              <a:t>了数组的范围，则会自动抛出异常，并恢复所有的改动</a:t>
            </a:r>
          </a:p>
          <a:p>
            <a:pPr marL="0" indent="0"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proposals[proposal].</a:t>
            </a:r>
            <a:r>
              <a:rPr lang="en-US" altLang="zh-CN" sz="2400" dirty="0" err="1"/>
              <a:t>voteCount</a:t>
            </a:r>
            <a:r>
              <a:rPr lang="en-US" altLang="zh-CN" sz="2400" dirty="0"/>
              <a:t> += </a:t>
            </a:r>
            <a:r>
              <a:rPr lang="en-US" altLang="zh-CN" sz="2400" dirty="0" err="1"/>
              <a:t>sender.weight</a:t>
            </a:r>
            <a:r>
              <a:rPr lang="en-US" altLang="zh-CN" sz="2400" dirty="0"/>
              <a:t>;</a:t>
            </a:r>
          </a:p>
          <a:p>
            <a:pPr marL="0" indent="0">
              <a:buNone/>
            </a:pPr>
            <a:r>
              <a:rPr lang="en-US" altLang="zh-CN" sz="2400" dirty="0"/>
              <a:t>    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97903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5" cy="5616624"/>
          </a:xfrm>
        </p:spPr>
        <p:txBody>
          <a:bodyPr/>
          <a:lstStyle/>
          <a:p>
            <a:r>
              <a:rPr lang="zh-CN" altLang="en-US" dirty="0" smtClean="0"/>
              <a:t>计票得到获胜提案的函数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dirty="0" smtClean="0"/>
              <a:t>// </a:t>
            </a:r>
            <a:r>
              <a:rPr lang="zh-CN" altLang="en-US" sz="2400" dirty="0" smtClean="0"/>
              <a:t>不会修改状态变量的值，所以函数被</a:t>
            </a:r>
            <a:r>
              <a:rPr lang="en-US" altLang="zh-CN" sz="2400" dirty="0" smtClean="0"/>
              <a:t>view</a:t>
            </a:r>
            <a:r>
              <a:rPr lang="zh-CN" altLang="en-US" sz="2400" dirty="0" smtClean="0"/>
              <a:t>修饰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 </a:t>
            </a:r>
            <a:r>
              <a:rPr lang="en-US" altLang="zh-CN" sz="2400" dirty="0"/>
              <a:t>function </a:t>
            </a:r>
            <a:r>
              <a:rPr lang="en-US" altLang="zh-CN" sz="2400" dirty="0" err="1"/>
              <a:t>winningProposal</a:t>
            </a:r>
            <a:r>
              <a:rPr lang="en-US" altLang="zh-CN" sz="2400" dirty="0"/>
              <a:t>() public view</a:t>
            </a:r>
          </a:p>
          <a:p>
            <a:pPr marL="0" indent="0">
              <a:buNone/>
            </a:pPr>
            <a:r>
              <a:rPr lang="en-US" altLang="zh-CN" sz="2400" dirty="0"/>
              <a:t>            returns (</a:t>
            </a:r>
            <a:r>
              <a:rPr lang="en-US" altLang="zh-CN" sz="2400" dirty="0" err="1"/>
              <a:t>uint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winningProposal</a:t>
            </a:r>
            <a:r>
              <a:rPr lang="en-US" altLang="zh-CN" sz="2400" dirty="0"/>
              <a:t>_)</a:t>
            </a:r>
          </a:p>
          <a:p>
            <a:pPr marL="0" indent="0">
              <a:buNone/>
            </a:pPr>
            <a:r>
              <a:rPr lang="en-US" altLang="zh-CN" sz="2400" dirty="0"/>
              <a:t>    {</a:t>
            </a:r>
          </a:p>
          <a:p>
            <a:pPr marL="0" indent="0"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uint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winningVoteCount</a:t>
            </a:r>
            <a:r>
              <a:rPr lang="en-US" altLang="zh-CN" sz="2400" dirty="0"/>
              <a:t> = 0;</a:t>
            </a:r>
          </a:p>
          <a:p>
            <a:pPr marL="0" indent="0">
              <a:buNone/>
            </a:pPr>
            <a:r>
              <a:rPr lang="en-US" altLang="zh-CN" sz="2400" dirty="0"/>
              <a:t>        for (</a:t>
            </a:r>
            <a:r>
              <a:rPr lang="en-US" altLang="zh-CN" sz="2400" dirty="0" err="1"/>
              <a:t>uint</a:t>
            </a:r>
            <a:r>
              <a:rPr lang="en-US" altLang="zh-CN" sz="2400" dirty="0"/>
              <a:t> p = 0; p &lt; </a:t>
            </a:r>
            <a:r>
              <a:rPr lang="en-US" altLang="zh-CN" sz="2400" dirty="0" err="1"/>
              <a:t>proposals.length</a:t>
            </a:r>
            <a:r>
              <a:rPr lang="en-US" altLang="zh-CN" sz="2400" dirty="0"/>
              <a:t>; p++) {</a:t>
            </a:r>
          </a:p>
          <a:p>
            <a:pPr marL="0" indent="0">
              <a:buNone/>
            </a:pPr>
            <a:r>
              <a:rPr lang="en-US" altLang="zh-CN" sz="2400" dirty="0"/>
              <a:t>            if (proposals[p].</a:t>
            </a:r>
            <a:r>
              <a:rPr lang="en-US" altLang="zh-CN" sz="2400" dirty="0" err="1"/>
              <a:t>voteCount</a:t>
            </a:r>
            <a:r>
              <a:rPr lang="en-US" altLang="zh-CN" sz="2400" dirty="0"/>
              <a:t> &gt; </a:t>
            </a:r>
            <a:r>
              <a:rPr lang="en-US" altLang="zh-CN" sz="2400" dirty="0" err="1"/>
              <a:t>winningVoteCount</a:t>
            </a:r>
            <a:r>
              <a:rPr lang="en-US" altLang="zh-CN" sz="2400" dirty="0"/>
              <a:t>) {</a:t>
            </a:r>
          </a:p>
          <a:p>
            <a:pPr marL="0" indent="0">
              <a:buNone/>
            </a:pPr>
            <a:r>
              <a:rPr lang="en-US" altLang="zh-CN" sz="2400" dirty="0"/>
              <a:t>                </a:t>
            </a:r>
            <a:r>
              <a:rPr lang="en-US" altLang="zh-CN" sz="2400" dirty="0" err="1"/>
              <a:t>winningVoteCount</a:t>
            </a:r>
            <a:r>
              <a:rPr lang="en-US" altLang="zh-CN" sz="2400" dirty="0"/>
              <a:t> = proposals[p].</a:t>
            </a:r>
            <a:r>
              <a:rPr lang="en-US" altLang="zh-CN" sz="2400" dirty="0" err="1"/>
              <a:t>voteCount</a:t>
            </a:r>
            <a:r>
              <a:rPr lang="en-US" altLang="zh-CN" sz="2400" dirty="0"/>
              <a:t>;</a:t>
            </a:r>
          </a:p>
          <a:p>
            <a:pPr marL="0" indent="0">
              <a:buNone/>
            </a:pPr>
            <a:r>
              <a:rPr lang="en-US" altLang="zh-CN" sz="2400" dirty="0"/>
              <a:t>                </a:t>
            </a:r>
            <a:r>
              <a:rPr lang="en-US" altLang="zh-CN" sz="2400" dirty="0" err="1"/>
              <a:t>winningProposal</a:t>
            </a:r>
            <a:r>
              <a:rPr lang="en-US" altLang="zh-CN" sz="2400" dirty="0"/>
              <a:t>_ = p;</a:t>
            </a:r>
          </a:p>
          <a:p>
            <a:pPr marL="0" indent="0">
              <a:buNone/>
            </a:pPr>
            <a:r>
              <a:rPr lang="en-US" altLang="zh-CN" sz="2400" dirty="0"/>
              <a:t>            }</a:t>
            </a:r>
          </a:p>
          <a:p>
            <a:pPr marL="0" indent="0">
              <a:buNone/>
            </a:pPr>
            <a:r>
              <a:rPr lang="en-US" altLang="zh-CN" sz="2400" dirty="0"/>
              <a:t>        }</a:t>
            </a:r>
          </a:p>
          <a:p>
            <a:pPr marL="0" indent="0">
              <a:buNone/>
            </a:pPr>
            <a:r>
              <a:rPr lang="en-US" altLang="zh-CN" sz="2400" dirty="0"/>
              <a:t>    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4967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返回获胜提案名的函数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function </a:t>
            </a:r>
            <a:r>
              <a:rPr lang="en-US" altLang="zh-CN" dirty="0" err="1"/>
              <a:t>winnerName</a:t>
            </a:r>
            <a:r>
              <a:rPr lang="en-US" altLang="zh-CN" dirty="0"/>
              <a:t>() public view</a:t>
            </a:r>
          </a:p>
          <a:p>
            <a:pPr marL="0" indent="0">
              <a:buNone/>
            </a:pPr>
            <a:r>
              <a:rPr lang="en-US" altLang="zh-CN" dirty="0"/>
              <a:t>            returns (bytes32 </a:t>
            </a:r>
            <a:r>
              <a:rPr lang="en-US" altLang="zh-CN" dirty="0" err="1"/>
              <a:t>winnerName</a:t>
            </a:r>
            <a:r>
              <a:rPr lang="en-US" altLang="zh-CN" dirty="0"/>
              <a:t>_)</a:t>
            </a:r>
          </a:p>
          <a:p>
            <a:pPr marL="0" indent="0">
              <a:buNone/>
            </a:pPr>
            <a:r>
              <a:rPr lang="en-US" altLang="zh-CN" dirty="0"/>
              <a:t>    {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winnerName</a:t>
            </a:r>
            <a:r>
              <a:rPr lang="en-US" altLang="zh-CN" dirty="0"/>
              <a:t>_ = proposals[</a:t>
            </a:r>
            <a:r>
              <a:rPr lang="en-US" altLang="zh-CN" dirty="0" err="1"/>
              <a:t>winningProposal</a:t>
            </a:r>
            <a:r>
              <a:rPr lang="en-US" altLang="zh-CN" dirty="0"/>
              <a:t>()].name;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2030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1" y="1268760"/>
            <a:ext cx="8359080" cy="4608165"/>
          </a:xfrm>
        </p:spPr>
        <p:txBody>
          <a:bodyPr/>
          <a:lstStyle/>
          <a:p>
            <a:r>
              <a:rPr lang="zh-CN" altLang="en-US" dirty="0" smtClean="0"/>
              <a:t>利用</a:t>
            </a:r>
            <a:r>
              <a:rPr lang="en-US" altLang="zh-CN" dirty="0" smtClean="0"/>
              <a:t>remix</a:t>
            </a:r>
            <a:r>
              <a:rPr lang="zh-CN" altLang="en-US" dirty="0" smtClean="0"/>
              <a:t>和</a:t>
            </a:r>
            <a:r>
              <a:rPr lang="en-US" altLang="zh-CN" dirty="0" smtClean="0"/>
              <a:t>ganache</a:t>
            </a:r>
            <a:r>
              <a:rPr lang="zh-CN" altLang="en-US" dirty="0" smtClean="0"/>
              <a:t>部署和测试：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运行</a:t>
            </a:r>
            <a:r>
              <a:rPr lang="en-US" altLang="zh-CN" dirty="0" smtClean="0"/>
              <a:t>ganache</a:t>
            </a:r>
            <a:endParaRPr lang="en-US" altLang="zh-CN" dirty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remix</a:t>
            </a:r>
            <a:r>
              <a:rPr lang="zh-CN" altLang="en-US" dirty="0" smtClean="0"/>
              <a:t>中编译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部署合约：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部署通过</a:t>
            </a:r>
            <a:r>
              <a:rPr lang="en-US" altLang="zh-CN" dirty="0" smtClean="0"/>
              <a:t>web3 provider</a:t>
            </a:r>
            <a:r>
              <a:rPr lang="zh-CN" altLang="en-US" dirty="0" smtClean="0"/>
              <a:t>连接</a:t>
            </a:r>
            <a:r>
              <a:rPr lang="en-US" altLang="zh-CN" dirty="0" smtClean="0"/>
              <a:t>: http://127.0.0.1:7545</a:t>
            </a:r>
          </a:p>
          <a:p>
            <a:pPr lvl="2"/>
            <a:r>
              <a:rPr lang="zh-CN" altLang="en-US" dirty="0" smtClean="0"/>
              <a:t>为构造函数提供参数，即等待被投票的议案，例如</a:t>
            </a:r>
            <a:endParaRPr lang="en-US" altLang="zh-CN" dirty="0" smtClean="0"/>
          </a:p>
          <a:p>
            <a:pPr lvl="3"/>
            <a:r>
              <a:rPr lang="en-US" altLang="zh-CN" sz="1400" dirty="0"/>
              <a:t>["0x0000000000000000000000000000000000000000000000000000000000000001","0x0000000000000000000000000000000000000000000000000000000000000002","0x0000000000000000000000000000000000000000000000000000000000000003"]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4797152"/>
            <a:ext cx="2597544" cy="173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46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340768"/>
            <a:ext cx="8568951" cy="5112568"/>
          </a:xfrm>
        </p:spPr>
        <p:txBody>
          <a:bodyPr/>
          <a:lstStyle/>
          <a:p>
            <a:r>
              <a:rPr lang="zh-CN" altLang="en-US" dirty="0" smtClean="0"/>
              <a:t>查看投票主席（即合约创建者）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主席给投票人授权，每次给一个账户地址授权，可以使用</a:t>
            </a:r>
            <a:r>
              <a:rPr lang="en-US" altLang="zh-CN" dirty="0" smtClean="0"/>
              <a:t>ganache</a:t>
            </a:r>
            <a:r>
              <a:rPr lang="zh-CN" altLang="en-US" dirty="0" smtClean="0"/>
              <a:t>的测试账户地址，每次授权都会产生一个交易。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916832"/>
            <a:ext cx="2495550" cy="809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52" y="4501894"/>
            <a:ext cx="3437623" cy="16184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3897052"/>
            <a:ext cx="4229710" cy="282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67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47" y="4967287"/>
            <a:ext cx="2457450" cy="18192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用户直接投票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选择用户地址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调用</a:t>
            </a:r>
            <a:r>
              <a:rPr lang="en-US" altLang="zh-CN" dirty="0" smtClean="0"/>
              <a:t>vote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填写投票议案的编号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zh-CN" altLang="en-US" dirty="0" smtClean="0"/>
              <a:t>查看投票效果（根据议案编号）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1400175"/>
            <a:ext cx="2705100" cy="447675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 bwMode="auto">
          <a:xfrm>
            <a:off x="3347864" y="2276872"/>
            <a:ext cx="3168352" cy="864096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3419916"/>
            <a:ext cx="2495550" cy="1028700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 bwMode="auto">
          <a:xfrm>
            <a:off x="3691225" y="3056867"/>
            <a:ext cx="952783" cy="672083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接箭头连接符 11"/>
          <p:cNvCxnSpPr/>
          <p:nvPr/>
        </p:nvCxnSpPr>
        <p:spPr bwMode="auto">
          <a:xfrm>
            <a:off x="2835853" y="4941639"/>
            <a:ext cx="1448115" cy="43157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>
            <a:off x="2483768" y="4893233"/>
            <a:ext cx="2055688" cy="1632111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64725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案例学习</a:t>
            </a:r>
            <a:r>
              <a:rPr lang="en-US" altLang="zh-CN" dirty="0"/>
              <a:t>——</a:t>
            </a:r>
            <a:r>
              <a:rPr lang="zh-CN" altLang="en-US" dirty="0"/>
              <a:t>电子投票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查看投票结果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调用</a:t>
            </a:r>
            <a:r>
              <a:rPr lang="en-US" altLang="zh-CN" dirty="0" err="1"/>
              <a:t>winnerName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委托他人投票请自己尝试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564904"/>
            <a:ext cx="3634586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79289"/>
      </p:ext>
    </p:extLst>
  </p:cSld>
  <p:clrMapOvr>
    <a:masterClrMapping/>
  </p:clrMapOvr>
</p:sld>
</file>

<file path=ppt/theme/theme1.xml><?xml version="1.0" encoding="utf-8"?>
<a:theme xmlns:a="http://schemas.openxmlformats.org/drawingml/2006/main" name="nju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2章 信息安全体系结构.pptx" id="{2A91B836-FFFD-4C9D-ACEB-12964C45F731}" vid="{3FEFB23B-0341-4517-8F01-752859B552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朴素模板</Template>
  <TotalTime>2875</TotalTime>
  <Words>1177</Words>
  <Application>Microsoft Office PowerPoint</Application>
  <PresentationFormat>全屏显示(4:3)</PresentationFormat>
  <Paragraphs>154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楷体</vt:lpstr>
      <vt:lpstr>宋体</vt:lpstr>
      <vt:lpstr>Arial</vt:lpstr>
      <vt:lpstr>Calibri</vt:lpstr>
      <vt:lpstr>Wingdings</vt:lpstr>
      <vt:lpstr>nju</vt:lpstr>
      <vt:lpstr>智能合约案例</vt:lpstr>
      <vt:lpstr>案例学习——电子投票</vt:lpstr>
      <vt:lpstr>案例学习——电子投票</vt:lpstr>
      <vt:lpstr>案例学习——电子投票</vt:lpstr>
      <vt:lpstr>案例学习——电子投票</vt:lpstr>
      <vt:lpstr>案例学习——电子投票</vt:lpstr>
      <vt:lpstr>案例学习——电子投票</vt:lpstr>
      <vt:lpstr>案例学习——电子投票</vt:lpstr>
      <vt:lpstr>案例学习——电子投票</vt:lpstr>
      <vt:lpstr>案例学习——电子投票</vt:lpstr>
      <vt:lpstr>案例学习——电子投票</vt:lpstr>
      <vt:lpstr>案例学习——电子投票</vt:lpstr>
      <vt:lpstr>案例学习——电子投票</vt:lpstr>
      <vt:lpstr>案例学习——电子投票</vt:lpstr>
      <vt:lpstr>案例学习——电子投票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大学计算机信息技术</dc:title>
  <dc:creator>Hp</dc:creator>
  <cp:lastModifiedBy>dell</cp:lastModifiedBy>
  <cp:revision>470</cp:revision>
  <dcterms:created xsi:type="dcterms:W3CDTF">2013-09-23T10:22:11Z</dcterms:created>
  <dcterms:modified xsi:type="dcterms:W3CDTF">2021-05-20T06:59:43Z</dcterms:modified>
</cp:coreProperties>
</file>