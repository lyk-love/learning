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5" r:id="rId1"/>
  </p:sldMasterIdLst>
  <p:notesMasterIdLst>
    <p:notesMasterId r:id="rId58"/>
  </p:notesMasterIdLst>
  <p:sldIdLst>
    <p:sldId id="395" r:id="rId2"/>
    <p:sldId id="403" r:id="rId3"/>
    <p:sldId id="434" r:id="rId4"/>
    <p:sldId id="404" r:id="rId5"/>
    <p:sldId id="405" r:id="rId6"/>
    <p:sldId id="406" r:id="rId7"/>
    <p:sldId id="407" r:id="rId8"/>
    <p:sldId id="408" r:id="rId9"/>
    <p:sldId id="409" r:id="rId10"/>
    <p:sldId id="410" r:id="rId11"/>
    <p:sldId id="411" r:id="rId12"/>
    <p:sldId id="412" r:id="rId13"/>
    <p:sldId id="413" r:id="rId14"/>
    <p:sldId id="414" r:id="rId15"/>
    <p:sldId id="415" r:id="rId16"/>
    <p:sldId id="419" r:id="rId17"/>
    <p:sldId id="422" r:id="rId18"/>
    <p:sldId id="418" r:id="rId19"/>
    <p:sldId id="420" r:id="rId20"/>
    <p:sldId id="416" r:id="rId21"/>
    <p:sldId id="417" r:id="rId22"/>
    <p:sldId id="431" r:id="rId23"/>
    <p:sldId id="430" r:id="rId24"/>
    <p:sldId id="396" r:id="rId25"/>
    <p:sldId id="397" r:id="rId26"/>
    <p:sldId id="426" r:id="rId27"/>
    <p:sldId id="423" r:id="rId28"/>
    <p:sldId id="424" r:id="rId29"/>
    <p:sldId id="427" r:id="rId30"/>
    <p:sldId id="428" r:id="rId31"/>
    <p:sldId id="425" r:id="rId32"/>
    <p:sldId id="429" r:id="rId33"/>
    <p:sldId id="398" r:id="rId34"/>
    <p:sldId id="399" r:id="rId35"/>
    <p:sldId id="432" r:id="rId36"/>
    <p:sldId id="433" r:id="rId37"/>
    <p:sldId id="435" r:id="rId38"/>
    <p:sldId id="436" r:id="rId39"/>
    <p:sldId id="438" r:id="rId40"/>
    <p:sldId id="439" r:id="rId41"/>
    <p:sldId id="440" r:id="rId42"/>
    <p:sldId id="441" r:id="rId43"/>
    <p:sldId id="442" r:id="rId44"/>
    <p:sldId id="437" r:id="rId45"/>
    <p:sldId id="443" r:id="rId46"/>
    <p:sldId id="444" r:id="rId47"/>
    <p:sldId id="445" r:id="rId48"/>
    <p:sldId id="446" r:id="rId49"/>
    <p:sldId id="447" r:id="rId50"/>
    <p:sldId id="448" r:id="rId51"/>
    <p:sldId id="449" r:id="rId52"/>
    <p:sldId id="450" r:id="rId53"/>
    <p:sldId id="451" r:id="rId54"/>
    <p:sldId id="452" r:id="rId55"/>
    <p:sldId id="453" r:id="rId56"/>
    <p:sldId id="454" r:id="rId57"/>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031" autoAdjust="0"/>
  </p:normalViewPr>
  <p:slideViewPr>
    <p:cSldViewPr>
      <p:cViewPr varScale="1">
        <p:scale>
          <a:sx n="104" d="100"/>
          <a:sy n="104" d="100"/>
        </p:scale>
        <p:origin x="1824" y="114"/>
      </p:cViewPr>
      <p:guideLst>
        <p:guide orient="horz" pos="2160"/>
        <p:guide pos="2880"/>
      </p:guideLst>
    </p:cSldViewPr>
  </p:slideViewPr>
  <p:notesTextViewPr>
    <p:cViewPr>
      <p:scale>
        <a:sx n="1" d="1"/>
        <a:sy n="1" d="1"/>
      </p:scale>
      <p:origin x="0" y="0"/>
    </p:cViewPr>
  </p:notesTextViewPr>
  <p:sorterViewPr>
    <p:cViewPr>
      <p:scale>
        <a:sx n="80" d="100"/>
        <a:sy n="80" d="100"/>
      </p:scale>
      <p:origin x="0" y="-203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CE977AA7-57E9-4A56-AFE1-34A5A5DC790A}" type="datetimeFigureOut">
              <a:rPr lang="zh-CN" altLang="en-US"/>
              <a:pPr>
                <a:defRPr/>
              </a:pPr>
              <a:t>2021/5/13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64121CE6-E712-413E-ACD8-955771AA458E}" type="slidenum">
              <a:rPr lang="zh-CN" altLang="en-US"/>
              <a:pPr/>
              <a:t>‹#›</a:t>
            </a:fld>
            <a:endParaRPr lang="zh-CN" altLang="en-US"/>
          </a:p>
        </p:txBody>
      </p:sp>
    </p:spTree>
    <p:extLst>
      <p:ext uri="{BB962C8B-B14F-4D97-AF65-F5344CB8AC3E}">
        <p14:creationId xmlns:p14="http://schemas.microsoft.com/office/powerpoint/2010/main" val="42417061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228600" y="1635125"/>
            <a:ext cx="2514600" cy="2514600"/>
          </a:xfrm>
          <a:prstGeom prst="ellipse">
            <a:avLst/>
          </a:prstGeom>
          <a:noFill/>
          <a:ln w="127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mtClean="0"/>
          </a:p>
        </p:txBody>
      </p:sp>
      <p:sp>
        <p:nvSpPr>
          <p:cNvPr id="5" name="Rectangle 7"/>
          <p:cNvSpPr>
            <a:spLocks noChangeArrowheads="1"/>
          </p:cNvSpPr>
          <p:nvPr/>
        </p:nvSpPr>
        <p:spPr bwMode="hidden">
          <a:xfrm>
            <a:off x="0" y="2397125"/>
            <a:ext cx="4724400" cy="1143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p>
        </p:txBody>
      </p:sp>
      <p:sp>
        <p:nvSpPr>
          <p:cNvPr id="6"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p>
        </p:txBody>
      </p:sp>
      <p:pic>
        <p:nvPicPr>
          <p:cNvPr id="9"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442" name="Rectangle 2"/>
          <p:cNvSpPr>
            <a:spLocks noGrp="1" noChangeArrowheads="1"/>
          </p:cNvSpPr>
          <p:nvPr>
            <p:ph type="subTitle" idx="1"/>
          </p:nvPr>
        </p:nvSpPr>
        <p:spPr>
          <a:xfrm>
            <a:off x="3059113" y="4149725"/>
            <a:ext cx="5184775" cy="1336675"/>
          </a:xfrm>
        </p:spPr>
        <p:txBody>
          <a:bodyPr/>
          <a:lstStyle>
            <a:lvl1pPr marL="0" indent="0">
              <a:buFont typeface="Wingdings" pitchFamily="2" charset="2"/>
              <a:buNone/>
              <a:defRPr/>
            </a:lvl1pPr>
          </a:lstStyle>
          <a:p>
            <a:r>
              <a:rPr lang="zh-CN" altLang="en-US" smtClean="0"/>
              <a:t>单击以编辑母版副标题样式</a:t>
            </a:r>
            <a:endParaRPr lang="zh-CN" altLang="en-US"/>
          </a:p>
        </p:txBody>
      </p:sp>
      <p:sp>
        <p:nvSpPr>
          <p:cNvPr id="189449" name="Rectangle 9"/>
          <p:cNvSpPr>
            <a:spLocks noGrp="1" noChangeArrowheads="1"/>
          </p:cNvSpPr>
          <p:nvPr>
            <p:ph type="ctrTitle"/>
          </p:nvPr>
        </p:nvSpPr>
        <p:spPr>
          <a:xfrm>
            <a:off x="838200" y="2163763"/>
            <a:ext cx="7405688" cy="1600200"/>
          </a:xfrm>
        </p:spPr>
        <p:txBody>
          <a:bodyPr anchor="ctr"/>
          <a:lstStyle>
            <a:lvl1pPr>
              <a:defRPr/>
            </a:lvl1pPr>
          </a:lstStyle>
          <a:p>
            <a:r>
              <a:rPr lang="zh-CN" altLang="en-US" smtClean="0"/>
              <a:t>单击此处编辑母版标题样式</a:t>
            </a:r>
            <a:endParaRPr lang="zh-CN" altLang="en-US"/>
          </a:p>
        </p:txBody>
      </p:sp>
      <p:sp>
        <p:nvSpPr>
          <p:cNvPr id="11" name="Rectangle 3"/>
          <p:cNvSpPr>
            <a:spLocks noGrp="1" noChangeArrowheads="1"/>
          </p:cNvSpPr>
          <p:nvPr>
            <p:ph type="dt" sz="half" idx="10"/>
          </p:nvPr>
        </p:nvSpPr>
        <p:spPr>
          <a:xfrm>
            <a:off x="685800" y="6284913"/>
            <a:ext cx="1293813" cy="457200"/>
          </a:xfrm>
        </p:spPr>
        <p:txBody>
          <a:bodyPr/>
          <a:lstStyle>
            <a:lvl1pPr>
              <a:defRPr/>
            </a:lvl1pPr>
          </a:lstStyle>
          <a:p>
            <a:pPr>
              <a:defRPr/>
            </a:pPr>
            <a:fld id="{2F738E57-93F9-4D16-9D65-7B0414EDCF8F}" type="datetimeFigureOut">
              <a:rPr lang="zh-CN" altLang="en-US" smtClean="0"/>
              <a:pPr>
                <a:defRPr/>
              </a:pPr>
              <a:t>2021/5/13</a:t>
            </a:fld>
            <a:endParaRPr lang="zh-CN" altLang="en-US"/>
          </a:p>
        </p:txBody>
      </p:sp>
      <p:sp>
        <p:nvSpPr>
          <p:cNvPr id="12" name="Rectangle 4"/>
          <p:cNvSpPr>
            <a:spLocks noGrp="1" noChangeArrowheads="1"/>
          </p:cNvSpPr>
          <p:nvPr>
            <p:ph type="ftr" sz="quarter" idx="11"/>
          </p:nvPr>
        </p:nvSpPr>
        <p:spPr>
          <a:xfrm>
            <a:off x="2195513" y="6202363"/>
            <a:ext cx="5113337" cy="539750"/>
          </a:xfrm>
        </p:spPr>
        <p:txBody>
          <a:bodyPr/>
          <a:lstStyle>
            <a:lvl1pPr>
              <a:defRPr/>
            </a:lvl1pPr>
          </a:lstStyle>
          <a:p>
            <a:pPr>
              <a:defRPr/>
            </a:pPr>
            <a:endParaRPr lang="zh-CN" altLang="en-US"/>
          </a:p>
        </p:txBody>
      </p:sp>
      <p:sp>
        <p:nvSpPr>
          <p:cNvPr id="13" name="Rectangle 5"/>
          <p:cNvSpPr>
            <a:spLocks noGrp="1" noChangeArrowheads="1"/>
          </p:cNvSpPr>
          <p:nvPr>
            <p:ph type="sldNum" sz="quarter" idx="12"/>
          </p:nvPr>
        </p:nvSpPr>
        <p:spPr/>
        <p:txBody>
          <a:bodyPr/>
          <a:lstStyle>
            <a:lvl1pPr>
              <a:defRPr/>
            </a:lvl1pPr>
          </a:lstStyle>
          <a:p>
            <a:fld id="{C0548130-33E5-4651-8CB0-053FFE4C990B}" type="slidenum">
              <a:rPr lang="zh-CN" altLang="en-US" smtClean="0"/>
              <a:pPr/>
              <a:t>‹#›</a:t>
            </a:fld>
            <a:endParaRPr lang="zh-CN" altLang="en-US"/>
          </a:p>
        </p:txBody>
      </p:sp>
    </p:spTree>
    <p:extLst>
      <p:ext uri="{BB962C8B-B14F-4D97-AF65-F5344CB8AC3E}">
        <p14:creationId xmlns:p14="http://schemas.microsoft.com/office/powerpoint/2010/main" val="356144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Rectangle 7"/>
          <p:cNvSpPr>
            <a:spLocks noGrp="1" noChangeArrowheads="1"/>
          </p:cNvSpPr>
          <p:nvPr>
            <p:ph type="dt" sz="half" idx="10"/>
          </p:nvPr>
        </p:nvSpPr>
        <p:spPr>
          <a:ln/>
        </p:spPr>
        <p:txBody>
          <a:bodyPr/>
          <a:lstStyle>
            <a:lvl1pPr>
              <a:defRPr/>
            </a:lvl1pPr>
          </a:lstStyle>
          <a:p>
            <a:pPr>
              <a:defRPr/>
            </a:pPr>
            <a:fld id="{4EC36114-4B0D-48F2-AFFD-DD492E28E8B1}" type="datetimeFigureOut">
              <a:rPr lang="zh-CN" altLang="en-US" smtClean="0"/>
              <a:pPr>
                <a:defRPr/>
              </a:pPr>
              <a:t>2021/5/13</a:t>
            </a:fld>
            <a:endParaRPr lang="zh-CN" alt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6" name="Rectangle 9"/>
          <p:cNvSpPr>
            <a:spLocks noGrp="1" noChangeArrowheads="1"/>
          </p:cNvSpPr>
          <p:nvPr>
            <p:ph type="sldNum" sz="quarter" idx="12"/>
          </p:nvPr>
        </p:nvSpPr>
        <p:spPr>
          <a:ln/>
        </p:spPr>
        <p:txBody>
          <a:bodyPr/>
          <a:lstStyle>
            <a:lvl1pPr>
              <a:defRPr/>
            </a:lvl1pPr>
          </a:lstStyle>
          <a:p>
            <a:fld id="{A309C164-7C40-4743-A1D0-60CDBD9780F0}" type="slidenum">
              <a:rPr lang="zh-CN" altLang="en-US" smtClean="0"/>
              <a:pPr/>
              <a:t>‹#›</a:t>
            </a:fld>
            <a:endParaRPr lang="zh-CN" altLang="en-US"/>
          </a:p>
        </p:txBody>
      </p:sp>
    </p:spTree>
    <p:extLst>
      <p:ext uri="{BB962C8B-B14F-4D97-AF65-F5344CB8AC3E}">
        <p14:creationId xmlns:p14="http://schemas.microsoft.com/office/powerpoint/2010/main" val="2559014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编辑母版文本样式</a:t>
            </a:r>
          </a:p>
        </p:txBody>
      </p:sp>
      <p:sp>
        <p:nvSpPr>
          <p:cNvPr id="4" name="Rectangle 7"/>
          <p:cNvSpPr>
            <a:spLocks noGrp="1" noChangeArrowheads="1"/>
          </p:cNvSpPr>
          <p:nvPr>
            <p:ph type="dt" sz="half" idx="10"/>
          </p:nvPr>
        </p:nvSpPr>
        <p:spPr>
          <a:ln/>
        </p:spPr>
        <p:txBody>
          <a:bodyPr/>
          <a:lstStyle>
            <a:lvl1pPr>
              <a:defRPr/>
            </a:lvl1pPr>
          </a:lstStyle>
          <a:p>
            <a:pPr>
              <a:defRPr/>
            </a:pPr>
            <a:fld id="{3C15F954-ED4F-4BB5-81E4-369170938DD6}" type="datetimeFigureOut">
              <a:rPr lang="zh-CN" altLang="en-US" smtClean="0"/>
              <a:pPr>
                <a:defRPr/>
              </a:pPr>
              <a:t>2021/5/13</a:t>
            </a:fld>
            <a:endParaRPr lang="zh-CN" alt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6" name="Rectangle 9"/>
          <p:cNvSpPr>
            <a:spLocks noGrp="1" noChangeArrowheads="1"/>
          </p:cNvSpPr>
          <p:nvPr>
            <p:ph type="sldNum" sz="quarter" idx="12"/>
          </p:nvPr>
        </p:nvSpPr>
        <p:spPr>
          <a:ln/>
        </p:spPr>
        <p:txBody>
          <a:bodyPr/>
          <a:lstStyle>
            <a:lvl1pPr>
              <a:defRPr/>
            </a:lvl1pPr>
          </a:lstStyle>
          <a:p>
            <a:fld id="{47F6FC0A-5A87-4514-96BC-E02BA09E53F5}" type="slidenum">
              <a:rPr lang="zh-CN" altLang="en-US" smtClean="0"/>
              <a:pPr/>
              <a:t>‹#›</a:t>
            </a:fld>
            <a:endParaRPr lang="zh-CN" altLang="en-US"/>
          </a:p>
        </p:txBody>
      </p:sp>
    </p:spTree>
    <p:extLst>
      <p:ext uri="{BB962C8B-B14F-4D97-AF65-F5344CB8AC3E}">
        <p14:creationId xmlns:p14="http://schemas.microsoft.com/office/powerpoint/2010/main" val="1216311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1484313"/>
            <a:ext cx="399415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14863" y="1484313"/>
            <a:ext cx="3995737"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7"/>
          <p:cNvSpPr>
            <a:spLocks noGrp="1" noChangeArrowheads="1"/>
          </p:cNvSpPr>
          <p:nvPr>
            <p:ph type="dt" sz="half" idx="10"/>
          </p:nvPr>
        </p:nvSpPr>
        <p:spPr>
          <a:ln/>
        </p:spPr>
        <p:txBody>
          <a:bodyPr/>
          <a:lstStyle>
            <a:lvl1pPr>
              <a:defRPr/>
            </a:lvl1pPr>
          </a:lstStyle>
          <a:p>
            <a:pPr>
              <a:defRPr/>
            </a:pPr>
            <a:fld id="{CD4B7F95-78A0-4EB8-A841-36370DAECFC3}" type="datetimeFigureOut">
              <a:rPr lang="zh-CN" altLang="en-US" smtClean="0"/>
              <a:pPr>
                <a:defRPr/>
              </a:pPr>
              <a:t>2021/5/13</a:t>
            </a:fld>
            <a:endParaRPr lang="zh-CN" alt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7" name="Rectangle 9"/>
          <p:cNvSpPr>
            <a:spLocks noGrp="1" noChangeArrowheads="1"/>
          </p:cNvSpPr>
          <p:nvPr>
            <p:ph type="sldNum" sz="quarter" idx="12"/>
          </p:nvPr>
        </p:nvSpPr>
        <p:spPr>
          <a:ln/>
        </p:spPr>
        <p:txBody>
          <a:bodyPr/>
          <a:lstStyle>
            <a:lvl1pPr>
              <a:defRPr/>
            </a:lvl1pPr>
          </a:lstStyle>
          <a:p>
            <a:fld id="{62225C4B-1503-4E05-91D6-4EAE80571FF6}" type="slidenum">
              <a:rPr lang="zh-CN" altLang="en-US" smtClean="0"/>
              <a:pPr/>
              <a:t>‹#›</a:t>
            </a:fld>
            <a:endParaRPr lang="zh-CN" altLang="en-US"/>
          </a:p>
        </p:txBody>
      </p:sp>
    </p:spTree>
    <p:extLst>
      <p:ext uri="{BB962C8B-B14F-4D97-AF65-F5344CB8AC3E}">
        <p14:creationId xmlns:p14="http://schemas.microsoft.com/office/powerpoint/2010/main" val="3434815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7"/>
          <p:cNvSpPr>
            <a:spLocks noGrp="1" noChangeArrowheads="1"/>
          </p:cNvSpPr>
          <p:nvPr>
            <p:ph type="dt" sz="half" idx="10"/>
          </p:nvPr>
        </p:nvSpPr>
        <p:spPr>
          <a:ln/>
        </p:spPr>
        <p:txBody>
          <a:bodyPr/>
          <a:lstStyle>
            <a:lvl1pPr>
              <a:defRPr/>
            </a:lvl1pPr>
          </a:lstStyle>
          <a:p>
            <a:pPr>
              <a:defRPr/>
            </a:pPr>
            <a:fld id="{73130273-FB3F-4409-B68D-27AC6E41ADBA}" type="datetimeFigureOut">
              <a:rPr lang="zh-CN" altLang="en-US" smtClean="0"/>
              <a:pPr>
                <a:defRPr/>
              </a:pPr>
              <a:t>2021/5/13</a:t>
            </a:fld>
            <a:endParaRPr lang="zh-CN" altLang="en-US"/>
          </a:p>
        </p:txBody>
      </p:sp>
      <p:sp>
        <p:nvSpPr>
          <p:cNvPr id="8"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9" name="Rectangle 9"/>
          <p:cNvSpPr>
            <a:spLocks noGrp="1" noChangeArrowheads="1"/>
          </p:cNvSpPr>
          <p:nvPr>
            <p:ph type="sldNum" sz="quarter" idx="12"/>
          </p:nvPr>
        </p:nvSpPr>
        <p:spPr>
          <a:ln/>
        </p:spPr>
        <p:txBody>
          <a:bodyPr/>
          <a:lstStyle>
            <a:lvl1pPr>
              <a:defRPr/>
            </a:lvl1pPr>
          </a:lstStyle>
          <a:p>
            <a:fld id="{0A0D7FE8-9F4A-4FCC-9904-F8AD160DF52B}" type="slidenum">
              <a:rPr lang="zh-CN" altLang="en-US" smtClean="0"/>
              <a:pPr/>
              <a:t>‹#›</a:t>
            </a:fld>
            <a:endParaRPr lang="zh-CN" altLang="en-US"/>
          </a:p>
        </p:txBody>
      </p:sp>
    </p:spTree>
    <p:extLst>
      <p:ext uri="{BB962C8B-B14F-4D97-AF65-F5344CB8AC3E}">
        <p14:creationId xmlns:p14="http://schemas.microsoft.com/office/powerpoint/2010/main" val="16946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dt" sz="half" idx="10"/>
          </p:nvPr>
        </p:nvSpPr>
        <p:spPr>
          <a:ln/>
        </p:spPr>
        <p:txBody>
          <a:bodyPr/>
          <a:lstStyle>
            <a:lvl1pPr>
              <a:defRPr/>
            </a:lvl1pPr>
          </a:lstStyle>
          <a:p>
            <a:pPr>
              <a:defRPr/>
            </a:pPr>
            <a:fld id="{2A966980-E121-4D27-8E64-7E45764D8807}" type="datetimeFigureOut">
              <a:rPr lang="zh-CN" altLang="en-US" smtClean="0"/>
              <a:pPr>
                <a:defRPr/>
              </a:pPr>
              <a:t>2021/5/13</a:t>
            </a:fld>
            <a:endParaRPr lang="zh-CN" altLang="en-US"/>
          </a:p>
        </p:txBody>
      </p:sp>
      <p:sp>
        <p:nvSpPr>
          <p:cNvPr id="4"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5" name="Rectangle 9"/>
          <p:cNvSpPr>
            <a:spLocks noGrp="1" noChangeArrowheads="1"/>
          </p:cNvSpPr>
          <p:nvPr>
            <p:ph type="sldNum" sz="quarter" idx="12"/>
          </p:nvPr>
        </p:nvSpPr>
        <p:spPr>
          <a:ln/>
        </p:spPr>
        <p:txBody>
          <a:bodyPr/>
          <a:lstStyle>
            <a:lvl1pPr>
              <a:defRPr/>
            </a:lvl1pPr>
          </a:lstStyle>
          <a:p>
            <a:fld id="{C82B6336-A0FB-4BAE-AFC2-E4641F29156F}" type="slidenum">
              <a:rPr lang="zh-CN" altLang="en-US" smtClean="0"/>
              <a:pPr/>
              <a:t>‹#›</a:t>
            </a:fld>
            <a:endParaRPr lang="zh-CN" altLang="en-US"/>
          </a:p>
        </p:txBody>
      </p:sp>
    </p:spTree>
    <p:extLst>
      <p:ext uri="{BB962C8B-B14F-4D97-AF65-F5344CB8AC3E}">
        <p14:creationId xmlns:p14="http://schemas.microsoft.com/office/powerpoint/2010/main" val="1879457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a:ln/>
        </p:spPr>
        <p:txBody>
          <a:bodyPr/>
          <a:lstStyle>
            <a:lvl1pPr>
              <a:defRPr/>
            </a:lvl1pPr>
          </a:lstStyle>
          <a:p>
            <a:pPr>
              <a:defRPr/>
            </a:pPr>
            <a:fld id="{6ACD6303-86B8-435D-9CDF-1D9D86A9AD6C}" type="datetimeFigureOut">
              <a:rPr lang="zh-CN" altLang="en-US" smtClean="0"/>
              <a:pPr>
                <a:defRPr/>
              </a:pPr>
              <a:t>2021/5/13</a:t>
            </a:fld>
            <a:endParaRPr lang="zh-CN" altLang="en-US"/>
          </a:p>
        </p:txBody>
      </p:sp>
      <p:sp>
        <p:nvSpPr>
          <p:cNvPr id="3"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4" name="Rectangle 9"/>
          <p:cNvSpPr>
            <a:spLocks noGrp="1" noChangeArrowheads="1"/>
          </p:cNvSpPr>
          <p:nvPr>
            <p:ph type="sldNum" sz="quarter" idx="12"/>
          </p:nvPr>
        </p:nvSpPr>
        <p:spPr>
          <a:ln/>
        </p:spPr>
        <p:txBody>
          <a:bodyPr/>
          <a:lstStyle>
            <a:lvl1pPr>
              <a:defRPr/>
            </a:lvl1pPr>
          </a:lstStyle>
          <a:p>
            <a:fld id="{F2C6FD49-9006-4ACC-B270-EC04A2D917FE}" type="slidenum">
              <a:rPr lang="zh-CN" altLang="en-US" smtClean="0"/>
              <a:pPr/>
              <a:t>‹#›</a:t>
            </a:fld>
            <a:endParaRPr lang="zh-CN" altLang="en-US"/>
          </a:p>
        </p:txBody>
      </p:sp>
    </p:spTree>
    <p:extLst>
      <p:ext uri="{BB962C8B-B14F-4D97-AF65-F5344CB8AC3E}">
        <p14:creationId xmlns:p14="http://schemas.microsoft.com/office/powerpoint/2010/main" val="1953127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Rectangle 7"/>
          <p:cNvSpPr>
            <a:spLocks noGrp="1" noChangeArrowheads="1"/>
          </p:cNvSpPr>
          <p:nvPr>
            <p:ph type="dt" sz="half" idx="10"/>
          </p:nvPr>
        </p:nvSpPr>
        <p:spPr>
          <a:ln/>
        </p:spPr>
        <p:txBody>
          <a:bodyPr/>
          <a:lstStyle>
            <a:lvl1pPr>
              <a:defRPr/>
            </a:lvl1pPr>
          </a:lstStyle>
          <a:p>
            <a:pPr>
              <a:defRPr/>
            </a:pPr>
            <a:fld id="{EB6CEF59-9DF9-4BC2-9D2C-8C5C0BAE01A8}" type="datetimeFigureOut">
              <a:rPr lang="zh-CN" altLang="en-US" smtClean="0"/>
              <a:pPr>
                <a:defRPr/>
              </a:pPr>
              <a:t>2021/5/13</a:t>
            </a:fld>
            <a:endParaRPr lang="zh-CN" alt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7" name="Rectangle 9"/>
          <p:cNvSpPr>
            <a:spLocks noGrp="1" noChangeArrowheads="1"/>
          </p:cNvSpPr>
          <p:nvPr>
            <p:ph type="sldNum" sz="quarter" idx="12"/>
          </p:nvPr>
        </p:nvSpPr>
        <p:spPr>
          <a:ln/>
        </p:spPr>
        <p:txBody>
          <a:bodyPr/>
          <a:lstStyle>
            <a:lvl1pPr>
              <a:defRPr/>
            </a:lvl1pPr>
          </a:lstStyle>
          <a:p>
            <a:fld id="{DD06C489-D1FB-4028-9879-44C39A67CF50}" type="slidenum">
              <a:rPr lang="zh-CN" altLang="en-US" smtClean="0"/>
              <a:pPr/>
              <a:t>‹#›</a:t>
            </a:fld>
            <a:endParaRPr lang="zh-CN" altLang="en-US"/>
          </a:p>
        </p:txBody>
      </p:sp>
    </p:spTree>
    <p:extLst>
      <p:ext uri="{BB962C8B-B14F-4D97-AF65-F5344CB8AC3E}">
        <p14:creationId xmlns:p14="http://schemas.microsoft.com/office/powerpoint/2010/main" val="547707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Rectangle 7"/>
          <p:cNvSpPr>
            <a:spLocks noGrp="1" noChangeArrowheads="1"/>
          </p:cNvSpPr>
          <p:nvPr>
            <p:ph type="dt" sz="half" idx="10"/>
          </p:nvPr>
        </p:nvSpPr>
        <p:spPr>
          <a:ln/>
        </p:spPr>
        <p:txBody>
          <a:bodyPr/>
          <a:lstStyle>
            <a:lvl1pPr>
              <a:defRPr/>
            </a:lvl1pPr>
          </a:lstStyle>
          <a:p>
            <a:pPr>
              <a:defRPr/>
            </a:pPr>
            <a:fld id="{837582AB-7697-423A-8094-EDFC4FB6F069}" type="datetimeFigureOut">
              <a:rPr lang="zh-CN" altLang="en-US" smtClean="0"/>
              <a:pPr>
                <a:defRPr/>
              </a:pPr>
              <a:t>2021/5/13</a:t>
            </a:fld>
            <a:endParaRPr lang="zh-CN" alt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7" name="Rectangle 9"/>
          <p:cNvSpPr>
            <a:spLocks noGrp="1" noChangeArrowheads="1"/>
          </p:cNvSpPr>
          <p:nvPr>
            <p:ph type="sldNum" sz="quarter" idx="12"/>
          </p:nvPr>
        </p:nvSpPr>
        <p:spPr>
          <a:ln/>
        </p:spPr>
        <p:txBody>
          <a:bodyPr/>
          <a:lstStyle>
            <a:lvl1pPr>
              <a:defRPr/>
            </a:lvl1pPr>
          </a:lstStyle>
          <a:p>
            <a:fld id="{E8C00C18-A1A9-4C03-9462-5B70A010C7CE}" type="slidenum">
              <a:rPr lang="zh-CN" altLang="en-US" smtClean="0"/>
              <a:pPr/>
              <a:t>‹#›</a:t>
            </a:fld>
            <a:endParaRPr lang="zh-CN" altLang="en-US"/>
          </a:p>
        </p:txBody>
      </p:sp>
    </p:spTree>
    <p:extLst>
      <p:ext uri="{BB962C8B-B14F-4D97-AF65-F5344CB8AC3E}">
        <p14:creationId xmlns:p14="http://schemas.microsoft.com/office/powerpoint/2010/main" val="795350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a:ln/>
        </p:spPr>
        <p:txBody>
          <a:bodyPr/>
          <a:lstStyle>
            <a:lvl1pPr>
              <a:defRPr/>
            </a:lvl1pPr>
          </a:lstStyle>
          <a:p>
            <a:pPr>
              <a:defRPr/>
            </a:pPr>
            <a:fld id="{4F901C4D-A13F-4CBF-A93F-917A0BB25796}" type="datetimeFigureOut">
              <a:rPr lang="zh-CN" altLang="en-US" smtClean="0"/>
              <a:pPr>
                <a:defRPr/>
              </a:pPr>
              <a:t>2021/5/13</a:t>
            </a:fld>
            <a:endParaRPr lang="zh-CN" alt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6" name="Rectangle 9"/>
          <p:cNvSpPr>
            <a:spLocks noGrp="1" noChangeArrowheads="1"/>
          </p:cNvSpPr>
          <p:nvPr>
            <p:ph type="sldNum" sz="quarter" idx="12"/>
          </p:nvPr>
        </p:nvSpPr>
        <p:spPr>
          <a:ln/>
        </p:spPr>
        <p:txBody>
          <a:bodyPr/>
          <a:lstStyle>
            <a:lvl1pPr>
              <a:defRPr/>
            </a:lvl1pPr>
          </a:lstStyle>
          <a:p>
            <a:fld id="{3CCD0368-030E-4470-9CC0-A8539E28CCE0}" type="slidenum">
              <a:rPr lang="zh-CN" altLang="en-US" smtClean="0"/>
              <a:pPr/>
              <a:t>‹#›</a:t>
            </a:fld>
            <a:endParaRPr lang="zh-CN" altLang="en-US"/>
          </a:p>
        </p:txBody>
      </p:sp>
    </p:spTree>
    <p:extLst>
      <p:ext uri="{BB962C8B-B14F-4D97-AF65-F5344CB8AC3E}">
        <p14:creationId xmlns:p14="http://schemas.microsoft.com/office/powerpoint/2010/main" val="2453607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5" y="404813"/>
            <a:ext cx="2035175" cy="5472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404813"/>
            <a:ext cx="5954712" cy="5472112"/>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Rectangle 7"/>
          <p:cNvSpPr>
            <a:spLocks noGrp="1" noChangeArrowheads="1"/>
          </p:cNvSpPr>
          <p:nvPr>
            <p:ph type="dt" sz="half" idx="10"/>
          </p:nvPr>
        </p:nvSpPr>
        <p:spPr>
          <a:ln/>
        </p:spPr>
        <p:txBody>
          <a:bodyPr/>
          <a:lstStyle>
            <a:lvl1pPr>
              <a:defRPr/>
            </a:lvl1pPr>
          </a:lstStyle>
          <a:p>
            <a:pPr>
              <a:defRPr/>
            </a:pPr>
            <a:fld id="{1F65B808-DAE2-490F-9DA8-6B1F02696318}" type="datetimeFigureOut">
              <a:rPr lang="zh-CN" altLang="en-US" smtClean="0"/>
              <a:pPr>
                <a:defRPr/>
              </a:pPr>
              <a:t>2021/5/13</a:t>
            </a:fld>
            <a:endParaRPr lang="zh-CN" alt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6" name="Rectangle 9"/>
          <p:cNvSpPr>
            <a:spLocks noGrp="1" noChangeArrowheads="1"/>
          </p:cNvSpPr>
          <p:nvPr>
            <p:ph type="sldNum" sz="quarter" idx="12"/>
          </p:nvPr>
        </p:nvSpPr>
        <p:spPr>
          <a:ln/>
        </p:spPr>
        <p:txBody>
          <a:bodyPr/>
          <a:lstStyle>
            <a:lvl1pPr>
              <a:defRPr/>
            </a:lvl1pPr>
          </a:lstStyle>
          <a:p>
            <a:fld id="{1B6C2C6C-AFC8-4EC7-BA35-3E0EA0828F21}" type="slidenum">
              <a:rPr lang="zh-CN" altLang="en-US" smtClean="0"/>
              <a:pPr/>
              <a:t>‹#›</a:t>
            </a:fld>
            <a:endParaRPr lang="zh-CN" altLang="en-US"/>
          </a:p>
        </p:txBody>
      </p:sp>
    </p:spTree>
    <p:extLst>
      <p:ext uri="{BB962C8B-B14F-4D97-AF65-F5344CB8AC3E}">
        <p14:creationId xmlns:p14="http://schemas.microsoft.com/office/powerpoint/2010/main" val="1242991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5616575" cy="576262"/>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68313" y="1484313"/>
            <a:ext cx="3994150" cy="439261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14863" y="1484313"/>
            <a:ext cx="3995737" cy="439261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7"/>
          <p:cNvSpPr>
            <a:spLocks noGrp="1" noChangeArrowheads="1"/>
          </p:cNvSpPr>
          <p:nvPr>
            <p:ph type="dt" sz="half" idx="10"/>
          </p:nvPr>
        </p:nvSpPr>
        <p:spPr>
          <a:ln/>
        </p:spPr>
        <p:txBody>
          <a:bodyPr/>
          <a:lstStyle>
            <a:lvl1pPr>
              <a:defRPr/>
            </a:lvl1pPr>
          </a:lstStyle>
          <a:p>
            <a:pPr>
              <a:defRPr/>
            </a:pPr>
            <a:fld id="{41D486B6-4D75-475D-A2BA-381A4D02304A}" type="datetimeFigureOut">
              <a:rPr lang="zh-CN" altLang="en-US" smtClean="0"/>
              <a:pPr>
                <a:defRPr/>
              </a:pPr>
              <a:t>2021/5/13</a:t>
            </a:fld>
            <a:endParaRPr lang="zh-CN" alt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7" name="Rectangle 9"/>
          <p:cNvSpPr>
            <a:spLocks noGrp="1" noChangeArrowheads="1"/>
          </p:cNvSpPr>
          <p:nvPr>
            <p:ph type="sldNum" sz="quarter" idx="12"/>
          </p:nvPr>
        </p:nvSpPr>
        <p:spPr>
          <a:ln/>
        </p:spPr>
        <p:txBody>
          <a:bodyPr/>
          <a:lstStyle>
            <a:lvl1pPr>
              <a:defRPr/>
            </a:lvl1pPr>
          </a:lstStyle>
          <a:p>
            <a:fld id="{B8D680A7-0A96-4F61-9ECD-6D8EEA3CDDBF}" type="slidenum">
              <a:rPr lang="zh-CN" altLang="en-US" smtClean="0"/>
              <a:pPr/>
              <a:t>‹#›</a:t>
            </a:fld>
            <a:endParaRPr lang="zh-CN" altLang="en-US"/>
          </a:p>
        </p:txBody>
      </p:sp>
    </p:spTree>
    <p:extLst>
      <p:ext uri="{BB962C8B-B14F-4D97-AF65-F5344CB8AC3E}">
        <p14:creationId xmlns:p14="http://schemas.microsoft.com/office/powerpoint/2010/main" val="34932754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5616575" cy="576262"/>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68313" y="1484313"/>
            <a:ext cx="3994150" cy="439261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14863" y="1484313"/>
            <a:ext cx="3995737" cy="211931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14863" y="3756025"/>
            <a:ext cx="3995737" cy="21209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7"/>
          <p:cNvSpPr>
            <a:spLocks noGrp="1" noChangeArrowheads="1"/>
          </p:cNvSpPr>
          <p:nvPr>
            <p:ph type="dt" sz="half" idx="10"/>
          </p:nvPr>
        </p:nvSpPr>
        <p:spPr>
          <a:ln/>
        </p:spPr>
        <p:txBody>
          <a:bodyPr/>
          <a:lstStyle>
            <a:lvl1pPr>
              <a:defRPr/>
            </a:lvl1pPr>
          </a:lstStyle>
          <a:p>
            <a:pPr>
              <a:defRPr/>
            </a:pPr>
            <a:fld id="{502121C5-8A82-461F-9C43-B895C2BB9631}" type="datetimeFigureOut">
              <a:rPr lang="zh-CN" altLang="en-US" smtClean="0"/>
              <a:pPr>
                <a:defRPr/>
              </a:pPr>
              <a:t>2021/5/13</a:t>
            </a:fld>
            <a:endParaRPr lang="zh-CN" altLang="en-US"/>
          </a:p>
        </p:txBody>
      </p:sp>
      <p:sp>
        <p:nvSpPr>
          <p:cNvPr id="7"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8" name="Rectangle 9"/>
          <p:cNvSpPr>
            <a:spLocks noGrp="1" noChangeArrowheads="1"/>
          </p:cNvSpPr>
          <p:nvPr>
            <p:ph type="sldNum" sz="quarter" idx="12"/>
          </p:nvPr>
        </p:nvSpPr>
        <p:spPr>
          <a:ln/>
        </p:spPr>
        <p:txBody>
          <a:bodyPr/>
          <a:lstStyle>
            <a:lvl1pPr>
              <a:defRPr/>
            </a:lvl1pPr>
          </a:lstStyle>
          <a:p>
            <a:fld id="{7F87A25D-A7AB-4FD5-BCD7-8D09FECE4038}" type="slidenum">
              <a:rPr lang="zh-CN" altLang="en-US" smtClean="0"/>
              <a:pPr/>
              <a:t>‹#›</a:t>
            </a:fld>
            <a:endParaRPr lang="zh-CN" altLang="en-US"/>
          </a:p>
        </p:txBody>
      </p:sp>
    </p:spTree>
    <p:extLst>
      <p:ext uri="{BB962C8B-B14F-4D97-AF65-F5344CB8AC3E}">
        <p14:creationId xmlns:p14="http://schemas.microsoft.com/office/powerpoint/2010/main" val="20248861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5616575" cy="57626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68313" y="1484313"/>
            <a:ext cx="8142287" cy="4392612"/>
          </a:xfrm>
        </p:spPr>
        <p:txBody>
          <a:bodyPr/>
          <a:lstStyle/>
          <a:p>
            <a:pPr lvl="0"/>
            <a:r>
              <a:rPr lang="zh-CN" altLang="en-US" noProof="0" smtClean="0"/>
              <a:t>单击图标添加表格</a:t>
            </a:r>
          </a:p>
        </p:txBody>
      </p:sp>
      <p:sp>
        <p:nvSpPr>
          <p:cNvPr id="4" name="Rectangle 7"/>
          <p:cNvSpPr>
            <a:spLocks noGrp="1" noChangeArrowheads="1"/>
          </p:cNvSpPr>
          <p:nvPr>
            <p:ph type="dt" sz="half" idx="10"/>
          </p:nvPr>
        </p:nvSpPr>
        <p:spPr>
          <a:ln/>
        </p:spPr>
        <p:txBody>
          <a:bodyPr/>
          <a:lstStyle>
            <a:lvl1pPr>
              <a:defRPr/>
            </a:lvl1pPr>
          </a:lstStyle>
          <a:p>
            <a:pPr>
              <a:defRPr/>
            </a:pPr>
            <a:fld id="{2BC47007-5084-4A4B-96D7-4CA561231CE2}" type="datetimeFigureOut">
              <a:rPr lang="zh-CN" altLang="en-US" smtClean="0"/>
              <a:pPr>
                <a:defRPr/>
              </a:pPr>
              <a:t>2021/5/13</a:t>
            </a:fld>
            <a:endParaRPr lang="zh-CN" alt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6" name="Rectangle 9"/>
          <p:cNvSpPr>
            <a:spLocks noGrp="1" noChangeArrowheads="1"/>
          </p:cNvSpPr>
          <p:nvPr>
            <p:ph type="sldNum" sz="quarter" idx="12"/>
          </p:nvPr>
        </p:nvSpPr>
        <p:spPr>
          <a:ln/>
        </p:spPr>
        <p:txBody>
          <a:bodyPr/>
          <a:lstStyle>
            <a:lvl1pPr>
              <a:defRPr/>
            </a:lvl1pPr>
          </a:lstStyle>
          <a:p>
            <a:fld id="{098F181F-B538-4183-9F44-79237E3859D3}" type="slidenum">
              <a:rPr lang="zh-CN" altLang="en-US" smtClean="0"/>
              <a:pPr/>
              <a:t>‹#›</a:t>
            </a:fld>
            <a:endParaRPr lang="zh-CN" altLang="en-US"/>
          </a:p>
        </p:txBody>
      </p:sp>
    </p:spTree>
    <p:extLst>
      <p:ext uri="{BB962C8B-B14F-4D97-AF65-F5344CB8AC3E}">
        <p14:creationId xmlns:p14="http://schemas.microsoft.com/office/powerpoint/2010/main" val="2878265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title"/>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9" name="Rectangle 5"/>
          <p:cNvSpPr>
            <a:spLocks noGrp="1" noChangeArrowheads="1"/>
          </p:cNvSpPr>
          <p:nvPr>
            <p:ph type="body" idx="1"/>
          </p:nvPr>
        </p:nvSpPr>
        <p:spPr bwMode="auto">
          <a:xfrm>
            <a:off x="468313" y="1484313"/>
            <a:ext cx="8142287"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88423" name="Rectangle 7"/>
          <p:cNvSpPr>
            <a:spLocks noGrp="1" noChangeArrowheads="1"/>
          </p:cNvSpPr>
          <p:nvPr>
            <p:ph type="dt" sz="half" idx="2"/>
          </p:nvPr>
        </p:nvSpPr>
        <p:spPr bwMode="auto">
          <a:xfrm>
            <a:off x="611188" y="6284913"/>
            <a:ext cx="1293812"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fontAlgn="auto" hangingPunct="1">
              <a:spcBef>
                <a:spcPts val="0"/>
              </a:spcBef>
              <a:spcAft>
                <a:spcPts val="0"/>
              </a:spcAft>
              <a:defRPr sz="1600">
                <a:latin typeface="+mn-lt"/>
                <a:ea typeface="宋体" pitchFamily="2" charset="-122"/>
              </a:defRPr>
            </a:lvl1pPr>
          </a:lstStyle>
          <a:p>
            <a:pPr>
              <a:defRPr/>
            </a:pPr>
            <a:fld id="{8C693853-0C9D-41EA-8BCF-EF3ACA4223C9}" type="datetimeFigureOut">
              <a:rPr lang="zh-CN" altLang="en-US" smtClean="0"/>
              <a:pPr>
                <a:defRPr/>
              </a:pPr>
              <a:t>2021/5/13</a:t>
            </a:fld>
            <a:endParaRPr lang="zh-CN" altLang="en-US"/>
          </a:p>
        </p:txBody>
      </p:sp>
      <p:sp>
        <p:nvSpPr>
          <p:cNvPr id="188424" name="Rectangle 8"/>
          <p:cNvSpPr>
            <a:spLocks noGrp="1" noChangeArrowheads="1"/>
          </p:cNvSpPr>
          <p:nvPr>
            <p:ph type="ftr" sz="quarter" idx="3"/>
          </p:nvPr>
        </p:nvSpPr>
        <p:spPr bwMode="auto">
          <a:xfrm>
            <a:off x="2051050" y="6202363"/>
            <a:ext cx="5257800" cy="5397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600">
                <a:latin typeface="Arial" charset="0"/>
                <a:ea typeface="宋体" pitchFamily="2" charset="-122"/>
              </a:defRPr>
            </a:lvl1pPr>
          </a:lstStyle>
          <a:p>
            <a:pPr>
              <a:defRPr/>
            </a:pPr>
            <a:endParaRPr lang="zh-CN" altLang="en-US"/>
          </a:p>
        </p:txBody>
      </p:sp>
      <p:sp>
        <p:nvSpPr>
          <p:cNvPr id="188425" name="Rectangle 9"/>
          <p:cNvSpPr>
            <a:spLocks noGrp="1" noChangeArrowheads="1"/>
          </p:cNvSpPr>
          <p:nvPr>
            <p:ph type="sldNum" sz="quarter" idx="4"/>
          </p:nvPr>
        </p:nvSpPr>
        <p:spPr bwMode="auto">
          <a:xfrm>
            <a:off x="7524750" y="6284913"/>
            <a:ext cx="93345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600"/>
            </a:lvl1pPr>
          </a:lstStyle>
          <a:p>
            <a:fld id="{40102EC4-04E9-4BDC-BD4F-A88C8CF7337D}" type="slidenum">
              <a:rPr lang="zh-CN" altLang="en-US" smtClean="0"/>
              <a:pPr/>
              <a:t>‹#›</a:t>
            </a:fld>
            <a:endParaRPr lang="zh-CN" altLang="en-US"/>
          </a:p>
        </p:txBody>
      </p:sp>
      <p:pic>
        <p:nvPicPr>
          <p:cNvPr id="1034" name="Picture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90228794"/>
      </p:ext>
    </p:extLst>
  </p:cSld>
  <p:clrMap bg1="lt1" tx1="dk1" bg2="lt2" tx2="dk2" accent1="accent1" accent2="accent2" accent3="accent3" accent4="accent4" accent5="accent5" accent6="accent6" hlink="hlink" folHlink="folHlink"/>
  <p:sldLayoutIdLst>
    <p:sldLayoutId id="2147483916" r:id="rId1"/>
    <p:sldLayoutId id="2147483917" r:id="rId2"/>
    <p:sldLayoutId id="2147483918" r:id="rId3"/>
    <p:sldLayoutId id="2147483919" r:id="rId4"/>
    <p:sldLayoutId id="2147483920" r:id="rId5"/>
    <p:sldLayoutId id="2147483921" r:id="rId6"/>
    <p:sldLayoutId id="2147483922" r:id="rId7"/>
    <p:sldLayoutId id="2147483923" r:id="rId8"/>
    <p:sldLayoutId id="2147483924" r:id="rId9"/>
    <p:sldLayoutId id="2147483925" r:id="rId10"/>
    <p:sldLayoutId id="2147483926" r:id="rId11"/>
    <p:sldLayoutId id="2147483927" r:id="rId12"/>
    <p:sldLayoutId id="2147483928" r:id="rId13"/>
    <p:sldLayoutId id="2147483929" r:id="rId14"/>
  </p:sldLayoutIdLst>
  <p:txStyles>
    <p:titleStyle>
      <a:lvl1pPr algn="ctr" rtl="0" eaLnBrk="1" fontAlgn="base" hangingPunct="1">
        <a:spcBef>
          <a:spcPct val="0"/>
        </a:spcBef>
        <a:spcAft>
          <a:spcPct val="0"/>
        </a:spcAft>
        <a:defRPr sz="3200">
          <a:solidFill>
            <a:schemeClr val="tx1"/>
          </a:solidFill>
          <a:latin typeface="+mj-lt"/>
          <a:ea typeface="+mj-ea"/>
          <a:cs typeface="+mj-cs"/>
        </a:defRPr>
      </a:lvl1pPr>
      <a:lvl2pPr algn="ctr" rtl="0" eaLnBrk="1" fontAlgn="base" hangingPunct="1">
        <a:spcBef>
          <a:spcPct val="0"/>
        </a:spcBef>
        <a:spcAft>
          <a:spcPct val="0"/>
        </a:spcAft>
        <a:defRPr sz="3200">
          <a:solidFill>
            <a:schemeClr val="tx1"/>
          </a:solidFill>
          <a:latin typeface="Arial" charset="0"/>
          <a:ea typeface="宋体" pitchFamily="2" charset="-122"/>
        </a:defRPr>
      </a:lvl2pPr>
      <a:lvl3pPr algn="ctr" rtl="0" eaLnBrk="1" fontAlgn="base" hangingPunct="1">
        <a:spcBef>
          <a:spcPct val="0"/>
        </a:spcBef>
        <a:spcAft>
          <a:spcPct val="0"/>
        </a:spcAft>
        <a:defRPr sz="3200">
          <a:solidFill>
            <a:schemeClr val="tx1"/>
          </a:solidFill>
          <a:latin typeface="Arial" charset="0"/>
          <a:ea typeface="宋体" pitchFamily="2" charset="-122"/>
        </a:defRPr>
      </a:lvl3pPr>
      <a:lvl4pPr algn="ctr" rtl="0" eaLnBrk="1" fontAlgn="base" hangingPunct="1">
        <a:spcBef>
          <a:spcPct val="0"/>
        </a:spcBef>
        <a:spcAft>
          <a:spcPct val="0"/>
        </a:spcAft>
        <a:defRPr sz="3200">
          <a:solidFill>
            <a:schemeClr val="tx1"/>
          </a:solidFill>
          <a:latin typeface="Arial" charset="0"/>
          <a:ea typeface="宋体" pitchFamily="2" charset="-122"/>
        </a:defRPr>
      </a:lvl4pPr>
      <a:lvl5pPr algn="ctr" rtl="0" eaLnBrk="1" fontAlgn="base" hangingPunct="1">
        <a:spcBef>
          <a:spcPct val="0"/>
        </a:spcBef>
        <a:spcAft>
          <a:spcPct val="0"/>
        </a:spcAft>
        <a:defRPr sz="3200">
          <a:solidFill>
            <a:schemeClr val="tx1"/>
          </a:solidFill>
          <a:latin typeface="Arial" charset="0"/>
          <a:ea typeface="宋体" pitchFamily="2" charset="-122"/>
        </a:defRPr>
      </a:lvl5pPr>
      <a:lvl6pPr marL="457200" algn="ctr" rtl="0" eaLnBrk="1" fontAlgn="base" hangingPunct="1">
        <a:spcBef>
          <a:spcPct val="0"/>
        </a:spcBef>
        <a:spcAft>
          <a:spcPct val="0"/>
        </a:spcAft>
        <a:defRPr sz="3200">
          <a:solidFill>
            <a:schemeClr val="tx1"/>
          </a:solidFill>
          <a:latin typeface="Arial" charset="0"/>
          <a:ea typeface="宋体" pitchFamily="2" charset="-122"/>
        </a:defRPr>
      </a:lvl6pPr>
      <a:lvl7pPr marL="914400" algn="ctr" rtl="0" eaLnBrk="1" fontAlgn="base" hangingPunct="1">
        <a:spcBef>
          <a:spcPct val="0"/>
        </a:spcBef>
        <a:spcAft>
          <a:spcPct val="0"/>
        </a:spcAft>
        <a:defRPr sz="3200">
          <a:solidFill>
            <a:schemeClr val="tx1"/>
          </a:solidFill>
          <a:latin typeface="Arial" charset="0"/>
          <a:ea typeface="宋体" pitchFamily="2" charset="-122"/>
        </a:defRPr>
      </a:lvl7pPr>
      <a:lvl8pPr marL="1371600" algn="ctr" rtl="0" eaLnBrk="1" fontAlgn="base" hangingPunct="1">
        <a:spcBef>
          <a:spcPct val="0"/>
        </a:spcBef>
        <a:spcAft>
          <a:spcPct val="0"/>
        </a:spcAft>
        <a:defRPr sz="3200">
          <a:solidFill>
            <a:schemeClr val="tx1"/>
          </a:solidFill>
          <a:latin typeface="Arial" charset="0"/>
          <a:ea typeface="宋体" pitchFamily="2" charset="-122"/>
        </a:defRPr>
      </a:lvl8pPr>
      <a:lvl9pPr marL="1828800" algn="ctr" rtl="0" eaLnBrk="1" fontAlgn="base" hangingPunct="1">
        <a:spcBef>
          <a:spcPct val="0"/>
        </a:spcBef>
        <a:spcAft>
          <a:spcPct val="0"/>
        </a:spcAft>
        <a:defRPr sz="3200">
          <a:solidFill>
            <a:schemeClr val="tx1"/>
          </a:solidFill>
          <a:latin typeface="Arial" charset="0"/>
          <a:ea typeface="宋体" pitchFamily="2" charset="-122"/>
        </a:defRPr>
      </a:lvl9pPr>
    </p:titleStyle>
    <p:bodyStyle>
      <a:lvl1pPr marL="447675" indent="-447675" algn="l" rtl="0" eaLnBrk="1" fontAlgn="base" hangingPunct="1">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ea typeface="楷体" pitchFamily="49" charset="-122"/>
          <a:cs typeface="+mn-cs"/>
        </a:defRPr>
      </a:lvl1pPr>
      <a:lvl2pPr marL="889000" indent="-439738" algn="l" rtl="0" eaLnBrk="1" fontAlgn="base" hangingPunct="1">
        <a:spcBef>
          <a:spcPct val="20000"/>
        </a:spcBef>
        <a:spcAft>
          <a:spcPct val="0"/>
        </a:spcAft>
        <a:buClr>
          <a:schemeClr val="hlink"/>
        </a:buClr>
        <a:buSzPct val="65000"/>
        <a:buFont typeface="Wingdings" panose="05000000000000000000" pitchFamily="2" charset="2"/>
        <a:buChar char="¡"/>
        <a:defRPr sz="2400">
          <a:solidFill>
            <a:schemeClr val="tx1"/>
          </a:solidFill>
          <a:latin typeface="+mn-lt"/>
          <a:ea typeface="楷体" pitchFamily="49" charset="-122"/>
        </a:defRPr>
      </a:lvl2pPr>
      <a:lvl3pPr marL="1293813" indent="-403225" algn="l" rtl="0" eaLnBrk="1" fontAlgn="base" hangingPunct="1">
        <a:spcBef>
          <a:spcPct val="20000"/>
        </a:spcBef>
        <a:spcAft>
          <a:spcPct val="0"/>
        </a:spcAft>
        <a:buClr>
          <a:schemeClr val="accent1"/>
        </a:buClr>
        <a:buSzPct val="70000"/>
        <a:buFont typeface="Wingdings" panose="05000000000000000000" pitchFamily="2" charset="2"/>
        <a:buChar char="n"/>
        <a:defRPr sz="2000">
          <a:solidFill>
            <a:schemeClr val="tx1"/>
          </a:solidFill>
          <a:latin typeface="+mn-lt"/>
          <a:ea typeface="楷体" pitchFamily="49" charset="-122"/>
        </a:defRPr>
      </a:lvl3pPr>
      <a:lvl4pPr marL="1681163" indent="-385763" algn="l" rtl="0" eaLnBrk="1" fontAlgn="base" hangingPunct="1">
        <a:spcBef>
          <a:spcPct val="20000"/>
        </a:spcBef>
        <a:spcAft>
          <a:spcPct val="0"/>
        </a:spcAft>
        <a:buClr>
          <a:schemeClr val="hlink"/>
        </a:buClr>
        <a:buSzPct val="75000"/>
        <a:buFont typeface="Wingdings" panose="05000000000000000000" pitchFamily="2" charset="2"/>
        <a:buChar char="¡"/>
        <a:defRPr sz="2000">
          <a:solidFill>
            <a:schemeClr val="tx1"/>
          </a:solidFill>
          <a:latin typeface="+mn-lt"/>
          <a:ea typeface="楷体" pitchFamily="49" charset="-122"/>
        </a:defRPr>
      </a:lvl4pPr>
      <a:lvl5pPr marL="20701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楷体" pitchFamily="49" charset="-122"/>
        </a:defRPr>
      </a:lvl5pPr>
      <a:lvl6pPr marL="25273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trufflesuite.com/" TargetMode="External"/><Relationship Id="rId2" Type="http://schemas.openxmlformats.org/officeDocument/2006/relationships/hyperlink" Target="https://nodejs.org/" TargetMode="External"/><Relationship Id="rId1" Type="http://schemas.openxmlformats.org/officeDocument/2006/relationships/slideLayout" Target="../slideLayouts/slideLayout2.xml"/><Relationship Id="rId4" Type="http://schemas.openxmlformats.org/officeDocument/2006/relationships/hyperlink" Target="https://www.trufflesuite.com/ganach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remix.hubwiz.com/" TargetMode="External"/><Relationship Id="rId2" Type="http://schemas.openxmlformats.org/officeDocument/2006/relationships/hyperlink" Target="https://remix.ethereum.org/"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metamask.io/"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hyperlink" Target="https://learnblockchain.cn/docs/solidity/solidity-by-example.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标题 1"/>
          <p:cNvSpPr>
            <a:spLocks noGrp="1"/>
          </p:cNvSpPr>
          <p:nvPr>
            <p:ph type="ctrTitle"/>
          </p:nvPr>
        </p:nvSpPr>
        <p:spPr/>
        <p:txBody>
          <a:bodyPr/>
          <a:lstStyle/>
          <a:p>
            <a:r>
              <a:rPr lang="zh-CN" altLang="en-US" dirty="0" smtClean="0"/>
              <a:t>以太</a:t>
            </a:r>
            <a:r>
              <a:rPr lang="zh-CN" altLang="en-US" dirty="0"/>
              <a:t>坊智能合约开发</a:t>
            </a:r>
            <a:endParaRPr lang="zh-CN" altLang="en-US"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以太坊智能合约基本原理</a:t>
            </a:r>
          </a:p>
        </p:txBody>
      </p:sp>
      <p:sp>
        <p:nvSpPr>
          <p:cNvPr id="3" name="内容占位符 2"/>
          <p:cNvSpPr>
            <a:spLocks noGrp="1"/>
          </p:cNvSpPr>
          <p:nvPr>
            <p:ph idx="1"/>
          </p:nvPr>
        </p:nvSpPr>
        <p:spPr/>
        <p:txBody>
          <a:bodyPr/>
          <a:lstStyle/>
          <a:p>
            <a:r>
              <a:rPr lang="zh-CN" altLang="en-US" dirty="0" smtClean="0"/>
              <a:t>以太坊中的两种</a:t>
            </a:r>
            <a:r>
              <a:rPr lang="zh-CN" altLang="en-US" dirty="0"/>
              <a:t>不同类型的账户：</a:t>
            </a:r>
          </a:p>
          <a:p>
            <a:pPr lvl="1"/>
            <a:endParaRPr lang="en-US" altLang="zh-CN" dirty="0" smtClean="0"/>
          </a:p>
          <a:p>
            <a:pPr lvl="1"/>
            <a:r>
              <a:rPr lang="zh-CN" altLang="en-US" dirty="0" smtClean="0"/>
              <a:t>外部账户：被</a:t>
            </a:r>
            <a:r>
              <a:rPr lang="zh-CN" altLang="en-US" dirty="0"/>
              <a:t>私钥控制且没有任何代码与之</a:t>
            </a:r>
            <a:r>
              <a:rPr lang="zh-CN" altLang="en-US" dirty="0" smtClean="0"/>
              <a:t>关联。</a:t>
            </a:r>
            <a:endParaRPr lang="zh-CN" altLang="en-US" dirty="0"/>
          </a:p>
          <a:p>
            <a:pPr lvl="1"/>
            <a:endParaRPr lang="en-US" altLang="zh-CN" dirty="0" smtClean="0"/>
          </a:p>
          <a:p>
            <a:pPr lvl="1"/>
            <a:r>
              <a:rPr lang="zh-CN" altLang="en-US" dirty="0" smtClean="0"/>
              <a:t>合约账户：被合约</a:t>
            </a:r>
            <a:r>
              <a:rPr lang="zh-CN" altLang="en-US" dirty="0"/>
              <a:t>代码控制且有代码与之</a:t>
            </a:r>
            <a:r>
              <a:rPr lang="zh-CN" altLang="en-US" dirty="0" smtClean="0"/>
              <a:t>关联。</a:t>
            </a:r>
            <a:endParaRPr lang="zh-CN" altLang="en-US" dirty="0"/>
          </a:p>
        </p:txBody>
      </p:sp>
    </p:spTree>
    <p:extLst>
      <p:ext uri="{BB962C8B-B14F-4D97-AF65-F5344CB8AC3E}">
        <p14:creationId xmlns:p14="http://schemas.microsoft.com/office/powerpoint/2010/main" val="16440737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以太坊智能合约基本原理</a:t>
            </a:r>
          </a:p>
        </p:txBody>
      </p:sp>
      <p:sp>
        <p:nvSpPr>
          <p:cNvPr id="3" name="内容占位符 2"/>
          <p:cNvSpPr>
            <a:spLocks noGrp="1"/>
          </p:cNvSpPr>
          <p:nvPr>
            <p:ph idx="1"/>
          </p:nvPr>
        </p:nvSpPr>
        <p:spPr>
          <a:xfrm>
            <a:off x="179512" y="1124744"/>
            <a:ext cx="8142287" cy="4392612"/>
          </a:xfrm>
        </p:spPr>
        <p:txBody>
          <a:bodyPr/>
          <a:lstStyle/>
          <a:p>
            <a:r>
              <a:rPr lang="zh-CN" altLang="en-US" sz="2400" dirty="0" smtClean="0"/>
              <a:t>世界状态</a:t>
            </a:r>
            <a:endParaRPr lang="en-US" altLang="zh-CN" sz="2400" dirty="0" smtClean="0"/>
          </a:p>
          <a:p>
            <a:pPr lvl="1"/>
            <a:r>
              <a:rPr lang="zh-CN" altLang="en-US" sz="2000" dirty="0"/>
              <a:t>以太坊中所有的账户信息都体现在世界状态之中，并由世界状态树保存。如果你想知道某一账户的余额，或者某智能合约当前的状态，就需要通过查询世界状态树来获取该账户的具体状态信息</a:t>
            </a:r>
            <a:r>
              <a:rPr lang="zh-CN" altLang="en-US" sz="2000" dirty="0" smtClean="0"/>
              <a:t>。</a:t>
            </a:r>
            <a:endParaRPr lang="en-US" altLang="zh-CN" sz="2000" dirty="0" smtClean="0"/>
          </a:p>
          <a:p>
            <a:pPr lvl="1"/>
            <a:r>
              <a:rPr lang="zh-CN" altLang="en-US" sz="2000" dirty="0"/>
              <a:t>以太坊使用的是修改版的</a:t>
            </a:r>
            <a:r>
              <a:rPr lang="en-US" altLang="zh-CN" sz="2000" dirty="0" err="1"/>
              <a:t>Merkle</a:t>
            </a:r>
            <a:r>
              <a:rPr lang="en-US" altLang="zh-CN" sz="2000" dirty="0"/>
              <a:t> Patricia </a:t>
            </a:r>
            <a:r>
              <a:rPr lang="en-US" altLang="zh-CN" sz="2000" dirty="0" smtClean="0"/>
              <a:t>tree</a:t>
            </a:r>
            <a:r>
              <a:rPr lang="zh-CN" altLang="en-US" sz="2000" smtClean="0"/>
              <a:t>。</a:t>
            </a:r>
            <a:endParaRPr lang="zh-CN" altLang="en-US" sz="2000"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3688" y="3429000"/>
            <a:ext cx="6757153" cy="2952328"/>
          </a:xfrm>
          <a:prstGeom prst="rect">
            <a:avLst/>
          </a:prstGeom>
        </p:spPr>
      </p:pic>
    </p:spTree>
    <p:extLst>
      <p:ext uri="{BB962C8B-B14F-4D97-AF65-F5344CB8AC3E}">
        <p14:creationId xmlns:p14="http://schemas.microsoft.com/office/powerpoint/2010/main" val="1171936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以太坊智能合约基本原理</a:t>
            </a:r>
          </a:p>
        </p:txBody>
      </p:sp>
      <p:sp>
        <p:nvSpPr>
          <p:cNvPr id="3" name="内容占位符 2"/>
          <p:cNvSpPr>
            <a:spLocks noGrp="1"/>
          </p:cNvSpPr>
          <p:nvPr>
            <p:ph idx="1"/>
          </p:nvPr>
        </p:nvSpPr>
        <p:spPr>
          <a:xfrm>
            <a:off x="395536" y="1124744"/>
            <a:ext cx="8496944" cy="5112568"/>
          </a:xfrm>
        </p:spPr>
        <p:txBody>
          <a:bodyPr/>
          <a:lstStyle/>
          <a:p>
            <a:r>
              <a:rPr lang="zh-CN" altLang="en-US" dirty="0" smtClean="0"/>
              <a:t>以太坊支持的交易类型</a:t>
            </a:r>
            <a:endParaRPr lang="en-US" altLang="zh-CN" dirty="0" smtClean="0"/>
          </a:p>
          <a:p>
            <a:pPr lvl="1"/>
            <a:r>
              <a:rPr lang="zh-CN" altLang="en-US" dirty="0" smtClean="0"/>
              <a:t>从一个账户向另一个账户发送以太币</a:t>
            </a:r>
            <a:endParaRPr lang="en-US" altLang="zh-CN" dirty="0" smtClean="0"/>
          </a:p>
          <a:p>
            <a:pPr lvl="2"/>
            <a:r>
              <a:rPr lang="zh-CN" altLang="en-US" dirty="0"/>
              <a:t>一</a:t>
            </a:r>
            <a:r>
              <a:rPr lang="zh-CN" altLang="en-US" dirty="0" smtClean="0"/>
              <a:t>个外部账户向另一个外部账户发送以太币</a:t>
            </a:r>
            <a:endParaRPr lang="en-US" altLang="zh-CN" dirty="0" smtClean="0"/>
          </a:p>
          <a:p>
            <a:pPr lvl="2"/>
            <a:r>
              <a:rPr lang="zh-CN" altLang="en-US" dirty="0"/>
              <a:t>一个外部账户向另一</a:t>
            </a:r>
            <a:r>
              <a:rPr lang="zh-CN" altLang="en-US" dirty="0" smtClean="0"/>
              <a:t>个</a:t>
            </a:r>
            <a:r>
              <a:rPr lang="zh-CN" altLang="en-US" dirty="0"/>
              <a:t>合约</a:t>
            </a:r>
            <a:r>
              <a:rPr lang="zh-CN" altLang="en-US" dirty="0" smtClean="0"/>
              <a:t>账户</a:t>
            </a:r>
            <a:r>
              <a:rPr lang="zh-CN" altLang="en-US" dirty="0"/>
              <a:t>发送以太币</a:t>
            </a:r>
            <a:endParaRPr lang="en-US" altLang="zh-CN" dirty="0"/>
          </a:p>
          <a:p>
            <a:pPr lvl="2"/>
            <a:r>
              <a:rPr lang="zh-CN" altLang="en-US" dirty="0"/>
              <a:t>一</a:t>
            </a:r>
            <a:r>
              <a:rPr lang="zh-CN" altLang="en-US" dirty="0" smtClean="0"/>
              <a:t>个</a:t>
            </a:r>
            <a:r>
              <a:rPr lang="zh-CN" altLang="en-US" dirty="0"/>
              <a:t>合约</a:t>
            </a:r>
            <a:r>
              <a:rPr lang="zh-CN" altLang="en-US" dirty="0" smtClean="0"/>
              <a:t>账户</a:t>
            </a:r>
            <a:r>
              <a:rPr lang="zh-CN" altLang="en-US" dirty="0"/>
              <a:t>向另一</a:t>
            </a:r>
            <a:r>
              <a:rPr lang="zh-CN" altLang="en-US" dirty="0" smtClean="0"/>
              <a:t>个</a:t>
            </a:r>
            <a:r>
              <a:rPr lang="zh-CN" altLang="en-US" dirty="0"/>
              <a:t>合约</a:t>
            </a:r>
            <a:r>
              <a:rPr lang="zh-CN" altLang="en-US" dirty="0" smtClean="0"/>
              <a:t>账户</a:t>
            </a:r>
            <a:r>
              <a:rPr lang="zh-CN" altLang="en-US" dirty="0"/>
              <a:t>发送以太币</a:t>
            </a:r>
            <a:endParaRPr lang="en-US" altLang="zh-CN" dirty="0"/>
          </a:p>
          <a:p>
            <a:pPr lvl="2"/>
            <a:r>
              <a:rPr lang="zh-CN" altLang="en-US" dirty="0"/>
              <a:t>一</a:t>
            </a:r>
            <a:r>
              <a:rPr lang="zh-CN" altLang="en-US" dirty="0" smtClean="0"/>
              <a:t>个</a:t>
            </a:r>
            <a:r>
              <a:rPr lang="zh-CN" altLang="en-US" dirty="0"/>
              <a:t>合约</a:t>
            </a:r>
            <a:r>
              <a:rPr lang="zh-CN" altLang="en-US" dirty="0" smtClean="0"/>
              <a:t>账户</a:t>
            </a:r>
            <a:r>
              <a:rPr lang="zh-CN" altLang="en-US" dirty="0"/>
              <a:t>向另一个外部账户发送以太</a:t>
            </a:r>
            <a:r>
              <a:rPr lang="zh-CN" altLang="en-US" dirty="0" smtClean="0"/>
              <a:t>币</a:t>
            </a:r>
            <a:endParaRPr lang="en-US" altLang="zh-CN" dirty="0" smtClean="0"/>
          </a:p>
          <a:p>
            <a:pPr lvl="2"/>
            <a:endParaRPr lang="en-US" altLang="zh-CN" dirty="0"/>
          </a:p>
          <a:p>
            <a:pPr lvl="1"/>
            <a:r>
              <a:rPr lang="zh-CN" altLang="en-US" dirty="0"/>
              <a:t>智能</a:t>
            </a:r>
            <a:r>
              <a:rPr lang="zh-CN" altLang="en-US" dirty="0" smtClean="0"/>
              <a:t>合约部署</a:t>
            </a:r>
            <a:endParaRPr lang="en-US" altLang="zh-CN" dirty="0" smtClean="0"/>
          </a:p>
          <a:p>
            <a:pPr lvl="2"/>
            <a:r>
              <a:rPr lang="zh-CN" altLang="en-US" dirty="0" smtClean="0"/>
              <a:t>外部账户在</a:t>
            </a:r>
            <a:r>
              <a:rPr lang="en-US" altLang="zh-CN" dirty="0" smtClean="0"/>
              <a:t>EVM</a:t>
            </a:r>
            <a:r>
              <a:rPr lang="zh-CN" altLang="en-US" dirty="0" smtClean="0"/>
              <a:t>上部署合约是通过交易的方式实现的。</a:t>
            </a:r>
            <a:endParaRPr lang="en-US" altLang="zh-CN" dirty="0" smtClean="0"/>
          </a:p>
          <a:p>
            <a:pPr lvl="2"/>
            <a:endParaRPr lang="en-US" altLang="zh-CN" dirty="0"/>
          </a:p>
          <a:p>
            <a:r>
              <a:rPr lang="zh-CN" altLang="en-US" dirty="0" smtClean="0"/>
              <a:t>通过以太坊浏览器可以查看交易信息</a:t>
            </a:r>
            <a:endParaRPr lang="en-US" altLang="zh-CN" dirty="0" smtClean="0"/>
          </a:p>
          <a:p>
            <a:pPr lvl="1"/>
            <a:r>
              <a:rPr lang="en-US" altLang="zh-CN" dirty="0"/>
              <a:t>The </a:t>
            </a:r>
            <a:r>
              <a:rPr lang="en-US" altLang="zh-CN" dirty="0" err="1"/>
              <a:t>Ethereum</a:t>
            </a:r>
            <a:r>
              <a:rPr lang="en-US" altLang="zh-CN" dirty="0"/>
              <a:t> </a:t>
            </a:r>
            <a:r>
              <a:rPr lang="en-US" altLang="zh-CN" dirty="0" err="1"/>
              <a:t>Blockchain</a:t>
            </a:r>
            <a:r>
              <a:rPr lang="en-US" altLang="zh-CN" dirty="0"/>
              <a:t> </a:t>
            </a:r>
            <a:r>
              <a:rPr lang="en-US" altLang="zh-CN" dirty="0" smtClean="0"/>
              <a:t>Explorer</a:t>
            </a:r>
          </a:p>
          <a:p>
            <a:pPr lvl="1"/>
            <a:r>
              <a:rPr lang="en-US" altLang="zh-CN" dirty="0"/>
              <a:t>https://cn.etherscan.com/</a:t>
            </a:r>
          </a:p>
          <a:p>
            <a:pPr lvl="2"/>
            <a:endParaRPr lang="en-US" altLang="zh-CN" dirty="0" smtClean="0"/>
          </a:p>
          <a:p>
            <a:pPr lvl="2"/>
            <a:endParaRPr lang="zh-CN" altLang="en-US" dirty="0"/>
          </a:p>
        </p:txBody>
      </p:sp>
    </p:spTree>
    <p:extLst>
      <p:ext uri="{BB962C8B-B14F-4D97-AF65-F5344CB8AC3E}">
        <p14:creationId xmlns:p14="http://schemas.microsoft.com/office/powerpoint/2010/main" val="135759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以太坊智能合约基本原理</a:t>
            </a:r>
          </a:p>
        </p:txBody>
      </p:sp>
      <p:sp>
        <p:nvSpPr>
          <p:cNvPr id="3" name="内容占位符 2"/>
          <p:cNvSpPr>
            <a:spLocks noGrp="1"/>
          </p:cNvSpPr>
          <p:nvPr>
            <p:ph idx="1"/>
          </p:nvPr>
        </p:nvSpPr>
        <p:spPr/>
        <p:txBody>
          <a:bodyPr/>
          <a:lstStyle/>
          <a:p>
            <a:r>
              <a:rPr lang="zh-CN" altLang="en-US" sz="2400" dirty="0"/>
              <a:t>账户状态有四个</a:t>
            </a:r>
            <a:r>
              <a:rPr lang="zh-CN" altLang="en-US" sz="2400" dirty="0" smtClean="0"/>
              <a:t>组成部分：</a:t>
            </a:r>
            <a:endParaRPr lang="zh-CN" altLang="en-US" sz="2400" dirty="0"/>
          </a:p>
          <a:p>
            <a:pPr lvl="1"/>
            <a:r>
              <a:rPr lang="en-US" altLang="zh-CN" sz="2000" dirty="0" smtClean="0"/>
              <a:t>nonce</a:t>
            </a:r>
          </a:p>
          <a:p>
            <a:pPr lvl="2"/>
            <a:r>
              <a:rPr lang="zh-CN" altLang="en-US" sz="1600" dirty="0" smtClean="0"/>
              <a:t>外部账户</a:t>
            </a:r>
            <a:r>
              <a:rPr lang="zh-CN" altLang="en-US" sz="1600" dirty="0"/>
              <a:t>，</a:t>
            </a:r>
            <a:r>
              <a:rPr lang="en-US" altLang="zh-CN" sz="1600" dirty="0"/>
              <a:t>nonce</a:t>
            </a:r>
            <a:r>
              <a:rPr lang="zh-CN" altLang="en-US" sz="1600" dirty="0"/>
              <a:t>代表从此账户地址发送的交易序号</a:t>
            </a:r>
            <a:r>
              <a:rPr lang="zh-CN" altLang="en-US" sz="1600" dirty="0" smtClean="0"/>
              <a:t>。</a:t>
            </a:r>
            <a:endParaRPr lang="en-US" altLang="zh-CN" sz="1600" dirty="0" smtClean="0"/>
          </a:p>
          <a:p>
            <a:pPr lvl="2"/>
            <a:r>
              <a:rPr lang="zh-CN" altLang="en-US" sz="1600" dirty="0" smtClean="0"/>
              <a:t>合约</a:t>
            </a:r>
            <a:r>
              <a:rPr lang="zh-CN" altLang="en-US" sz="1600" dirty="0"/>
              <a:t>账户</a:t>
            </a:r>
            <a:r>
              <a:rPr lang="zh-CN" altLang="en-US" sz="1600" dirty="0" smtClean="0"/>
              <a:t>，</a:t>
            </a:r>
            <a:r>
              <a:rPr lang="en-US" altLang="zh-CN" sz="1600" dirty="0" smtClean="0"/>
              <a:t>nonce</a:t>
            </a:r>
            <a:r>
              <a:rPr lang="zh-CN" altLang="en-US" sz="1600" dirty="0"/>
              <a:t>代表此账户创建的合约序号</a:t>
            </a:r>
          </a:p>
          <a:p>
            <a:pPr lvl="1"/>
            <a:r>
              <a:rPr lang="en-US" altLang="zh-CN" sz="2000" dirty="0"/>
              <a:t>balance</a:t>
            </a:r>
            <a:r>
              <a:rPr lang="zh-CN" altLang="en-US" sz="2000" dirty="0"/>
              <a:t>： 此</a:t>
            </a:r>
            <a:r>
              <a:rPr lang="zh-CN" altLang="en-US" sz="2000" dirty="0" smtClean="0"/>
              <a:t>地址账户余额，以</a:t>
            </a:r>
            <a:r>
              <a:rPr lang="en-US" altLang="zh-CN" sz="2000" dirty="0" smtClean="0"/>
              <a:t>Wei</a:t>
            </a:r>
            <a:r>
              <a:rPr lang="zh-CN" altLang="en-US" sz="2000" dirty="0" smtClean="0"/>
              <a:t>为单位。</a:t>
            </a:r>
            <a:r>
              <a:rPr lang="en-US" altLang="zh-CN" sz="2000" dirty="0" smtClean="0"/>
              <a:t>1Ether=10</a:t>
            </a:r>
            <a:r>
              <a:rPr lang="en-US" altLang="zh-CN" sz="2000" baseline="30000" dirty="0" smtClean="0"/>
              <a:t>18</a:t>
            </a:r>
            <a:r>
              <a:rPr lang="en-US" altLang="zh-CN" sz="2000" dirty="0" smtClean="0"/>
              <a:t>Wei</a:t>
            </a:r>
            <a:endParaRPr lang="en-US" altLang="zh-CN" sz="2000" dirty="0"/>
          </a:p>
          <a:p>
            <a:pPr lvl="1"/>
            <a:r>
              <a:rPr lang="en-US" altLang="zh-CN" sz="2000" dirty="0" err="1"/>
              <a:t>storageRoot</a:t>
            </a:r>
            <a:r>
              <a:rPr lang="zh-CN" altLang="en-US" sz="2000" dirty="0" smtClean="0"/>
              <a:t>：</a:t>
            </a:r>
            <a:r>
              <a:rPr lang="zh-CN" altLang="en-US" sz="2000" dirty="0"/>
              <a:t>此账户存储内容的</a:t>
            </a:r>
            <a:r>
              <a:rPr lang="en-US" altLang="zh-CN" sz="2000" dirty="0"/>
              <a:t>Hash</a:t>
            </a:r>
            <a:r>
              <a:rPr lang="zh-CN" altLang="en-US" sz="2000" dirty="0" smtClean="0"/>
              <a:t>值的</a:t>
            </a:r>
            <a:r>
              <a:rPr lang="en-US" altLang="zh-CN" sz="2000" dirty="0" err="1" smtClean="0"/>
              <a:t>Merkle</a:t>
            </a:r>
            <a:r>
              <a:rPr lang="zh-CN" altLang="en-US" sz="2000" dirty="0" smtClean="0"/>
              <a:t>树</a:t>
            </a:r>
            <a:r>
              <a:rPr lang="zh-CN" altLang="en-US" sz="2000" dirty="0"/>
              <a:t>的根节点</a:t>
            </a:r>
            <a:r>
              <a:rPr lang="en-US" altLang="zh-CN" sz="2000" dirty="0"/>
              <a:t>Hash</a:t>
            </a:r>
            <a:r>
              <a:rPr lang="zh-CN" altLang="en-US" sz="2000" dirty="0" smtClean="0"/>
              <a:t>值，默认</a:t>
            </a:r>
            <a:r>
              <a:rPr lang="zh-CN" altLang="en-US" sz="2000" dirty="0"/>
              <a:t>是</a:t>
            </a:r>
            <a:r>
              <a:rPr lang="zh-CN" altLang="en-US" sz="2000" dirty="0" smtClean="0"/>
              <a:t>空值。</a:t>
            </a:r>
            <a:endParaRPr lang="zh-CN" altLang="en-US" sz="2000" dirty="0"/>
          </a:p>
          <a:p>
            <a:pPr lvl="1"/>
            <a:r>
              <a:rPr lang="en-US" altLang="zh-CN" sz="2000" dirty="0" err="1"/>
              <a:t>codeHash</a:t>
            </a:r>
            <a:r>
              <a:rPr lang="zh-CN" altLang="en-US" sz="2000" dirty="0" smtClean="0"/>
              <a:t>：</a:t>
            </a:r>
            <a:endParaRPr lang="en-US" altLang="zh-CN" sz="2000" dirty="0" smtClean="0"/>
          </a:p>
          <a:p>
            <a:pPr lvl="2"/>
            <a:r>
              <a:rPr lang="zh-CN" altLang="en-US" sz="1600" dirty="0" smtClean="0"/>
              <a:t>合约账户，</a:t>
            </a:r>
            <a:r>
              <a:rPr lang="en-US" altLang="zh-CN" sz="1600" dirty="0" smtClean="0"/>
              <a:t>EVM</a:t>
            </a:r>
            <a:r>
              <a:rPr lang="zh-CN" altLang="en-US" sz="1600" dirty="0" smtClean="0"/>
              <a:t>合约代码</a:t>
            </a:r>
            <a:r>
              <a:rPr lang="zh-CN" altLang="en-US" sz="1600" dirty="0"/>
              <a:t>的</a:t>
            </a:r>
            <a:r>
              <a:rPr lang="en-US" altLang="zh-CN" sz="1600" dirty="0"/>
              <a:t>hash</a:t>
            </a:r>
            <a:r>
              <a:rPr lang="zh-CN" altLang="en-US" sz="1600" dirty="0"/>
              <a:t>值</a:t>
            </a:r>
            <a:r>
              <a:rPr lang="zh-CN" altLang="en-US" sz="1600" dirty="0" smtClean="0"/>
              <a:t>。</a:t>
            </a:r>
            <a:endParaRPr lang="en-US" altLang="zh-CN" sz="1600" dirty="0" smtClean="0"/>
          </a:p>
          <a:p>
            <a:pPr lvl="2"/>
            <a:r>
              <a:rPr lang="zh-CN" altLang="en-US" sz="1600" dirty="0" smtClean="0"/>
              <a:t>外部账户，</a:t>
            </a:r>
            <a:r>
              <a:rPr lang="en-US" altLang="zh-CN" sz="1600" dirty="0" err="1" smtClean="0"/>
              <a:t>codeHash</a:t>
            </a:r>
            <a:r>
              <a:rPr lang="zh-CN" altLang="en-US" sz="1600" dirty="0" smtClean="0"/>
              <a:t>域是一个空字符串的</a:t>
            </a:r>
            <a:r>
              <a:rPr lang="en-US" altLang="zh-CN" sz="1600" dirty="0" smtClean="0"/>
              <a:t>Hash</a:t>
            </a:r>
            <a:r>
              <a:rPr lang="zh-CN" altLang="en-US" sz="1600" dirty="0" smtClean="0"/>
              <a:t>值。</a:t>
            </a:r>
            <a:endParaRPr lang="zh-CN" altLang="en-US" sz="1600" dirty="0"/>
          </a:p>
        </p:txBody>
      </p:sp>
    </p:spTree>
    <p:extLst>
      <p:ext uri="{BB962C8B-B14F-4D97-AF65-F5344CB8AC3E}">
        <p14:creationId xmlns:p14="http://schemas.microsoft.com/office/powerpoint/2010/main" val="322317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智能</a:t>
            </a:r>
            <a:r>
              <a:rPr lang="zh-CN" altLang="en-US" dirty="0" smtClean="0"/>
              <a:t>合约实践</a:t>
            </a:r>
            <a:endParaRPr lang="zh-CN" altLang="en-US" dirty="0"/>
          </a:p>
        </p:txBody>
      </p:sp>
      <p:sp>
        <p:nvSpPr>
          <p:cNvPr id="3" name="内容占位符 2"/>
          <p:cNvSpPr>
            <a:spLocks noGrp="1"/>
          </p:cNvSpPr>
          <p:nvPr>
            <p:ph idx="1"/>
          </p:nvPr>
        </p:nvSpPr>
        <p:spPr/>
        <p:txBody>
          <a:bodyPr/>
          <a:lstStyle/>
          <a:p>
            <a:r>
              <a:rPr lang="zh-CN" altLang="en-US" dirty="0"/>
              <a:t>以太坊智能</a:t>
            </a:r>
            <a:r>
              <a:rPr lang="zh-CN" altLang="en-US" dirty="0" smtClean="0"/>
              <a:t>合约</a:t>
            </a:r>
            <a:r>
              <a:rPr lang="zh-CN" altLang="en-US" dirty="0"/>
              <a:t>应用</a:t>
            </a:r>
            <a:r>
              <a:rPr lang="zh-CN" altLang="en-US" dirty="0" smtClean="0"/>
              <a:t>步骤</a:t>
            </a:r>
            <a:endParaRPr lang="zh-CN" altLang="en-US" dirty="0"/>
          </a:p>
          <a:p>
            <a:endParaRPr lang="zh-CN" altLang="en-US" dirty="0"/>
          </a:p>
        </p:txBody>
      </p:sp>
      <p:sp>
        <p:nvSpPr>
          <p:cNvPr id="5" name="TextBox 6"/>
          <p:cNvSpPr txBox="1"/>
          <p:nvPr/>
        </p:nvSpPr>
        <p:spPr>
          <a:xfrm>
            <a:off x="941337" y="3079942"/>
            <a:ext cx="1284196" cy="338554"/>
          </a:xfrm>
          <a:prstGeom prst="rect">
            <a:avLst/>
          </a:prstGeom>
          <a:noFill/>
        </p:spPr>
        <p:txBody>
          <a:bodyPr wrap="square" rtlCol="0">
            <a:spAutoFit/>
          </a:bodyPr>
          <a:lstStyle/>
          <a:p>
            <a:pPr algn="ctr"/>
            <a:r>
              <a:rPr lang="zh-CN" altLang="en-US" sz="1600" b="1" dirty="0" smtClean="0">
                <a:solidFill>
                  <a:srgbClr val="002060"/>
                </a:solidFill>
                <a:latin typeface="微软雅黑" panose="020B0503020204020204" pitchFamily="34" charset="-122"/>
                <a:ea typeface="微软雅黑" panose="020B0503020204020204" pitchFamily="34" charset="-122"/>
              </a:rPr>
              <a:t>编译合约</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sp>
        <p:nvSpPr>
          <p:cNvPr id="10" name="TextBox 17"/>
          <p:cNvSpPr txBox="1"/>
          <p:nvPr/>
        </p:nvSpPr>
        <p:spPr>
          <a:xfrm>
            <a:off x="3491211" y="2980492"/>
            <a:ext cx="1284196" cy="338554"/>
          </a:xfrm>
          <a:prstGeom prst="rect">
            <a:avLst/>
          </a:prstGeom>
          <a:noFill/>
        </p:spPr>
        <p:txBody>
          <a:bodyPr wrap="square" rtlCol="0">
            <a:spAutoFit/>
          </a:bodyPr>
          <a:lstStyle/>
          <a:p>
            <a:pPr algn="ctr"/>
            <a:r>
              <a:rPr lang="zh-CN" altLang="en-US" sz="1600" b="1" dirty="0" smtClean="0">
                <a:solidFill>
                  <a:srgbClr val="002060"/>
                </a:solidFill>
                <a:latin typeface="微软雅黑" panose="020B0503020204020204" pitchFamily="34" charset="-122"/>
                <a:ea typeface="微软雅黑" panose="020B0503020204020204" pitchFamily="34" charset="-122"/>
              </a:rPr>
              <a:t>部署合约</a:t>
            </a:r>
            <a:endParaRPr lang="en-US" altLang="zh-CN" sz="1600" b="1" dirty="0" smtClean="0">
              <a:solidFill>
                <a:srgbClr val="002060"/>
              </a:solidFill>
              <a:latin typeface="微软雅黑" panose="020B0503020204020204" pitchFamily="34" charset="-122"/>
              <a:ea typeface="微软雅黑" panose="020B0503020204020204" pitchFamily="34" charset="-122"/>
            </a:endParaRPr>
          </a:p>
        </p:txBody>
      </p:sp>
      <p:sp>
        <p:nvSpPr>
          <p:cNvPr id="15" name="TextBox 23"/>
          <p:cNvSpPr txBox="1"/>
          <p:nvPr/>
        </p:nvSpPr>
        <p:spPr>
          <a:xfrm>
            <a:off x="5148091" y="4480864"/>
            <a:ext cx="1284196" cy="338554"/>
          </a:xfrm>
          <a:prstGeom prst="rect">
            <a:avLst/>
          </a:prstGeom>
          <a:noFill/>
        </p:spPr>
        <p:txBody>
          <a:bodyPr wrap="square" rtlCol="0">
            <a:spAutoFit/>
          </a:bodyPr>
          <a:lstStyle/>
          <a:p>
            <a:pPr algn="ctr"/>
            <a:r>
              <a:rPr lang="zh-CN" altLang="en-US" sz="1600" b="1" dirty="0" smtClean="0">
                <a:solidFill>
                  <a:srgbClr val="002060"/>
                </a:solidFill>
                <a:latin typeface="微软雅黑" panose="020B0503020204020204" pitchFamily="34" charset="-122"/>
                <a:ea typeface="微软雅黑" panose="020B0503020204020204" pitchFamily="34" charset="-122"/>
              </a:rPr>
              <a:t>调用合约</a:t>
            </a:r>
            <a:endParaRPr lang="en-US" altLang="zh-CN" sz="1600" b="1" dirty="0" smtClean="0">
              <a:solidFill>
                <a:srgbClr val="002060"/>
              </a:solidFill>
              <a:latin typeface="微软雅黑" panose="020B0503020204020204" pitchFamily="34" charset="-122"/>
              <a:ea typeface="微软雅黑" panose="020B0503020204020204" pitchFamily="34" charset="-122"/>
            </a:endParaRPr>
          </a:p>
        </p:txBody>
      </p:sp>
      <p:sp>
        <p:nvSpPr>
          <p:cNvPr id="17" name="TextBox 25"/>
          <p:cNvSpPr txBox="1"/>
          <p:nvPr/>
        </p:nvSpPr>
        <p:spPr>
          <a:xfrm>
            <a:off x="6659563" y="3068960"/>
            <a:ext cx="1530275" cy="338554"/>
          </a:xfrm>
          <a:prstGeom prst="rect">
            <a:avLst/>
          </a:prstGeom>
          <a:noFill/>
        </p:spPr>
        <p:txBody>
          <a:bodyPr wrap="square" rtlCol="0">
            <a:spAutoFit/>
          </a:bodyPr>
          <a:lstStyle/>
          <a:p>
            <a:pPr algn="ctr"/>
            <a:r>
              <a:rPr lang="zh-CN" altLang="en-US" sz="1600" b="1" dirty="0" smtClean="0">
                <a:solidFill>
                  <a:srgbClr val="002060"/>
                </a:solidFill>
                <a:latin typeface="微软雅黑" panose="020B0503020204020204" pitchFamily="34" charset="-122"/>
                <a:ea typeface="微软雅黑" panose="020B0503020204020204" pitchFamily="34" charset="-122"/>
              </a:rPr>
              <a:t>监听合约</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sp>
        <p:nvSpPr>
          <p:cNvPr id="22" name="TextBox 25"/>
          <p:cNvSpPr txBox="1"/>
          <p:nvPr/>
        </p:nvSpPr>
        <p:spPr>
          <a:xfrm>
            <a:off x="6587555" y="5769929"/>
            <a:ext cx="1530275" cy="338554"/>
          </a:xfrm>
          <a:prstGeom prst="rect">
            <a:avLst/>
          </a:prstGeom>
          <a:noFill/>
        </p:spPr>
        <p:txBody>
          <a:bodyPr wrap="square"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rPr>
              <a:t>销毁</a:t>
            </a:r>
            <a:r>
              <a:rPr lang="zh-CN" altLang="en-US" sz="1600" b="1" dirty="0" smtClean="0">
                <a:solidFill>
                  <a:srgbClr val="002060"/>
                </a:solidFill>
                <a:latin typeface="微软雅黑" panose="020B0503020204020204" pitchFamily="34" charset="-122"/>
                <a:ea typeface="微软雅黑" panose="020B0503020204020204" pitchFamily="34" charset="-122"/>
              </a:rPr>
              <a:t>合约</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sp>
        <p:nvSpPr>
          <p:cNvPr id="27" name="TextBox 6"/>
          <p:cNvSpPr txBox="1"/>
          <p:nvPr/>
        </p:nvSpPr>
        <p:spPr>
          <a:xfrm>
            <a:off x="2078122" y="4553653"/>
            <a:ext cx="1284196" cy="338554"/>
          </a:xfrm>
          <a:prstGeom prst="rect">
            <a:avLst/>
          </a:prstGeom>
          <a:noFill/>
        </p:spPr>
        <p:txBody>
          <a:bodyPr wrap="square"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rPr>
              <a:t>创建</a:t>
            </a:r>
            <a:r>
              <a:rPr lang="zh-CN" altLang="en-US" sz="1600" b="1" dirty="0" smtClean="0">
                <a:solidFill>
                  <a:srgbClr val="002060"/>
                </a:solidFill>
                <a:latin typeface="微软雅黑" panose="020B0503020204020204" pitchFamily="34" charset="-122"/>
                <a:ea typeface="微软雅黑" panose="020B0503020204020204" pitchFamily="34" charset="-122"/>
              </a:rPr>
              <a:t>合约</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cxnSp>
        <p:nvCxnSpPr>
          <p:cNvPr id="32" name="直接箭头连接符 31"/>
          <p:cNvCxnSpPr/>
          <p:nvPr/>
        </p:nvCxnSpPr>
        <p:spPr bwMode="auto">
          <a:xfrm>
            <a:off x="1691011" y="3520924"/>
            <a:ext cx="864096" cy="959940"/>
          </a:xfrm>
          <a:prstGeom prst="straightConnector1">
            <a:avLst/>
          </a:prstGeom>
          <a:solidFill>
            <a:schemeClr val="bg1"/>
          </a:solidFill>
          <a:ln w="9525" cap="flat" cmpd="sng" algn="ctr">
            <a:solidFill>
              <a:srgbClr val="FF0000"/>
            </a:solidFill>
            <a:prstDash val="solid"/>
            <a:round/>
            <a:headEnd type="none" w="med" len="med"/>
            <a:tailEnd type="triangle"/>
          </a:ln>
          <a:effectLst/>
        </p:spPr>
      </p:cxnSp>
      <p:cxnSp>
        <p:nvCxnSpPr>
          <p:cNvPr id="34" name="直接箭头连接符 33"/>
          <p:cNvCxnSpPr/>
          <p:nvPr/>
        </p:nvCxnSpPr>
        <p:spPr bwMode="auto">
          <a:xfrm flipV="1">
            <a:off x="2915147" y="3409351"/>
            <a:ext cx="781443" cy="983551"/>
          </a:xfrm>
          <a:prstGeom prst="straightConnector1">
            <a:avLst/>
          </a:prstGeom>
          <a:solidFill>
            <a:schemeClr val="bg1"/>
          </a:solidFill>
          <a:ln w="9525" cap="flat" cmpd="sng" algn="ctr">
            <a:solidFill>
              <a:srgbClr val="FF0000"/>
            </a:solidFill>
            <a:prstDash val="solid"/>
            <a:round/>
            <a:headEnd type="none" w="med" len="med"/>
            <a:tailEnd type="triangle"/>
          </a:ln>
          <a:effectLst/>
        </p:spPr>
      </p:cxnSp>
      <p:cxnSp>
        <p:nvCxnSpPr>
          <p:cNvPr id="36" name="直接箭头连接符 35"/>
          <p:cNvCxnSpPr/>
          <p:nvPr/>
        </p:nvCxnSpPr>
        <p:spPr bwMode="auto">
          <a:xfrm>
            <a:off x="4499323" y="3457940"/>
            <a:ext cx="936104" cy="917575"/>
          </a:xfrm>
          <a:prstGeom prst="straightConnector1">
            <a:avLst/>
          </a:prstGeom>
          <a:solidFill>
            <a:schemeClr val="bg1"/>
          </a:solidFill>
          <a:ln w="9525" cap="flat" cmpd="sng" algn="ctr">
            <a:solidFill>
              <a:srgbClr val="FF0000"/>
            </a:solidFill>
            <a:prstDash val="solid"/>
            <a:round/>
            <a:headEnd type="none" w="med" len="med"/>
            <a:tailEnd type="triangle"/>
          </a:ln>
          <a:effectLst/>
        </p:spPr>
      </p:cxnSp>
      <p:cxnSp>
        <p:nvCxnSpPr>
          <p:cNvPr id="38" name="直接箭头连接符 37"/>
          <p:cNvCxnSpPr/>
          <p:nvPr/>
        </p:nvCxnSpPr>
        <p:spPr bwMode="auto">
          <a:xfrm flipV="1">
            <a:off x="6011491" y="3409351"/>
            <a:ext cx="1008112" cy="849562"/>
          </a:xfrm>
          <a:prstGeom prst="straightConnector1">
            <a:avLst/>
          </a:prstGeom>
          <a:solidFill>
            <a:schemeClr val="bg1"/>
          </a:solidFill>
          <a:ln w="9525" cap="flat" cmpd="sng" algn="ctr">
            <a:solidFill>
              <a:srgbClr val="FF0000"/>
            </a:solidFill>
            <a:prstDash val="solid"/>
            <a:round/>
            <a:headEnd type="none" w="med" len="med"/>
            <a:tailEnd type="triangle"/>
          </a:ln>
          <a:effectLst/>
        </p:spPr>
      </p:cxnSp>
      <p:cxnSp>
        <p:nvCxnSpPr>
          <p:cNvPr id="40" name="直接箭头连接符 39"/>
          <p:cNvCxnSpPr/>
          <p:nvPr/>
        </p:nvCxnSpPr>
        <p:spPr bwMode="auto">
          <a:xfrm>
            <a:off x="5937236" y="4924767"/>
            <a:ext cx="869419" cy="887192"/>
          </a:xfrm>
          <a:prstGeom prst="straightConnector1">
            <a:avLst/>
          </a:prstGeom>
          <a:solidFill>
            <a:schemeClr val="bg1"/>
          </a:solidFill>
          <a:ln w="952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33753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以太坊智能合约基本原理</a:t>
            </a:r>
          </a:p>
        </p:txBody>
      </p:sp>
      <p:sp>
        <p:nvSpPr>
          <p:cNvPr id="3" name="内容占位符 2"/>
          <p:cNvSpPr>
            <a:spLocks noGrp="1"/>
          </p:cNvSpPr>
          <p:nvPr>
            <p:ph idx="1"/>
          </p:nvPr>
        </p:nvSpPr>
        <p:spPr>
          <a:xfrm>
            <a:off x="179512" y="1052736"/>
            <a:ext cx="8856984" cy="4464496"/>
          </a:xfrm>
        </p:spPr>
        <p:txBody>
          <a:bodyPr/>
          <a:lstStyle/>
          <a:p>
            <a:r>
              <a:rPr lang="zh-CN" altLang="en-US" sz="2000" dirty="0"/>
              <a:t>以太坊上部署和运行智能合约的</a:t>
            </a:r>
            <a:r>
              <a:rPr lang="zh-CN" altLang="en-US" sz="2000" dirty="0" smtClean="0"/>
              <a:t>过程</a:t>
            </a:r>
            <a:endParaRPr lang="en-US" altLang="zh-CN" sz="2000" dirty="0" smtClean="0"/>
          </a:p>
          <a:p>
            <a:pPr marL="906462" lvl="1" indent="-457200">
              <a:buFont typeface="+mj-lt"/>
              <a:buAutoNum type="arabicPeriod"/>
            </a:pPr>
            <a:r>
              <a:rPr lang="zh-CN" altLang="en-US" sz="1600" dirty="0"/>
              <a:t>启动一个以太坊节点（如</a:t>
            </a:r>
            <a:r>
              <a:rPr lang="en-US" altLang="zh-CN" sz="1600" dirty="0" err="1"/>
              <a:t>geth</a:t>
            </a:r>
            <a:r>
              <a:rPr lang="zh-CN" altLang="en-US" sz="1600" dirty="0"/>
              <a:t>）。</a:t>
            </a:r>
          </a:p>
          <a:p>
            <a:pPr marL="906462" lvl="1" indent="-457200">
              <a:buFont typeface="+mj-lt"/>
              <a:buAutoNum type="arabicPeriod"/>
            </a:pPr>
            <a:r>
              <a:rPr lang="zh-CN" altLang="en-US" sz="1600" dirty="0"/>
              <a:t>使用智能合约语言编写智能合约（如</a:t>
            </a:r>
            <a:r>
              <a:rPr lang="en-US" altLang="zh-CN" sz="1600" dirty="0"/>
              <a:t>Solidity</a:t>
            </a:r>
            <a:r>
              <a:rPr lang="zh-CN" altLang="en-US" sz="1600" dirty="0"/>
              <a:t>）。</a:t>
            </a:r>
          </a:p>
          <a:p>
            <a:pPr lvl="1"/>
            <a:r>
              <a:rPr lang="zh-CN" altLang="en-US" sz="1600" dirty="0" smtClean="0"/>
              <a:t>先使用相关编译器将智能</a:t>
            </a:r>
            <a:r>
              <a:rPr lang="zh-CN" altLang="en-US" sz="1600" dirty="0"/>
              <a:t>合约源代码</a:t>
            </a:r>
            <a:r>
              <a:rPr lang="zh-CN" altLang="en-US" sz="1600" dirty="0" smtClean="0"/>
              <a:t>编译为以太坊</a:t>
            </a:r>
            <a:r>
              <a:rPr lang="en-US" altLang="zh-CN" sz="1600" dirty="0" smtClean="0"/>
              <a:t>EVM</a:t>
            </a:r>
            <a:r>
              <a:rPr lang="zh-CN" altLang="en-US" sz="1600" dirty="0" smtClean="0"/>
              <a:t>字节码，编译时会生成智能</a:t>
            </a:r>
            <a:r>
              <a:rPr lang="zh-CN" altLang="en-US" sz="1600" dirty="0"/>
              <a:t>合约的二进制接口规范（</a:t>
            </a:r>
            <a:r>
              <a:rPr lang="en-US" altLang="zh-CN" sz="1600" dirty="0"/>
              <a:t>Application Binary </a:t>
            </a:r>
            <a:r>
              <a:rPr lang="en-US" altLang="zh-CN" sz="1600" dirty="0" smtClean="0"/>
              <a:t>Interface/ABI</a:t>
            </a:r>
            <a:r>
              <a:rPr lang="zh-CN" altLang="en-US" sz="1600" dirty="0" smtClean="0"/>
              <a:t>）。</a:t>
            </a:r>
            <a:endParaRPr lang="en-US" altLang="zh-CN" sz="1600" dirty="0" smtClean="0"/>
          </a:p>
          <a:p>
            <a:pPr lvl="1"/>
            <a:r>
              <a:rPr lang="zh-CN" altLang="en-US" sz="1600" dirty="0"/>
              <a:t>通过</a:t>
            </a:r>
            <a:r>
              <a:rPr lang="zh-CN" altLang="en-US" sz="1600" dirty="0" smtClean="0"/>
              <a:t>交易的</a:t>
            </a:r>
            <a:r>
              <a:rPr lang="zh-CN" altLang="en-US" sz="1600" dirty="0"/>
              <a:t>方式将字节码部署到以太坊网络</a:t>
            </a:r>
            <a:r>
              <a:rPr lang="zh-CN" altLang="en-US" sz="1600" dirty="0" smtClean="0"/>
              <a:t>，成功</a:t>
            </a:r>
            <a:r>
              <a:rPr lang="zh-CN" altLang="en-US" sz="1600" dirty="0"/>
              <a:t>部署</a:t>
            </a:r>
            <a:r>
              <a:rPr lang="zh-CN" altLang="en-US" sz="1600" dirty="0" smtClean="0"/>
              <a:t>都会为该智能合约产生</a:t>
            </a:r>
            <a:r>
              <a:rPr lang="zh-CN" altLang="en-US" sz="1600" dirty="0"/>
              <a:t>一</a:t>
            </a:r>
            <a:r>
              <a:rPr lang="zh-CN" altLang="en-US" sz="1600" dirty="0" smtClean="0"/>
              <a:t>个合约账户。</a:t>
            </a:r>
            <a:endParaRPr lang="en-US" altLang="zh-CN" sz="1600" dirty="0" smtClean="0"/>
          </a:p>
          <a:p>
            <a:pPr lvl="1"/>
            <a:r>
              <a:rPr lang="en-US" altLang="zh-CN" sz="1600" dirty="0" err="1" smtClean="0"/>
              <a:t>DApp</a:t>
            </a:r>
            <a:r>
              <a:rPr lang="zh-CN" altLang="en-US" sz="1600" dirty="0" smtClean="0"/>
              <a:t>通过</a:t>
            </a:r>
            <a:r>
              <a:rPr lang="en-US" altLang="zh-CN" sz="1600" dirty="0"/>
              <a:t>web3.js + </a:t>
            </a:r>
            <a:r>
              <a:rPr lang="en-US" altLang="zh-CN" sz="1600" dirty="0" smtClean="0"/>
              <a:t>ABI</a:t>
            </a:r>
            <a:r>
              <a:rPr lang="zh-CN" altLang="en-US" sz="1600" dirty="0" smtClean="0"/>
              <a:t>等方式去</a:t>
            </a:r>
            <a:r>
              <a:rPr lang="zh-CN" altLang="en-US" sz="1600" dirty="0"/>
              <a:t>调用智能合约中的</a:t>
            </a:r>
            <a:r>
              <a:rPr lang="zh-CN" altLang="en-US" sz="1600" dirty="0" smtClean="0"/>
              <a:t>函数，这也是以太坊交易。</a:t>
            </a:r>
            <a:endParaRPr lang="zh-CN" altLang="en-US" sz="1600" dirty="0"/>
          </a:p>
        </p:txBody>
      </p:sp>
      <p:pic>
        <p:nvPicPr>
          <p:cNvPr id="5" name="图片 4"/>
          <p:cNvPicPr>
            <a:picLocks noChangeAspect="1"/>
          </p:cNvPicPr>
          <p:nvPr/>
        </p:nvPicPr>
        <p:blipFill>
          <a:blip r:embed="rId2"/>
          <a:stretch>
            <a:fillRect/>
          </a:stretch>
        </p:blipFill>
        <p:spPr>
          <a:xfrm>
            <a:off x="1547664" y="3645024"/>
            <a:ext cx="6056627" cy="2995555"/>
          </a:xfrm>
          <a:prstGeom prst="rect">
            <a:avLst/>
          </a:prstGeom>
        </p:spPr>
      </p:pic>
    </p:spTree>
    <p:extLst>
      <p:ext uri="{BB962C8B-B14F-4D97-AF65-F5344CB8AC3E}">
        <p14:creationId xmlns:p14="http://schemas.microsoft.com/office/powerpoint/2010/main" val="1509439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以太坊智能合约基本原理</a:t>
            </a:r>
          </a:p>
        </p:txBody>
      </p:sp>
      <p:sp>
        <p:nvSpPr>
          <p:cNvPr id="3" name="内容占位符 2"/>
          <p:cNvSpPr>
            <a:spLocks noGrp="1"/>
          </p:cNvSpPr>
          <p:nvPr>
            <p:ph idx="1"/>
          </p:nvPr>
        </p:nvSpPr>
        <p:spPr>
          <a:xfrm>
            <a:off x="323528" y="1124744"/>
            <a:ext cx="8640959" cy="4752181"/>
          </a:xfrm>
        </p:spPr>
        <p:txBody>
          <a:bodyPr/>
          <a:lstStyle/>
          <a:p>
            <a:r>
              <a:rPr lang="zh-CN" altLang="en-US" dirty="0"/>
              <a:t>以太坊的</a:t>
            </a:r>
            <a:r>
              <a:rPr lang="en-US" altLang="zh-CN" dirty="0" smtClean="0"/>
              <a:t>gas</a:t>
            </a:r>
          </a:p>
          <a:p>
            <a:pPr lvl="1"/>
            <a:r>
              <a:rPr lang="zh-CN" altLang="en-US" dirty="0" smtClean="0"/>
              <a:t>为了</a:t>
            </a:r>
            <a:r>
              <a:rPr lang="zh-CN" altLang="en-US" dirty="0"/>
              <a:t>防止区块链网络资源滥用或由</a:t>
            </a:r>
            <a:r>
              <a:rPr lang="zh-CN" altLang="en-US" dirty="0" smtClean="0"/>
              <a:t>图灵</a:t>
            </a:r>
            <a:r>
              <a:rPr lang="zh-CN" altLang="en-US" dirty="0"/>
              <a:t>完备引起的无限循环</a:t>
            </a:r>
            <a:r>
              <a:rPr lang="zh-CN" altLang="en-US" dirty="0" smtClean="0"/>
              <a:t>故障，任何</a:t>
            </a:r>
            <a:r>
              <a:rPr lang="zh-CN" altLang="en-US" dirty="0"/>
              <a:t>可编程的计算都受计费</a:t>
            </a:r>
            <a:r>
              <a:rPr lang="zh-CN" altLang="en-US" dirty="0" smtClean="0"/>
              <a:t>限制；</a:t>
            </a:r>
            <a:endParaRPr lang="en-US" altLang="zh-CN" dirty="0" smtClean="0"/>
          </a:p>
          <a:p>
            <a:pPr lvl="1"/>
            <a:r>
              <a:rPr lang="zh-CN" altLang="en-US" dirty="0" smtClean="0"/>
              <a:t>该</a:t>
            </a:r>
            <a:r>
              <a:rPr lang="zh-CN" altLang="en-US" dirty="0"/>
              <a:t>计费机制以</a:t>
            </a:r>
            <a:r>
              <a:rPr lang="en-US" altLang="zh-CN" dirty="0"/>
              <a:t>gas </a:t>
            </a:r>
            <a:r>
              <a:rPr lang="zh-CN" altLang="en-US" dirty="0"/>
              <a:t>为</a:t>
            </a:r>
            <a:r>
              <a:rPr lang="zh-CN" altLang="en-US" dirty="0" smtClean="0"/>
              <a:t>单位，创建</a:t>
            </a:r>
            <a:r>
              <a:rPr lang="zh-CN" altLang="en-US" dirty="0"/>
              <a:t>智能合约、调用消息</a:t>
            </a:r>
            <a:r>
              <a:rPr lang="zh-CN" altLang="en-US" dirty="0" smtClean="0"/>
              <a:t>、存储空间使用以及虚拟机</a:t>
            </a:r>
            <a:r>
              <a:rPr lang="zh-CN" altLang="en-US" dirty="0"/>
              <a:t>上的运行操作都对应一定</a:t>
            </a:r>
            <a:r>
              <a:rPr lang="zh-CN" altLang="en-US" dirty="0" smtClean="0"/>
              <a:t>的</a:t>
            </a:r>
            <a:r>
              <a:rPr lang="en-US" altLang="zh-CN" dirty="0" smtClean="0"/>
              <a:t>gas </a:t>
            </a:r>
            <a:r>
              <a:rPr lang="zh-CN" altLang="en-US" dirty="0"/>
              <a:t>计费</a:t>
            </a:r>
            <a:r>
              <a:rPr lang="zh-CN" altLang="en-US" dirty="0" smtClean="0"/>
              <a:t>标准；</a:t>
            </a:r>
            <a:endParaRPr lang="en-US" altLang="zh-CN" dirty="0" smtClean="0"/>
          </a:p>
          <a:p>
            <a:pPr lvl="1"/>
            <a:r>
              <a:rPr lang="en-US" altLang="zh-CN" dirty="0" smtClean="0"/>
              <a:t>gas </a:t>
            </a:r>
            <a:r>
              <a:rPr lang="zh-CN" altLang="en-US" dirty="0"/>
              <a:t>计费的引入为智能合约的运行提供了</a:t>
            </a:r>
            <a:r>
              <a:rPr lang="zh-CN" altLang="en-US" dirty="0" smtClean="0"/>
              <a:t>机制</a:t>
            </a:r>
            <a:r>
              <a:rPr lang="zh-CN" altLang="en-US" dirty="0"/>
              <a:t>上的安全</a:t>
            </a:r>
            <a:r>
              <a:rPr lang="zh-CN" altLang="en-US" dirty="0" smtClean="0"/>
              <a:t>保障，一旦</a:t>
            </a:r>
            <a:r>
              <a:rPr lang="en-US" altLang="zh-CN" dirty="0"/>
              <a:t>gas </a:t>
            </a:r>
            <a:r>
              <a:rPr lang="zh-CN" altLang="en-US" dirty="0"/>
              <a:t>超过计费限制</a:t>
            </a:r>
            <a:r>
              <a:rPr lang="en-US" altLang="zh-CN" dirty="0" err="1" smtClean="0"/>
              <a:t>gasLimit</a:t>
            </a:r>
            <a:r>
              <a:rPr lang="zh-CN" altLang="en-US" dirty="0" smtClean="0"/>
              <a:t>，整个交易将</a:t>
            </a:r>
            <a:r>
              <a:rPr lang="zh-CN" altLang="en-US" dirty="0"/>
              <a:t>会被回</a:t>
            </a:r>
            <a:r>
              <a:rPr lang="zh-CN" altLang="en-US" dirty="0" smtClean="0"/>
              <a:t>滚，以</a:t>
            </a:r>
            <a:r>
              <a:rPr lang="zh-CN" altLang="en-US" dirty="0"/>
              <a:t>保证数据的完整性和</a:t>
            </a:r>
            <a:r>
              <a:rPr lang="zh-CN" altLang="en-US" dirty="0" smtClean="0"/>
              <a:t>安全性。</a:t>
            </a:r>
            <a:endParaRPr lang="en-US" altLang="zh-CN" dirty="0"/>
          </a:p>
          <a:p>
            <a:pPr lvl="1"/>
            <a:r>
              <a:rPr lang="zh-CN" altLang="en-US" dirty="0" smtClean="0"/>
              <a:t>合约</a:t>
            </a:r>
            <a:r>
              <a:rPr lang="zh-CN" altLang="en-US" dirty="0"/>
              <a:t>执行会在所有节点中被多次重复，这个事实得使得合约执行的消耗变得昂贵，所以这也促使大家将能在链下进行的运算都不放到区块链上</a:t>
            </a:r>
            <a:r>
              <a:rPr lang="zh-CN" altLang="en-US" dirty="0" smtClean="0"/>
              <a:t>进行</a:t>
            </a:r>
            <a:r>
              <a:rPr lang="zh-CN" altLang="en-US" dirty="0"/>
              <a:t>。</a:t>
            </a:r>
          </a:p>
        </p:txBody>
      </p:sp>
    </p:spTree>
    <p:extLst>
      <p:ext uri="{BB962C8B-B14F-4D97-AF65-F5344CB8AC3E}">
        <p14:creationId xmlns:p14="http://schemas.microsoft.com/office/powerpoint/2010/main" val="1371146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以太坊智能合约基本原理</a:t>
            </a:r>
          </a:p>
        </p:txBody>
      </p:sp>
      <p:sp>
        <p:nvSpPr>
          <p:cNvPr id="3" name="内容占位符 2"/>
          <p:cNvSpPr>
            <a:spLocks noGrp="1"/>
          </p:cNvSpPr>
          <p:nvPr>
            <p:ph idx="1"/>
          </p:nvPr>
        </p:nvSpPr>
        <p:spPr/>
        <p:txBody>
          <a:bodyPr/>
          <a:lstStyle/>
          <a:p>
            <a:r>
              <a:rPr lang="en-US" altLang="zh-CN" dirty="0"/>
              <a:t>gas limit</a:t>
            </a:r>
            <a:r>
              <a:rPr lang="zh-CN" altLang="en-US" dirty="0"/>
              <a:t>代表用户愿意花费在</a:t>
            </a:r>
            <a:r>
              <a:rPr lang="en-US" altLang="zh-CN" dirty="0"/>
              <a:t>gas</a:t>
            </a:r>
            <a:r>
              <a:rPr lang="zh-CN" altLang="en-US" dirty="0"/>
              <a:t>上费用的最大值。如果在他们的账户</a:t>
            </a:r>
            <a:r>
              <a:rPr lang="zh-CN" altLang="en-US" dirty="0" smtClean="0"/>
              <a:t>余额足够</a:t>
            </a:r>
            <a:r>
              <a:rPr lang="en-US" altLang="zh-CN" dirty="0" smtClean="0"/>
              <a:t>,</a:t>
            </a:r>
            <a:r>
              <a:rPr lang="zh-CN" altLang="en-US" dirty="0" smtClean="0"/>
              <a:t>在</a:t>
            </a:r>
            <a:r>
              <a:rPr lang="zh-CN" altLang="en-US" dirty="0"/>
              <a:t>交易结束时任何未使用的</a:t>
            </a:r>
            <a:r>
              <a:rPr lang="en-US" altLang="zh-CN" dirty="0"/>
              <a:t>gas</a:t>
            </a:r>
            <a:r>
              <a:rPr lang="zh-CN" altLang="en-US" dirty="0"/>
              <a:t>都会被返回给</a:t>
            </a:r>
            <a:r>
              <a:rPr lang="zh-CN" altLang="en-US" dirty="0" smtClean="0"/>
              <a:t>发送者</a:t>
            </a:r>
            <a:r>
              <a:rPr lang="zh-CN" altLang="en-US" dirty="0"/>
              <a:t>。</a:t>
            </a:r>
          </a:p>
        </p:txBody>
      </p:sp>
      <p:pic>
        <p:nvPicPr>
          <p:cNvPr id="4" name="图片 3"/>
          <p:cNvPicPr>
            <a:picLocks noChangeAspect="1"/>
          </p:cNvPicPr>
          <p:nvPr/>
        </p:nvPicPr>
        <p:blipFill>
          <a:blip r:embed="rId2"/>
          <a:stretch>
            <a:fillRect/>
          </a:stretch>
        </p:blipFill>
        <p:spPr>
          <a:xfrm>
            <a:off x="323528" y="3068960"/>
            <a:ext cx="8635720" cy="2389994"/>
          </a:xfrm>
          <a:prstGeom prst="rect">
            <a:avLst/>
          </a:prstGeom>
        </p:spPr>
      </p:pic>
      <p:sp>
        <p:nvSpPr>
          <p:cNvPr id="5" name="文本框 4"/>
          <p:cNvSpPr txBox="1"/>
          <p:nvPr/>
        </p:nvSpPr>
        <p:spPr>
          <a:xfrm>
            <a:off x="1547664" y="5733256"/>
            <a:ext cx="6264696" cy="369332"/>
          </a:xfrm>
          <a:prstGeom prst="rect">
            <a:avLst/>
          </a:prstGeom>
          <a:noFill/>
        </p:spPr>
        <p:txBody>
          <a:bodyPr wrap="square" rtlCol="0">
            <a:spAutoFit/>
          </a:bodyPr>
          <a:lstStyle/>
          <a:p>
            <a:r>
              <a:rPr lang="zh-CN" altLang="en-US" dirty="0" smtClean="0"/>
              <a:t>所有消耗的</a:t>
            </a:r>
            <a:r>
              <a:rPr lang="en-US" altLang="zh-CN" dirty="0" smtClean="0"/>
              <a:t>gas</a:t>
            </a:r>
            <a:r>
              <a:rPr lang="zh-CN" altLang="en-US" dirty="0" smtClean="0"/>
              <a:t>最终被作为奖励转入矿工的账户。</a:t>
            </a:r>
            <a:endParaRPr lang="zh-CN" altLang="en-US" dirty="0"/>
          </a:p>
        </p:txBody>
      </p:sp>
    </p:spTree>
    <p:extLst>
      <p:ext uri="{BB962C8B-B14F-4D97-AF65-F5344CB8AC3E}">
        <p14:creationId xmlns:p14="http://schemas.microsoft.com/office/powerpoint/2010/main" val="1332591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以太坊智能合约基本原理</a:t>
            </a:r>
          </a:p>
        </p:txBody>
      </p:sp>
      <p:sp>
        <p:nvSpPr>
          <p:cNvPr id="3" name="内容占位符 2"/>
          <p:cNvSpPr>
            <a:spLocks noGrp="1"/>
          </p:cNvSpPr>
          <p:nvPr>
            <p:ph idx="1"/>
          </p:nvPr>
        </p:nvSpPr>
        <p:spPr/>
        <p:txBody>
          <a:bodyPr/>
          <a:lstStyle/>
          <a:p>
            <a:r>
              <a:rPr lang="zh-CN" altLang="en-US" dirty="0"/>
              <a:t>没有提供足够的</a:t>
            </a:r>
            <a:r>
              <a:rPr lang="en-US" altLang="zh-CN" dirty="0"/>
              <a:t>gas</a:t>
            </a:r>
            <a:r>
              <a:rPr lang="zh-CN" altLang="en-US" dirty="0"/>
              <a:t>来执行交易，交易处理在耗尽所有</a:t>
            </a:r>
            <a:r>
              <a:rPr lang="en-US" altLang="zh-CN" dirty="0"/>
              <a:t>gas</a:t>
            </a:r>
            <a:r>
              <a:rPr lang="zh-CN" altLang="en-US" dirty="0"/>
              <a:t>后会被终止以及所有已改变的状态将会被</a:t>
            </a:r>
            <a:r>
              <a:rPr lang="zh-CN" altLang="en-US" dirty="0" smtClean="0"/>
              <a:t>恢复</a:t>
            </a:r>
            <a:r>
              <a:rPr lang="zh-CN" altLang="en-US" dirty="0"/>
              <a:t>。</a:t>
            </a:r>
          </a:p>
        </p:txBody>
      </p:sp>
      <p:pic>
        <p:nvPicPr>
          <p:cNvPr id="4" name="图片 3"/>
          <p:cNvPicPr>
            <a:picLocks noChangeAspect="1"/>
          </p:cNvPicPr>
          <p:nvPr/>
        </p:nvPicPr>
        <p:blipFill>
          <a:blip r:embed="rId2"/>
          <a:stretch>
            <a:fillRect/>
          </a:stretch>
        </p:blipFill>
        <p:spPr>
          <a:xfrm>
            <a:off x="393010" y="3356992"/>
            <a:ext cx="8292892" cy="2112511"/>
          </a:xfrm>
          <a:prstGeom prst="rect">
            <a:avLst/>
          </a:prstGeom>
        </p:spPr>
      </p:pic>
    </p:spTree>
    <p:extLst>
      <p:ext uri="{BB962C8B-B14F-4D97-AF65-F5344CB8AC3E}">
        <p14:creationId xmlns:p14="http://schemas.microsoft.com/office/powerpoint/2010/main" val="1479763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以太坊智能合约基本原理</a:t>
            </a:r>
          </a:p>
        </p:txBody>
      </p:sp>
      <p:sp>
        <p:nvSpPr>
          <p:cNvPr id="3" name="内容占位符 2"/>
          <p:cNvSpPr>
            <a:spLocks noGrp="1"/>
          </p:cNvSpPr>
          <p:nvPr>
            <p:ph idx="1"/>
          </p:nvPr>
        </p:nvSpPr>
        <p:spPr>
          <a:xfrm>
            <a:off x="323529" y="1268760"/>
            <a:ext cx="8287072" cy="4608165"/>
          </a:xfrm>
        </p:spPr>
        <p:txBody>
          <a:bodyPr/>
          <a:lstStyle/>
          <a:p>
            <a:r>
              <a:rPr lang="zh-CN" altLang="en-US" sz="2400" dirty="0"/>
              <a:t>以太坊交易</a:t>
            </a:r>
            <a:r>
              <a:rPr lang="zh-CN" altLang="en-US" sz="2400" dirty="0" smtClean="0"/>
              <a:t>数据结构</a:t>
            </a:r>
            <a:endParaRPr lang="en-US" altLang="zh-CN" sz="2400" dirty="0" smtClean="0"/>
          </a:p>
          <a:p>
            <a:pPr lvl="1"/>
            <a:r>
              <a:rPr lang="en-US" altLang="zh-CN" sz="2000" dirty="0" smtClean="0"/>
              <a:t>nonce</a:t>
            </a:r>
            <a:r>
              <a:rPr lang="zh-CN" altLang="en-US" sz="2000" dirty="0" smtClean="0"/>
              <a:t>：交易的编号，由发送方在交易前产生；</a:t>
            </a:r>
            <a:endParaRPr lang="en-US" altLang="zh-CN" sz="2000" dirty="0" smtClean="0"/>
          </a:p>
          <a:p>
            <a:pPr lvl="1"/>
            <a:r>
              <a:rPr lang="en-US" altLang="zh-CN" sz="2000" dirty="0" smtClean="0"/>
              <a:t>Gas</a:t>
            </a:r>
            <a:r>
              <a:rPr lang="zh-CN" altLang="en-US" sz="2000" dirty="0" smtClean="0"/>
              <a:t>：发送方支付的</a:t>
            </a:r>
            <a:r>
              <a:rPr lang="en-US" altLang="zh-CN" sz="2000" dirty="0" smtClean="0"/>
              <a:t>gas</a:t>
            </a:r>
            <a:r>
              <a:rPr lang="zh-CN" altLang="en-US" sz="2000" dirty="0" smtClean="0"/>
              <a:t>数量；</a:t>
            </a:r>
            <a:endParaRPr lang="en-US" altLang="zh-CN" sz="2000" dirty="0" smtClean="0"/>
          </a:p>
          <a:p>
            <a:pPr lvl="1"/>
            <a:r>
              <a:rPr lang="en-US" altLang="zh-CN" sz="2000" dirty="0" err="1" smtClean="0"/>
              <a:t>GasPrice</a:t>
            </a:r>
            <a:r>
              <a:rPr lang="zh-CN" altLang="en-US" sz="2000" dirty="0" smtClean="0"/>
              <a:t>：</a:t>
            </a:r>
            <a:r>
              <a:rPr lang="en-US" altLang="zh-CN" sz="2000" dirty="0" smtClean="0"/>
              <a:t>gas</a:t>
            </a:r>
            <a:r>
              <a:rPr lang="zh-CN" altLang="en-US" sz="2000" dirty="0" smtClean="0"/>
              <a:t>的价格；</a:t>
            </a:r>
            <a:endParaRPr lang="en-US" altLang="zh-CN" sz="2000" dirty="0" smtClean="0"/>
          </a:p>
          <a:p>
            <a:pPr lvl="1"/>
            <a:r>
              <a:rPr lang="en-US" altLang="zh-CN" sz="2000" dirty="0" smtClean="0"/>
              <a:t>from</a:t>
            </a:r>
            <a:r>
              <a:rPr lang="zh-CN" altLang="en-US" sz="2000" dirty="0" smtClean="0"/>
              <a:t>：交易发起方账户地址，可以是外部账户或合约账户；</a:t>
            </a:r>
            <a:endParaRPr lang="en-US" altLang="zh-CN" sz="2000" dirty="0" smtClean="0"/>
          </a:p>
          <a:p>
            <a:pPr lvl="1"/>
            <a:r>
              <a:rPr lang="en-US" altLang="zh-CN" sz="2000" dirty="0" smtClean="0"/>
              <a:t>to</a:t>
            </a:r>
            <a:r>
              <a:rPr lang="zh-CN" altLang="en-US" sz="2000" dirty="0" smtClean="0"/>
              <a:t>：接受账户地址，可以是外部账户或合约账户，如果是部署合约的交易，则此字段为空；</a:t>
            </a:r>
            <a:endParaRPr lang="en-US" altLang="zh-CN" sz="2000" dirty="0" smtClean="0"/>
          </a:p>
          <a:p>
            <a:pPr lvl="1"/>
            <a:r>
              <a:rPr lang="en-US" altLang="zh-CN" sz="2000" dirty="0" smtClean="0"/>
              <a:t>value</a:t>
            </a:r>
            <a:r>
              <a:rPr lang="zh-CN" altLang="en-US" sz="2000" dirty="0" smtClean="0"/>
              <a:t>：账户之间转移的以太币数量；</a:t>
            </a:r>
            <a:endParaRPr lang="en-US" altLang="zh-CN" sz="2000" dirty="0" smtClean="0"/>
          </a:p>
          <a:p>
            <a:pPr lvl="1"/>
            <a:r>
              <a:rPr lang="en-US" altLang="zh-CN" sz="2000" dirty="0" smtClean="0"/>
              <a:t>input</a:t>
            </a:r>
            <a:r>
              <a:rPr lang="zh-CN" altLang="en-US" sz="2000" dirty="0" smtClean="0"/>
              <a:t>：合约编译后被部署在</a:t>
            </a:r>
            <a:r>
              <a:rPr lang="en-US" altLang="zh-CN" sz="2000" dirty="0" smtClean="0"/>
              <a:t>EVM</a:t>
            </a:r>
            <a:r>
              <a:rPr lang="zh-CN" altLang="en-US" sz="2000" dirty="0" smtClean="0"/>
              <a:t>上的字节码，如果是普通交易则为空；</a:t>
            </a:r>
            <a:endParaRPr lang="en-US" altLang="zh-CN" sz="2000" dirty="0" smtClean="0"/>
          </a:p>
          <a:p>
            <a:pPr lvl="1"/>
            <a:r>
              <a:rPr lang="en-US" altLang="zh-CN" sz="2000" dirty="0" smtClean="0"/>
              <a:t>R</a:t>
            </a:r>
            <a:r>
              <a:rPr lang="zh-CN" altLang="en-US" sz="2000" dirty="0" smtClean="0"/>
              <a:t>、</a:t>
            </a:r>
            <a:r>
              <a:rPr lang="en-US" altLang="zh-CN" sz="2000" dirty="0" smtClean="0"/>
              <a:t>S</a:t>
            </a:r>
            <a:r>
              <a:rPr lang="zh-CN" altLang="en-US" sz="2000" dirty="0" smtClean="0"/>
              <a:t>、</a:t>
            </a:r>
            <a:r>
              <a:rPr lang="en-US" altLang="zh-CN" sz="2000" dirty="0" smtClean="0"/>
              <a:t>V</a:t>
            </a:r>
            <a:r>
              <a:rPr lang="zh-CN" altLang="en-US" sz="2000" dirty="0" smtClean="0"/>
              <a:t>：数字签名和交易的签名。</a:t>
            </a:r>
            <a:endParaRPr lang="zh-CN" altLang="en-US" sz="2000" dirty="0"/>
          </a:p>
        </p:txBody>
      </p:sp>
      <p:pic>
        <p:nvPicPr>
          <p:cNvPr id="7" name="图片 6"/>
          <p:cNvPicPr>
            <a:picLocks noChangeAspect="1"/>
          </p:cNvPicPr>
          <p:nvPr/>
        </p:nvPicPr>
        <p:blipFill>
          <a:blip r:embed="rId2"/>
          <a:stretch>
            <a:fillRect/>
          </a:stretch>
        </p:blipFill>
        <p:spPr>
          <a:xfrm>
            <a:off x="683568" y="5445224"/>
            <a:ext cx="8300070" cy="1193546"/>
          </a:xfrm>
          <a:prstGeom prst="rect">
            <a:avLst/>
          </a:prstGeom>
        </p:spPr>
      </p:pic>
    </p:spTree>
    <p:extLst>
      <p:ext uri="{BB962C8B-B14F-4D97-AF65-F5344CB8AC3E}">
        <p14:creationId xmlns:p14="http://schemas.microsoft.com/office/powerpoint/2010/main" val="2909642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以太坊智能合约基本原理</a:t>
            </a:r>
          </a:p>
        </p:txBody>
      </p:sp>
      <p:sp>
        <p:nvSpPr>
          <p:cNvPr id="3" name="内容占位符 2"/>
          <p:cNvSpPr>
            <a:spLocks noGrp="1"/>
          </p:cNvSpPr>
          <p:nvPr>
            <p:ph idx="1"/>
          </p:nvPr>
        </p:nvSpPr>
        <p:spPr/>
        <p:txBody>
          <a:bodyPr/>
          <a:lstStyle/>
          <a:p>
            <a:r>
              <a:rPr lang="zh-CN" altLang="en-US" dirty="0" smtClean="0"/>
              <a:t>普通交易</a:t>
            </a:r>
            <a:endParaRPr lang="zh-CN" altLang="en-US" dirty="0"/>
          </a:p>
        </p:txBody>
      </p:sp>
      <p:pic>
        <p:nvPicPr>
          <p:cNvPr id="5" name="图片 4"/>
          <p:cNvPicPr>
            <a:picLocks noChangeAspect="1"/>
          </p:cNvPicPr>
          <p:nvPr/>
        </p:nvPicPr>
        <p:blipFill>
          <a:blip r:embed="rId2"/>
          <a:stretch>
            <a:fillRect/>
          </a:stretch>
        </p:blipFill>
        <p:spPr>
          <a:xfrm>
            <a:off x="903052" y="2136268"/>
            <a:ext cx="7272808" cy="4260911"/>
          </a:xfrm>
          <a:prstGeom prst="rect">
            <a:avLst/>
          </a:prstGeom>
        </p:spPr>
      </p:pic>
    </p:spTree>
    <p:extLst>
      <p:ext uri="{BB962C8B-B14F-4D97-AF65-F5344CB8AC3E}">
        <p14:creationId xmlns:p14="http://schemas.microsoft.com/office/powerpoint/2010/main" val="2056440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以太坊智能合约基本原理</a:t>
            </a:r>
          </a:p>
        </p:txBody>
      </p:sp>
      <p:sp>
        <p:nvSpPr>
          <p:cNvPr id="3" name="内容占位符 2"/>
          <p:cNvSpPr>
            <a:spLocks noGrp="1"/>
          </p:cNvSpPr>
          <p:nvPr>
            <p:ph idx="1"/>
          </p:nvPr>
        </p:nvSpPr>
        <p:spPr>
          <a:xfrm>
            <a:off x="107504" y="1052736"/>
            <a:ext cx="8784975" cy="4824189"/>
          </a:xfrm>
        </p:spPr>
        <p:txBody>
          <a:bodyPr/>
          <a:lstStyle/>
          <a:p>
            <a:r>
              <a:rPr lang="zh-CN" altLang="en-US" sz="2400" dirty="0" smtClean="0"/>
              <a:t>部署智能合约交易</a:t>
            </a:r>
            <a:endParaRPr lang="en-US" altLang="zh-CN" sz="2400" dirty="0" smtClean="0"/>
          </a:p>
          <a:p>
            <a:pPr lvl="1"/>
            <a:r>
              <a:rPr lang="zh-CN" altLang="en-US" sz="2000" dirty="0"/>
              <a:t>合约部署实际上是发起了</a:t>
            </a:r>
            <a:r>
              <a:rPr lang="en-US" altLang="zh-CN" sz="2000" dirty="0"/>
              <a:t>1</a:t>
            </a:r>
            <a:r>
              <a:rPr lang="zh-CN" altLang="en-US" sz="2000" dirty="0"/>
              <a:t>笔交易，交易的接收者为空，以太坊将接收者为空的交易默认为是合约实例创建请求，这类交易中会携带当前部署合约</a:t>
            </a:r>
            <a:r>
              <a:rPr lang="zh-CN" altLang="en-US" sz="2000" dirty="0" smtClean="0"/>
              <a:t>的</a:t>
            </a:r>
            <a:r>
              <a:rPr lang="en-US" altLang="zh-CN" sz="2000" dirty="0" smtClean="0"/>
              <a:t>EVM</a:t>
            </a:r>
            <a:r>
              <a:rPr lang="zh-CN" altLang="en-US" sz="2000" dirty="0" smtClean="0"/>
              <a:t>字节码</a:t>
            </a:r>
            <a:r>
              <a:rPr lang="zh-CN" altLang="en-US" sz="2000" dirty="0"/>
              <a:t>（</a:t>
            </a:r>
            <a:r>
              <a:rPr lang="en-US" altLang="zh-CN" sz="2000" dirty="0" err="1"/>
              <a:t>ByteCode</a:t>
            </a:r>
            <a:r>
              <a:rPr lang="zh-CN" altLang="en-US" sz="2000" dirty="0"/>
              <a:t>），部署成功的话会返回新建的合约</a:t>
            </a:r>
            <a:r>
              <a:rPr lang="zh-CN" altLang="en-US" sz="2000" dirty="0" smtClean="0"/>
              <a:t>账户。</a:t>
            </a:r>
            <a:endParaRPr lang="zh-CN" altLang="en-US" sz="2000" dirty="0"/>
          </a:p>
        </p:txBody>
      </p:sp>
      <p:pic>
        <p:nvPicPr>
          <p:cNvPr id="4" name="图片 3"/>
          <p:cNvPicPr>
            <a:picLocks noChangeAspect="1"/>
          </p:cNvPicPr>
          <p:nvPr/>
        </p:nvPicPr>
        <p:blipFill>
          <a:blip r:embed="rId2"/>
          <a:stretch>
            <a:fillRect/>
          </a:stretch>
        </p:blipFill>
        <p:spPr>
          <a:xfrm>
            <a:off x="254321" y="3068960"/>
            <a:ext cx="8491339" cy="2663949"/>
          </a:xfrm>
          <a:prstGeom prst="rect">
            <a:avLst/>
          </a:prstGeom>
        </p:spPr>
      </p:pic>
    </p:spTree>
    <p:extLst>
      <p:ext uri="{BB962C8B-B14F-4D97-AF65-F5344CB8AC3E}">
        <p14:creationId xmlns:p14="http://schemas.microsoft.com/office/powerpoint/2010/main" val="30022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以太坊智能合约基本原理</a:t>
            </a:r>
          </a:p>
        </p:txBody>
      </p:sp>
      <p:sp>
        <p:nvSpPr>
          <p:cNvPr id="3" name="内容占位符 2"/>
          <p:cNvSpPr>
            <a:spLocks noGrp="1"/>
          </p:cNvSpPr>
          <p:nvPr>
            <p:ph idx="1"/>
          </p:nvPr>
        </p:nvSpPr>
        <p:spPr/>
        <p:txBody>
          <a:bodyPr/>
          <a:lstStyle/>
          <a:p>
            <a:r>
              <a:rPr lang="zh-CN" altLang="en-US" dirty="0" smtClean="0"/>
              <a:t>合约调用交易</a:t>
            </a:r>
            <a:endParaRPr lang="zh-CN" altLang="en-US" dirty="0"/>
          </a:p>
        </p:txBody>
      </p:sp>
      <p:pic>
        <p:nvPicPr>
          <p:cNvPr id="4" name="图片 3"/>
          <p:cNvPicPr>
            <a:picLocks noChangeAspect="1"/>
          </p:cNvPicPr>
          <p:nvPr/>
        </p:nvPicPr>
        <p:blipFill>
          <a:blip r:embed="rId2"/>
          <a:stretch>
            <a:fillRect/>
          </a:stretch>
        </p:blipFill>
        <p:spPr>
          <a:xfrm>
            <a:off x="308968" y="2204864"/>
            <a:ext cx="8280920" cy="4359584"/>
          </a:xfrm>
          <a:prstGeom prst="rect">
            <a:avLst/>
          </a:prstGeom>
        </p:spPr>
      </p:pic>
    </p:spTree>
    <p:extLst>
      <p:ext uri="{BB962C8B-B14F-4D97-AF65-F5344CB8AC3E}">
        <p14:creationId xmlns:p14="http://schemas.microsoft.com/office/powerpoint/2010/main" val="1992790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以太坊</a:t>
            </a:r>
            <a:r>
              <a:rPr lang="en-US" altLang="zh-CN" dirty="0" smtClean="0"/>
              <a:t>DAPP</a:t>
            </a:r>
            <a:endParaRPr lang="zh-CN" altLang="en-US" dirty="0"/>
          </a:p>
        </p:txBody>
      </p:sp>
      <p:sp>
        <p:nvSpPr>
          <p:cNvPr id="3" name="内容占位符 2"/>
          <p:cNvSpPr>
            <a:spLocks noGrp="1"/>
          </p:cNvSpPr>
          <p:nvPr>
            <p:ph idx="1"/>
          </p:nvPr>
        </p:nvSpPr>
        <p:spPr>
          <a:xfrm>
            <a:off x="251520" y="1268760"/>
            <a:ext cx="8568951" cy="4608165"/>
          </a:xfrm>
        </p:spPr>
        <p:txBody>
          <a:bodyPr/>
          <a:lstStyle/>
          <a:p>
            <a:r>
              <a:rPr lang="zh-CN" altLang="en-US" dirty="0"/>
              <a:t>去中心化的应用程序</a:t>
            </a:r>
            <a:r>
              <a:rPr lang="en-US" altLang="zh-CN" dirty="0"/>
              <a:t>(Decentralized App</a:t>
            </a:r>
            <a:r>
              <a:rPr lang="en-US" altLang="zh-CN" dirty="0" smtClean="0"/>
              <a:t>)</a:t>
            </a:r>
            <a:r>
              <a:rPr lang="zh-CN" altLang="en-US" dirty="0" smtClean="0"/>
              <a:t>：基于</a:t>
            </a:r>
            <a:r>
              <a:rPr lang="zh-CN" altLang="en-US" dirty="0"/>
              <a:t>智能合约的</a:t>
            </a:r>
            <a:r>
              <a:rPr lang="zh-CN" altLang="en-US" dirty="0" smtClean="0"/>
              <a:t>应用。</a:t>
            </a:r>
            <a:endParaRPr lang="en-US" altLang="zh-CN" dirty="0" smtClean="0"/>
          </a:p>
          <a:p>
            <a:r>
              <a:rPr lang="zh-CN" altLang="en-US" dirty="0" smtClean="0"/>
              <a:t>典型构成：</a:t>
            </a:r>
            <a:endParaRPr lang="en-US" altLang="zh-CN" dirty="0" smtClean="0"/>
          </a:p>
          <a:p>
            <a:pPr lvl="1"/>
            <a:r>
              <a:rPr lang="zh-CN" altLang="en-US" dirty="0" smtClean="0"/>
              <a:t>一</a:t>
            </a:r>
            <a:r>
              <a:rPr lang="zh-CN" altLang="en-US" dirty="0"/>
              <a:t>个</a:t>
            </a:r>
            <a:r>
              <a:rPr lang="en-US" altLang="zh-CN" dirty="0"/>
              <a:t>html</a:t>
            </a:r>
            <a:r>
              <a:rPr lang="zh-CN" altLang="en-US" dirty="0" smtClean="0"/>
              <a:t>界面</a:t>
            </a:r>
            <a:endParaRPr lang="en-US" altLang="zh-CN" dirty="0" smtClean="0"/>
          </a:p>
          <a:p>
            <a:pPr lvl="1"/>
            <a:r>
              <a:rPr lang="en-US" altLang="zh-CN" dirty="0" smtClean="0"/>
              <a:t>web3</a:t>
            </a:r>
            <a:r>
              <a:rPr lang="zh-CN" altLang="en-US" dirty="0"/>
              <a:t>运行</a:t>
            </a:r>
            <a:r>
              <a:rPr lang="zh-CN" altLang="en-US" dirty="0" smtClean="0"/>
              <a:t>库</a:t>
            </a:r>
            <a:endParaRPr lang="en-US" altLang="zh-CN" dirty="0" smtClean="0"/>
          </a:p>
          <a:p>
            <a:pPr lvl="1"/>
            <a:r>
              <a:rPr lang="zh-CN" altLang="en-US" dirty="0" smtClean="0"/>
              <a:t>一段</a:t>
            </a:r>
            <a:r>
              <a:rPr lang="en-US" altLang="zh-CN" dirty="0"/>
              <a:t>JS</a:t>
            </a:r>
            <a:r>
              <a:rPr lang="zh-CN" altLang="en-US" dirty="0" smtClean="0"/>
              <a:t>代码</a:t>
            </a:r>
            <a:endParaRPr lang="en-US" altLang="zh-CN" dirty="0" smtClean="0"/>
          </a:p>
          <a:p>
            <a:pPr lvl="1"/>
            <a:r>
              <a:rPr lang="zh-CN" altLang="en-US" dirty="0" smtClean="0"/>
              <a:t>部署</a:t>
            </a:r>
            <a:r>
              <a:rPr lang="zh-CN" altLang="en-US" dirty="0"/>
              <a:t>在区块链上的一段智能</a:t>
            </a:r>
            <a:r>
              <a:rPr lang="zh-CN" altLang="en-US" dirty="0" smtClean="0"/>
              <a:t>合约</a:t>
            </a:r>
            <a:endParaRPr lang="en-US" altLang="zh-CN" dirty="0"/>
          </a:p>
          <a:p>
            <a:r>
              <a:rPr lang="en-US" altLang="zh-CN" dirty="0" err="1"/>
              <a:t>DApp</a:t>
            </a:r>
            <a:r>
              <a:rPr lang="zh-CN" altLang="en-US" dirty="0"/>
              <a:t>必须运行在一台能与以太坊节点交互的服务器上，或者任意一个以太坊节点上</a:t>
            </a:r>
            <a:r>
              <a:rPr lang="zh-CN" altLang="en-US" dirty="0" smtClean="0"/>
              <a:t>。</a:t>
            </a:r>
            <a:endParaRPr lang="en-US" altLang="zh-CN" dirty="0" smtClean="0"/>
          </a:p>
          <a:p>
            <a:r>
              <a:rPr lang="en-US" altLang="zh-CN" dirty="0" err="1" smtClean="0"/>
              <a:t>DApp</a:t>
            </a:r>
            <a:r>
              <a:rPr lang="zh-CN" altLang="en-US" dirty="0"/>
              <a:t>通过提交交易到区块链网络与对应的智能合约进行交互</a:t>
            </a:r>
          </a:p>
        </p:txBody>
      </p:sp>
    </p:spTree>
    <p:extLst>
      <p:ext uri="{BB962C8B-B14F-4D97-AF65-F5344CB8AC3E}">
        <p14:creationId xmlns:p14="http://schemas.microsoft.com/office/powerpoint/2010/main" val="1400362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构建</a:t>
            </a:r>
            <a:r>
              <a:rPr lang="en-US" altLang="zh-CN" dirty="0"/>
              <a:t>DAPP</a:t>
            </a:r>
            <a:r>
              <a:rPr lang="zh-CN" altLang="en-US" dirty="0"/>
              <a:t>开发测试环境</a:t>
            </a:r>
          </a:p>
        </p:txBody>
      </p:sp>
      <p:sp>
        <p:nvSpPr>
          <p:cNvPr id="3" name="内容占位符 2"/>
          <p:cNvSpPr>
            <a:spLocks noGrp="1"/>
          </p:cNvSpPr>
          <p:nvPr>
            <p:ph idx="1"/>
          </p:nvPr>
        </p:nvSpPr>
        <p:spPr/>
        <p:txBody>
          <a:bodyPr/>
          <a:lstStyle/>
          <a:p>
            <a:r>
              <a:rPr lang="en-US" altLang="zh-CN" dirty="0" smtClean="0"/>
              <a:t>NODEJS</a:t>
            </a:r>
          </a:p>
          <a:p>
            <a:pPr lvl="1"/>
            <a:r>
              <a:rPr lang="en-US" altLang="zh-CN" dirty="0">
                <a:hlinkClick r:id="rId2"/>
              </a:rPr>
              <a:t>https://nodejs.org</a:t>
            </a:r>
            <a:r>
              <a:rPr lang="en-US" altLang="zh-CN" dirty="0" smtClean="0">
                <a:hlinkClick r:id="rId2"/>
              </a:rPr>
              <a:t>/</a:t>
            </a:r>
            <a:endParaRPr lang="en-US" altLang="zh-CN" dirty="0" smtClean="0"/>
          </a:p>
          <a:p>
            <a:r>
              <a:rPr lang="en-US" altLang="zh-CN" dirty="0" smtClean="0"/>
              <a:t>NPM</a:t>
            </a:r>
          </a:p>
          <a:p>
            <a:pPr lvl="1"/>
            <a:r>
              <a:rPr lang="zh-CN" altLang="en-US" dirty="0"/>
              <a:t>会</a:t>
            </a:r>
            <a:r>
              <a:rPr lang="zh-CN" altLang="en-US" dirty="0" smtClean="0"/>
              <a:t>和</a:t>
            </a:r>
            <a:r>
              <a:rPr lang="en-US" altLang="zh-CN" dirty="0" smtClean="0"/>
              <a:t>NODEJS</a:t>
            </a:r>
            <a:r>
              <a:rPr lang="zh-CN" altLang="en-US" dirty="0" smtClean="0"/>
              <a:t>一起被安装</a:t>
            </a:r>
            <a:endParaRPr lang="en-US" altLang="zh-CN" dirty="0" smtClean="0"/>
          </a:p>
          <a:p>
            <a:r>
              <a:rPr lang="en-US" altLang="zh-CN" dirty="0" smtClean="0"/>
              <a:t>TRUFFLE</a:t>
            </a:r>
          </a:p>
          <a:p>
            <a:pPr lvl="1"/>
            <a:r>
              <a:rPr lang="en-US" altLang="zh-CN" dirty="0" smtClean="0">
                <a:hlinkClick r:id="rId3"/>
              </a:rPr>
              <a:t>https</a:t>
            </a:r>
            <a:r>
              <a:rPr lang="en-US" altLang="zh-CN" dirty="0">
                <a:hlinkClick r:id="rId3"/>
              </a:rPr>
              <a:t>://www.trufflesuite.com</a:t>
            </a:r>
            <a:r>
              <a:rPr lang="en-US" altLang="zh-CN" dirty="0" smtClean="0">
                <a:hlinkClick r:id="rId3"/>
              </a:rPr>
              <a:t>/</a:t>
            </a:r>
            <a:endParaRPr lang="en-US" altLang="zh-CN" dirty="0" smtClean="0"/>
          </a:p>
          <a:p>
            <a:pPr lvl="1"/>
            <a:r>
              <a:rPr lang="zh-CN" altLang="en-US" dirty="0" smtClean="0"/>
              <a:t>安装： </a:t>
            </a:r>
            <a:r>
              <a:rPr lang="en-US" altLang="zh-CN" dirty="0" err="1" smtClean="0"/>
              <a:t>npm</a:t>
            </a:r>
            <a:r>
              <a:rPr lang="en-US" altLang="zh-CN" dirty="0" smtClean="0"/>
              <a:t> install –g truffle</a:t>
            </a:r>
          </a:p>
          <a:p>
            <a:pPr marL="447675" lvl="1" indent="-447675">
              <a:buClr>
                <a:schemeClr val="accent1"/>
              </a:buClr>
              <a:buSzPct val="70000"/>
              <a:buFont typeface="Wingdings" panose="05000000000000000000" pitchFamily="2" charset="2"/>
              <a:buChar char="n"/>
            </a:pPr>
            <a:r>
              <a:rPr lang="en-US" altLang="zh-CN" dirty="0"/>
              <a:t>Ganache</a:t>
            </a:r>
          </a:p>
          <a:p>
            <a:pPr lvl="1"/>
            <a:r>
              <a:rPr lang="en-US" altLang="zh-CN" dirty="0">
                <a:hlinkClick r:id="rId4"/>
              </a:rPr>
              <a:t>https://</a:t>
            </a:r>
            <a:r>
              <a:rPr lang="en-US" altLang="zh-CN" dirty="0" smtClean="0">
                <a:hlinkClick r:id="rId4"/>
              </a:rPr>
              <a:t>www.trufflesuite.com/ganache</a:t>
            </a:r>
            <a:endParaRPr lang="en-US" altLang="zh-CN" dirty="0" smtClean="0"/>
          </a:p>
          <a:p>
            <a:r>
              <a:rPr lang="en-US" altLang="zh-CN" dirty="0" smtClean="0"/>
              <a:t>Remix</a:t>
            </a:r>
          </a:p>
          <a:p>
            <a:pPr lvl="1"/>
            <a:endParaRPr lang="en-US" altLang="zh-CN" dirty="0"/>
          </a:p>
          <a:p>
            <a:pPr lvl="1"/>
            <a:endParaRPr lang="en-US" altLang="zh-CN" dirty="0" smtClean="0"/>
          </a:p>
          <a:p>
            <a:pPr lvl="1"/>
            <a:endParaRPr lang="zh-CN" altLang="en-US" dirty="0"/>
          </a:p>
        </p:txBody>
      </p:sp>
    </p:spTree>
    <p:extLst>
      <p:ext uri="{BB962C8B-B14F-4D97-AF65-F5344CB8AC3E}">
        <p14:creationId xmlns:p14="http://schemas.microsoft.com/office/powerpoint/2010/main" val="2967854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构建</a:t>
            </a:r>
            <a:r>
              <a:rPr lang="en-US" altLang="zh-CN" dirty="0"/>
              <a:t>DAPP</a:t>
            </a:r>
            <a:r>
              <a:rPr lang="zh-CN" altLang="en-US" dirty="0"/>
              <a:t>开发测试环境</a:t>
            </a:r>
          </a:p>
        </p:txBody>
      </p:sp>
      <p:sp>
        <p:nvSpPr>
          <p:cNvPr id="3" name="内容占位符 2"/>
          <p:cNvSpPr>
            <a:spLocks noGrp="1"/>
          </p:cNvSpPr>
          <p:nvPr>
            <p:ph idx="1"/>
          </p:nvPr>
        </p:nvSpPr>
        <p:spPr/>
        <p:txBody>
          <a:bodyPr/>
          <a:lstStyle/>
          <a:p>
            <a:r>
              <a:rPr lang="en-US" altLang="zh-CN" dirty="0" smtClean="0"/>
              <a:t>Ganache</a:t>
            </a:r>
          </a:p>
          <a:p>
            <a:pPr lvl="1"/>
            <a:r>
              <a:rPr lang="en-US" altLang="zh-CN" dirty="0"/>
              <a:t>Ganache</a:t>
            </a:r>
            <a:r>
              <a:rPr lang="zh-CN" altLang="en-US" dirty="0"/>
              <a:t>可以快速启动个人以太坊区块链，并可以使用它来运行测试，执行命令、检查状态，同时控制链条的运行方式</a:t>
            </a:r>
            <a:r>
              <a:rPr lang="zh-CN" altLang="en-US" dirty="0" smtClean="0"/>
              <a:t>。</a:t>
            </a:r>
            <a:endParaRPr lang="en-US" altLang="zh-CN" dirty="0" smtClean="0"/>
          </a:p>
          <a:p>
            <a:pPr lvl="1"/>
            <a:r>
              <a:rPr lang="zh-CN" altLang="en-US" dirty="0" smtClean="0"/>
              <a:t>可以</a:t>
            </a:r>
            <a:r>
              <a:rPr lang="zh-CN" altLang="en-US" dirty="0"/>
              <a:t>快速查看所有账户的当前状态，包括他们的地址、私钥、交易和余额</a:t>
            </a:r>
            <a:r>
              <a:rPr lang="zh-CN" altLang="en-US" dirty="0" smtClean="0"/>
              <a:t>。</a:t>
            </a:r>
            <a:endParaRPr lang="en-US" altLang="zh-CN" dirty="0" smtClean="0"/>
          </a:p>
          <a:p>
            <a:pPr lvl="1"/>
            <a:r>
              <a:rPr lang="zh-CN" altLang="en-US" dirty="0" smtClean="0"/>
              <a:t>查看</a:t>
            </a:r>
            <a:r>
              <a:rPr lang="en-US" altLang="zh-CN" dirty="0"/>
              <a:t>Ganache</a:t>
            </a:r>
            <a:r>
              <a:rPr lang="zh-CN" altLang="en-US" dirty="0"/>
              <a:t>内部区块链的日志输出，包括响应和其他重要的调试信息，检查所有块和交易，以获取相关问题的信息。</a:t>
            </a:r>
          </a:p>
        </p:txBody>
      </p:sp>
    </p:spTree>
    <p:extLst>
      <p:ext uri="{BB962C8B-B14F-4D97-AF65-F5344CB8AC3E}">
        <p14:creationId xmlns:p14="http://schemas.microsoft.com/office/powerpoint/2010/main" val="407080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构建</a:t>
            </a:r>
            <a:r>
              <a:rPr lang="en-US" altLang="zh-CN" dirty="0" smtClean="0"/>
              <a:t>DAPP</a:t>
            </a:r>
            <a:r>
              <a:rPr lang="zh-CN" altLang="en-US" dirty="0" smtClean="0"/>
              <a:t>开发测试环境</a:t>
            </a:r>
            <a:endParaRPr lang="zh-CN" altLang="en-US" dirty="0"/>
          </a:p>
        </p:txBody>
      </p:sp>
      <p:sp>
        <p:nvSpPr>
          <p:cNvPr id="3" name="内容占位符 2"/>
          <p:cNvSpPr>
            <a:spLocks noGrp="1"/>
          </p:cNvSpPr>
          <p:nvPr>
            <p:ph idx="1"/>
          </p:nvPr>
        </p:nvSpPr>
        <p:spPr>
          <a:xfrm>
            <a:off x="251521" y="1196752"/>
            <a:ext cx="8359080" cy="4680173"/>
          </a:xfrm>
        </p:spPr>
        <p:txBody>
          <a:bodyPr/>
          <a:lstStyle/>
          <a:p>
            <a:r>
              <a:rPr lang="en-US" altLang="zh-CN" dirty="0" smtClean="0"/>
              <a:t>Ganache</a:t>
            </a:r>
            <a:endParaRPr lang="zh-CN" altLang="en-US" dirty="0"/>
          </a:p>
        </p:txBody>
      </p:sp>
      <p:pic>
        <p:nvPicPr>
          <p:cNvPr id="4" name="图片 3"/>
          <p:cNvPicPr>
            <a:picLocks noChangeAspect="1"/>
          </p:cNvPicPr>
          <p:nvPr/>
        </p:nvPicPr>
        <p:blipFill>
          <a:blip r:embed="rId2"/>
          <a:stretch>
            <a:fillRect/>
          </a:stretch>
        </p:blipFill>
        <p:spPr>
          <a:xfrm>
            <a:off x="1055990" y="1844824"/>
            <a:ext cx="7073849" cy="4729816"/>
          </a:xfrm>
          <a:prstGeom prst="rect">
            <a:avLst/>
          </a:prstGeom>
        </p:spPr>
      </p:pic>
    </p:spTree>
    <p:extLst>
      <p:ext uri="{BB962C8B-B14F-4D97-AF65-F5344CB8AC3E}">
        <p14:creationId xmlns:p14="http://schemas.microsoft.com/office/powerpoint/2010/main" val="13440382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构建</a:t>
            </a:r>
            <a:r>
              <a:rPr lang="en-US" altLang="zh-CN" dirty="0"/>
              <a:t>DAPP</a:t>
            </a:r>
            <a:r>
              <a:rPr lang="zh-CN" altLang="en-US" dirty="0"/>
              <a:t>开发测试环境</a:t>
            </a:r>
          </a:p>
        </p:txBody>
      </p:sp>
      <p:sp>
        <p:nvSpPr>
          <p:cNvPr id="3" name="内容占位符 2"/>
          <p:cNvSpPr>
            <a:spLocks noGrp="1"/>
          </p:cNvSpPr>
          <p:nvPr>
            <p:ph idx="1"/>
          </p:nvPr>
        </p:nvSpPr>
        <p:spPr>
          <a:xfrm>
            <a:off x="251520" y="1412776"/>
            <a:ext cx="8359081" cy="4464149"/>
          </a:xfrm>
        </p:spPr>
        <p:txBody>
          <a:bodyPr/>
          <a:lstStyle/>
          <a:p>
            <a:r>
              <a:rPr lang="en-US" altLang="zh-CN" dirty="0" smtClean="0"/>
              <a:t>Ganache</a:t>
            </a:r>
            <a:r>
              <a:rPr lang="zh-CN" altLang="en-US" dirty="0" smtClean="0"/>
              <a:t>配置</a:t>
            </a:r>
            <a:endParaRPr lang="zh-CN" altLang="en-US" dirty="0"/>
          </a:p>
        </p:txBody>
      </p:sp>
      <p:pic>
        <p:nvPicPr>
          <p:cNvPr id="4" name="图片 3"/>
          <p:cNvPicPr>
            <a:picLocks noChangeAspect="1"/>
          </p:cNvPicPr>
          <p:nvPr/>
        </p:nvPicPr>
        <p:blipFill>
          <a:blip r:embed="rId2"/>
          <a:stretch>
            <a:fillRect/>
          </a:stretch>
        </p:blipFill>
        <p:spPr>
          <a:xfrm>
            <a:off x="1331640" y="2132856"/>
            <a:ext cx="6688138" cy="4471917"/>
          </a:xfrm>
          <a:prstGeom prst="rect">
            <a:avLst/>
          </a:prstGeom>
        </p:spPr>
      </p:pic>
    </p:spTree>
    <p:extLst>
      <p:ext uri="{BB962C8B-B14F-4D97-AF65-F5344CB8AC3E}">
        <p14:creationId xmlns:p14="http://schemas.microsoft.com/office/powerpoint/2010/main" val="2929015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智能合约的结构</a:t>
            </a:r>
            <a:endParaRPr lang="zh-CN" altLang="en-US" dirty="0"/>
          </a:p>
        </p:txBody>
      </p:sp>
      <p:sp>
        <p:nvSpPr>
          <p:cNvPr id="3" name="内容占位符 2"/>
          <p:cNvSpPr>
            <a:spLocks noGrp="1"/>
          </p:cNvSpPr>
          <p:nvPr>
            <p:ph idx="1"/>
          </p:nvPr>
        </p:nvSpPr>
        <p:spPr/>
        <p:txBody>
          <a:bodyPr/>
          <a:lstStyle/>
          <a:p>
            <a:r>
              <a:rPr lang="en-US" altLang="zh-CN" dirty="0" smtClean="0"/>
              <a:t>Solidity</a:t>
            </a:r>
            <a:r>
              <a:rPr lang="zh-CN" altLang="en-US" dirty="0"/>
              <a:t>源文件</a:t>
            </a:r>
          </a:p>
          <a:p>
            <a:pPr lvl="1"/>
            <a:r>
              <a:rPr lang="en-US" altLang="zh-CN" dirty="0"/>
              <a:t>Solidity</a:t>
            </a:r>
            <a:r>
              <a:rPr lang="zh-CN" altLang="en-US" dirty="0"/>
              <a:t>源文件使用的扩展名为</a:t>
            </a:r>
            <a:r>
              <a:rPr lang="en-US" altLang="zh-CN" dirty="0"/>
              <a:t>.sol</a:t>
            </a:r>
            <a:r>
              <a:rPr lang="zh-CN" altLang="en-US" dirty="0"/>
              <a:t>。在源文件中，可以使用</a:t>
            </a:r>
            <a:r>
              <a:rPr lang="en-US" altLang="zh-CN" dirty="0"/>
              <a:t>pragma Solidity</a:t>
            </a:r>
            <a:r>
              <a:rPr lang="zh-CN" altLang="en-US" dirty="0"/>
              <a:t>说明编写代码时用的编译器版本。例如：</a:t>
            </a:r>
          </a:p>
          <a:p>
            <a:pPr marL="0" indent="0" algn="ctr">
              <a:buNone/>
            </a:pPr>
            <a:r>
              <a:rPr lang="zh-CN" altLang="en-US" dirty="0"/>
              <a:t>	</a:t>
            </a:r>
            <a:r>
              <a:rPr lang="en-US" altLang="zh-CN" dirty="0"/>
              <a:t>pragma Solidity ^</a:t>
            </a:r>
            <a:r>
              <a:rPr lang="en-US" altLang="zh-CN" dirty="0" smtClean="0"/>
              <a:t>0.4.5;</a:t>
            </a:r>
            <a:endParaRPr lang="en-US" altLang="zh-CN" dirty="0"/>
          </a:p>
          <a:p>
            <a:endParaRPr lang="zh-CN" altLang="en-US" dirty="0"/>
          </a:p>
        </p:txBody>
      </p:sp>
    </p:spTree>
    <p:extLst>
      <p:ext uri="{BB962C8B-B14F-4D97-AF65-F5344CB8AC3E}">
        <p14:creationId xmlns:p14="http://schemas.microsoft.com/office/powerpoint/2010/main" val="15472036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智能合约的结构</a:t>
            </a:r>
          </a:p>
        </p:txBody>
      </p:sp>
      <p:sp>
        <p:nvSpPr>
          <p:cNvPr id="3" name="内容占位符 2"/>
          <p:cNvSpPr>
            <a:spLocks noGrp="1"/>
          </p:cNvSpPr>
          <p:nvPr>
            <p:ph idx="1"/>
          </p:nvPr>
        </p:nvSpPr>
        <p:spPr/>
        <p:txBody>
          <a:bodyPr/>
          <a:lstStyle/>
          <a:p>
            <a:r>
              <a:rPr lang="en-US" altLang="zh-CN" dirty="0" smtClean="0"/>
              <a:t>SOLIDITY</a:t>
            </a:r>
            <a:r>
              <a:rPr lang="zh-CN" altLang="en-US" dirty="0" smtClean="0"/>
              <a:t>的智能合约</a:t>
            </a:r>
            <a:endParaRPr lang="en-US" altLang="zh-CN" dirty="0" smtClean="0"/>
          </a:p>
          <a:p>
            <a:pPr lvl="1"/>
            <a:r>
              <a:rPr lang="zh-CN" altLang="en-US" dirty="0" smtClean="0"/>
              <a:t>状态变量</a:t>
            </a:r>
            <a:r>
              <a:rPr lang="zh-CN" altLang="en-US" dirty="0"/>
              <a:t>（</a:t>
            </a:r>
            <a:r>
              <a:rPr lang="en-US" altLang="zh-CN" dirty="0"/>
              <a:t>state variable</a:t>
            </a:r>
            <a:r>
              <a:rPr lang="zh-CN" altLang="en-US" dirty="0" smtClean="0"/>
              <a:t>）</a:t>
            </a:r>
            <a:endParaRPr lang="en-US" altLang="zh-CN" dirty="0" smtClean="0"/>
          </a:p>
          <a:p>
            <a:pPr lvl="1"/>
            <a:r>
              <a:rPr lang="zh-CN" altLang="en-US" dirty="0" smtClean="0"/>
              <a:t>函数</a:t>
            </a:r>
            <a:r>
              <a:rPr lang="zh-CN" altLang="en-US" dirty="0"/>
              <a:t>（</a:t>
            </a:r>
            <a:r>
              <a:rPr lang="en-US" altLang="zh-CN" dirty="0"/>
              <a:t>function</a:t>
            </a:r>
            <a:r>
              <a:rPr lang="zh-CN" altLang="en-US" dirty="0" smtClean="0"/>
              <a:t>）</a:t>
            </a:r>
            <a:endParaRPr lang="en-US" altLang="zh-CN" dirty="0" smtClean="0"/>
          </a:p>
          <a:p>
            <a:pPr lvl="1"/>
            <a:r>
              <a:rPr lang="zh-CN" altLang="en-US" dirty="0" smtClean="0"/>
              <a:t>函数</a:t>
            </a:r>
            <a:r>
              <a:rPr lang="zh-CN" altLang="en-US" dirty="0"/>
              <a:t>修改器</a:t>
            </a:r>
            <a:r>
              <a:rPr lang="en-US" altLang="zh-CN" dirty="0"/>
              <a:t>(function modifier</a:t>
            </a:r>
            <a:r>
              <a:rPr lang="en-US" altLang="zh-CN" dirty="0" smtClean="0"/>
              <a:t>)</a:t>
            </a:r>
          </a:p>
          <a:p>
            <a:pPr lvl="1"/>
            <a:r>
              <a:rPr lang="zh-CN" altLang="en-US" dirty="0" smtClean="0"/>
              <a:t>事件</a:t>
            </a:r>
            <a:r>
              <a:rPr lang="en-US" altLang="zh-CN" dirty="0"/>
              <a:t>(event</a:t>
            </a:r>
            <a:r>
              <a:rPr lang="en-US" altLang="zh-CN" dirty="0" smtClean="0"/>
              <a:t>)</a:t>
            </a:r>
          </a:p>
          <a:p>
            <a:pPr lvl="1"/>
            <a:r>
              <a:rPr lang="zh-CN" altLang="en-US" dirty="0" smtClean="0"/>
              <a:t>结构</a:t>
            </a:r>
            <a:r>
              <a:rPr lang="zh-CN" altLang="en-US" dirty="0"/>
              <a:t>（</a:t>
            </a:r>
            <a:r>
              <a:rPr lang="en-US" altLang="zh-CN" dirty="0"/>
              <a:t>structure</a:t>
            </a:r>
            <a:r>
              <a:rPr lang="zh-CN" altLang="en-US" dirty="0" smtClean="0"/>
              <a:t>）</a:t>
            </a:r>
            <a:endParaRPr lang="en-US" altLang="zh-CN" dirty="0" smtClean="0"/>
          </a:p>
          <a:p>
            <a:pPr lvl="1"/>
            <a:r>
              <a:rPr lang="zh-CN" altLang="en-US" dirty="0" smtClean="0"/>
              <a:t>枚举</a:t>
            </a:r>
            <a:r>
              <a:rPr lang="en-US" altLang="zh-CN" dirty="0"/>
              <a:t>(</a:t>
            </a:r>
            <a:r>
              <a:rPr lang="en-US" altLang="zh-CN" dirty="0" err="1"/>
              <a:t>enum</a:t>
            </a:r>
            <a:r>
              <a:rPr lang="en-US" altLang="zh-CN" dirty="0" smtClean="0"/>
              <a:t>)</a:t>
            </a:r>
          </a:p>
          <a:p>
            <a:r>
              <a:rPr lang="zh-CN" altLang="en-US" dirty="0" smtClean="0"/>
              <a:t>合约还支持继承和多态</a:t>
            </a:r>
            <a:endParaRPr lang="zh-CN" altLang="en-US" dirty="0"/>
          </a:p>
        </p:txBody>
      </p:sp>
    </p:spTree>
    <p:extLst>
      <p:ext uri="{BB962C8B-B14F-4D97-AF65-F5344CB8AC3E}">
        <p14:creationId xmlns:p14="http://schemas.microsoft.com/office/powerpoint/2010/main" val="2985783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智能合约的结构</a:t>
            </a:r>
          </a:p>
        </p:txBody>
      </p:sp>
      <p:sp>
        <p:nvSpPr>
          <p:cNvPr id="3" name="内容占位符 2"/>
          <p:cNvSpPr>
            <a:spLocks noGrp="1"/>
          </p:cNvSpPr>
          <p:nvPr>
            <p:ph idx="1"/>
          </p:nvPr>
        </p:nvSpPr>
        <p:spPr>
          <a:xfrm>
            <a:off x="107504" y="1484313"/>
            <a:ext cx="8928991" cy="4392612"/>
          </a:xfrm>
        </p:spPr>
        <p:txBody>
          <a:bodyPr/>
          <a:lstStyle/>
          <a:p>
            <a:r>
              <a:rPr lang="en-US" altLang="zh-CN" dirty="0" smtClean="0"/>
              <a:t>modifier</a:t>
            </a:r>
            <a:r>
              <a:rPr lang="zh-CN" altLang="en-US" dirty="0"/>
              <a:t>函数</a:t>
            </a:r>
            <a:endParaRPr lang="en-US" altLang="zh-CN" dirty="0" smtClean="0"/>
          </a:p>
          <a:p>
            <a:pPr lvl="1"/>
            <a:r>
              <a:rPr lang="zh-CN" altLang="en-US" dirty="0" smtClean="0"/>
              <a:t>用于</a:t>
            </a:r>
            <a:r>
              <a:rPr lang="zh-CN" altLang="en-US" dirty="0"/>
              <a:t>在执行函数前，执行某些初始化的操作。例如权限的判断</a:t>
            </a:r>
            <a:r>
              <a:rPr lang="zh-CN" altLang="en-US" dirty="0" smtClean="0"/>
              <a:t>。</a:t>
            </a:r>
            <a:endParaRPr lang="en-US" altLang="zh-CN" dirty="0" smtClean="0"/>
          </a:p>
          <a:p>
            <a:pPr lvl="1"/>
            <a:r>
              <a:rPr lang="zh-CN" altLang="en-US" dirty="0" smtClean="0"/>
              <a:t>语法：</a:t>
            </a:r>
            <a:endParaRPr lang="en-US" altLang="zh-CN" dirty="0" smtClean="0"/>
          </a:p>
          <a:p>
            <a:pPr lvl="2"/>
            <a:r>
              <a:rPr lang="en-US" altLang="zh-CN" dirty="0"/>
              <a:t>modifier  </a:t>
            </a:r>
            <a:r>
              <a:rPr lang="zh-CN" altLang="en-US" dirty="0"/>
              <a:t>函数名</a:t>
            </a:r>
            <a:r>
              <a:rPr lang="en-US" altLang="zh-CN" dirty="0"/>
              <a:t>(){</a:t>
            </a:r>
          </a:p>
          <a:p>
            <a:pPr lvl="2"/>
            <a:r>
              <a:rPr lang="en-US" altLang="zh-CN" dirty="0"/>
              <a:t>  </a:t>
            </a:r>
            <a:r>
              <a:rPr lang="zh-CN" altLang="en-US" dirty="0"/>
              <a:t>语句</a:t>
            </a:r>
            <a:r>
              <a:rPr lang="en-US" altLang="zh-CN" dirty="0"/>
              <a:t>;</a:t>
            </a:r>
          </a:p>
          <a:p>
            <a:pPr lvl="2"/>
            <a:r>
              <a:rPr lang="en-US" altLang="zh-CN" dirty="0"/>
              <a:t>    </a:t>
            </a:r>
            <a:r>
              <a:rPr lang="en-US" altLang="zh-CN" dirty="0" smtClean="0"/>
              <a:t>_;    </a:t>
            </a:r>
          </a:p>
          <a:p>
            <a:pPr lvl="2"/>
            <a:r>
              <a:rPr lang="en-US" altLang="zh-CN" dirty="0" smtClean="0"/>
              <a:t> /</a:t>
            </a:r>
            <a:r>
              <a:rPr lang="zh-CN" altLang="en-US" dirty="0" smtClean="0"/>
              <a:t>* </a:t>
            </a:r>
            <a:r>
              <a:rPr lang="en-US" altLang="zh-CN" dirty="0" smtClean="0"/>
              <a:t>modifier</a:t>
            </a:r>
            <a:r>
              <a:rPr lang="zh-CN" altLang="en-US" dirty="0"/>
              <a:t>中的下划线其实是指代的函数体内部所有语句</a:t>
            </a:r>
            <a:r>
              <a:rPr lang="zh-CN" altLang="en-US" dirty="0" smtClean="0"/>
              <a:t>。</a:t>
            </a:r>
            <a:r>
              <a:rPr lang="en-US" altLang="zh-CN" dirty="0" smtClean="0"/>
              <a:t>*/</a:t>
            </a:r>
            <a:endParaRPr lang="en-US" altLang="zh-CN" dirty="0"/>
          </a:p>
          <a:p>
            <a:pPr lvl="2"/>
            <a:r>
              <a:rPr lang="en-US" altLang="zh-CN" dirty="0" smtClean="0"/>
              <a:t>}</a:t>
            </a:r>
          </a:p>
          <a:p>
            <a:pPr lvl="1"/>
            <a:r>
              <a:rPr lang="zh-CN" altLang="en-US" dirty="0"/>
              <a:t>使用方法是，将</a:t>
            </a:r>
            <a:r>
              <a:rPr lang="en-US" altLang="zh-CN" dirty="0" smtClean="0"/>
              <a:t>modifier</a:t>
            </a:r>
            <a:r>
              <a:rPr lang="zh-CN" altLang="en-US" dirty="0" smtClean="0"/>
              <a:t>函数的</a:t>
            </a:r>
            <a:r>
              <a:rPr lang="zh-CN" altLang="en-US" dirty="0"/>
              <a:t>名字加</a:t>
            </a:r>
            <a:r>
              <a:rPr lang="zh-CN" altLang="en-US" dirty="0" smtClean="0"/>
              <a:t>在被保护的函数</a:t>
            </a:r>
            <a:r>
              <a:rPr lang="zh-CN" altLang="en-US" dirty="0"/>
              <a:t>修饰符与返回值</a:t>
            </a:r>
            <a:r>
              <a:rPr lang="zh-CN" altLang="en-US" dirty="0" smtClean="0"/>
              <a:t>之间。</a:t>
            </a:r>
            <a:endParaRPr lang="zh-CN" altLang="en-US" dirty="0"/>
          </a:p>
        </p:txBody>
      </p:sp>
    </p:spTree>
    <p:extLst>
      <p:ext uri="{BB962C8B-B14F-4D97-AF65-F5344CB8AC3E}">
        <p14:creationId xmlns:p14="http://schemas.microsoft.com/office/powerpoint/2010/main" val="4024986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智能合约的结构</a:t>
            </a:r>
          </a:p>
        </p:txBody>
      </p:sp>
      <p:sp>
        <p:nvSpPr>
          <p:cNvPr id="3" name="内容占位符 2"/>
          <p:cNvSpPr>
            <a:spLocks noGrp="1"/>
          </p:cNvSpPr>
          <p:nvPr>
            <p:ph idx="1"/>
          </p:nvPr>
        </p:nvSpPr>
        <p:spPr/>
        <p:txBody>
          <a:bodyPr/>
          <a:lstStyle/>
          <a:p>
            <a:r>
              <a:rPr lang="zh-CN" altLang="en-US" dirty="0" smtClean="0"/>
              <a:t>事件</a:t>
            </a:r>
            <a:r>
              <a:rPr lang="en-US" altLang="zh-CN" dirty="0" smtClean="0"/>
              <a:t>event</a:t>
            </a:r>
          </a:p>
          <a:p>
            <a:pPr lvl="1"/>
            <a:r>
              <a:rPr lang="zh-CN" altLang="en-US" dirty="0"/>
              <a:t>事件是智能合约发出的信号。智能合约的前端</a:t>
            </a:r>
            <a:r>
              <a:rPr lang="en-US" altLang="zh-CN" dirty="0"/>
              <a:t>UI</a:t>
            </a:r>
            <a:r>
              <a:rPr lang="zh-CN" altLang="en-US" dirty="0"/>
              <a:t>，例如，</a:t>
            </a:r>
            <a:r>
              <a:rPr lang="en-US" altLang="zh-CN" dirty="0" err="1"/>
              <a:t>DApps</a:t>
            </a:r>
            <a:r>
              <a:rPr lang="zh-CN" altLang="en-US" dirty="0"/>
              <a:t>、</a:t>
            </a:r>
            <a:r>
              <a:rPr lang="en-US" altLang="zh-CN" dirty="0"/>
              <a:t>web.js</a:t>
            </a:r>
            <a:r>
              <a:rPr lang="zh-CN" altLang="en-US" dirty="0"/>
              <a:t>，或者任何与</a:t>
            </a:r>
            <a:r>
              <a:rPr lang="en-US" altLang="zh-CN" dirty="0" err="1"/>
              <a:t>Ethereum</a:t>
            </a:r>
            <a:r>
              <a:rPr lang="en-US" altLang="zh-CN" dirty="0"/>
              <a:t> JSON-RPC API</a:t>
            </a:r>
            <a:r>
              <a:rPr lang="zh-CN" altLang="en-US" dirty="0"/>
              <a:t>连接的东西，都可以侦听这些事件</a:t>
            </a:r>
            <a:r>
              <a:rPr lang="zh-CN" altLang="en-US" dirty="0" smtClean="0"/>
              <a:t>。</a:t>
            </a:r>
            <a:endParaRPr lang="en-US" altLang="zh-CN" dirty="0" smtClean="0"/>
          </a:p>
          <a:p>
            <a:pPr lvl="1"/>
            <a:r>
              <a:rPr lang="zh-CN" altLang="en-US" dirty="0"/>
              <a:t>使用</a:t>
            </a:r>
            <a:r>
              <a:rPr lang="en-US" altLang="zh-CN" dirty="0"/>
              <a:t>event</a:t>
            </a:r>
            <a:r>
              <a:rPr lang="zh-CN" altLang="en-US" dirty="0"/>
              <a:t>关键字</a:t>
            </a:r>
            <a:r>
              <a:rPr lang="en-US" altLang="zh-CN" dirty="0"/>
              <a:t>(</a:t>
            </a:r>
            <a:r>
              <a:rPr lang="zh-CN" altLang="en-US" dirty="0"/>
              <a:t>在用法上类似于</a:t>
            </a:r>
            <a:r>
              <a:rPr lang="en-US" altLang="zh-CN" dirty="0"/>
              <a:t>function</a:t>
            </a:r>
            <a:r>
              <a:rPr lang="zh-CN" altLang="en-US" dirty="0"/>
              <a:t>关键字</a:t>
            </a:r>
            <a:r>
              <a:rPr lang="en-US" altLang="zh-CN" dirty="0"/>
              <a:t>)</a:t>
            </a:r>
            <a:r>
              <a:rPr lang="zh-CN" altLang="en-US" dirty="0"/>
              <a:t>。然后可以在函数中使用</a:t>
            </a:r>
            <a:r>
              <a:rPr lang="en-US" altLang="zh-CN" dirty="0"/>
              <a:t>emit</a:t>
            </a:r>
            <a:r>
              <a:rPr lang="zh-CN" altLang="en-US" dirty="0"/>
              <a:t>关键字触发事件。</a:t>
            </a:r>
          </a:p>
        </p:txBody>
      </p:sp>
    </p:spTree>
    <p:extLst>
      <p:ext uri="{BB962C8B-B14F-4D97-AF65-F5344CB8AC3E}">
        <p14:creationId xmlns:p14="http://schemas.microsoft.com/office/powerpoint/2010/main" val="3483326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加载</a:t>
            </a:r>
            <a:r>
              <a:rPr lang="en-US" altLang="zh-CN" dirty="0" smtClean="0"/>
              <a:t>Remix</a:t>
            </a:r>
            <a:endParaRPr lang="zh-CN" altLang="en-US" dirty="0"/>
          </a:p>
        </p:txBody>
      </p:sp>
      <p:sp>
        <p:nvSpPr>
          <p:cNvPr id="3" name="内容占位符 2"/>
          <p:cNvSpPr>
            <a:spLocks noGrp="1"/>
          </p:cNvSpPr>
          <p:nvPr>
            <p:ph idx="1"/>
          </p:nvPr>
        </p:nvSpPr>
        <p:spPr/>
        <p:txBody>
          <a:bodyPr/>
          <a:lstStyle/>
          <a:p>
            <a:r>
              <a:rPr lang="fr-FR" altLang="zh-CN" dirty="0"/>
              <a:t>remix  IDE</a:t>
            </a:r>
            <a:r>
              <a:rPr lang="zh-CN" altLang="fr-FR" dirty="0"/>
              <a:t>支持网页在线编写、部署和测试以太坊智能合约。</a:t>
            </a:r>
          </a:p>
          <a:p>
            <a:endParaRPr lang="zh-CN" altLang="fr-FR" dirty="0"/>
          </a:p>
          <a:p>
            <a:r>
              <a:rPr lang="en-US" altLang="zh-CN" dirty="0"/>
              <a:t>Remix - Solidity IDE </a:t>
            </a:r>
            <a:endParaRPr lang="en-US" altLang="zh-CN" dirty="0" smtClean="0"/>
          </a:p>
          <a:p>
            <a:r>
              <a:rPr lang="zh-CN" altLang="en-US" dirty="0" smtClean="0"/>
              <a:t>新版</a:t>
            </a:r>
            <a:endParaRPr lang="en-US" altLang="zh-CN" dirty="0" smtClean="0"/>
          </a:p>
          <a:p>
            <a:r>
              <a:rPr lang="en-US" altLang="zh-CN" dirty="0">
                <a:hlinkClick r:id="rId2"/>
              </a:rPr>
              <a:t>https://remix.ethereum.org/</a:t>
            </a:r>
            <a:endParaRPr lang="en-US" altLang="zh-CN" dirty="0"/>
          </a:p>
          <a:p>
            <a:r>
              <a:rPr lang="zh-CN" altLang="en-US" dirty="0" smtClean="0"/>
              <a:t>旧版</a:t>
            </a:r>
            <a:endParaRPr lang="en-US" altLang="zh-CN" dirty="0"/>
          </a:p>
          <a:p>
            <a:r>
              <a:rPr lang="fr-FR" altLang="zh-CN" dirty="0">
                <a:hlinkClick r:id="rId3"/>
              </a:rPr>
              <a:t>http://</a:t>
            </a:r>
            <a:r>
              <a:rPr lang="fr-FR" altLang="zh-CN" dirty="0" smtClean="0">
                <a:hlinkClick r:id="rId3"/>
              </a:rPr>
              <a:t>remix.hubwiz.com</a:t>
            </a:r>
            <a:endParaRPr lang="fr-FR" altLang="zh-CN" dirty="0" smtClean="0"/>
          </a:p>
          <a:p>
            <a:endParaRPr lang="zh-CN" altLang="en-US" dirty="0"/>
          </a:p>
        </p:txBody>
      </p:sp>
    </p:spTree>
    <p:extLst>
      <p:ext uri="{BB962C8B-B14F-4D97-AF65-F5344CB8AC3E}">
        <p14:creationId xmlns:p14="http://schemas.microsoft.com/office/powerpoint/2010/main" val="41192663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一个小的众筹智能合约</a:t>
            </a:r>
            <a:endParaRPr lang="zh-CN" altLang="en-US" dirty="0"/>
          </a:p>
        </p:txBody>
      </p:sp>
      <p:sp>
        <p:nvSpPr>
          <p:cNvPr id="3" name="内容占位符 2"/>
          <p:cNvSpPr>
            <a:spLocks noGrp="1"/>
          </p:cNvSpPr>
          <p:nvPr>
            <p:ph idx="1"/>
          </p:nvPr>
        </p:nvSpPr>
        <p:spPr/>
        <p:txBody>
          <a:bodyPr/>
          <a:lstStyle/>
          <a:p>
            <a:r>
              <a:rPr lang="zh-CN" altLang="en-US" dirty="0" smtClean="0"/>
              <a:t>代码文件</a:t>
            </a:r>
            <a:endParaRPr lang="en-US" altLang="zh-CN" dirty="0" smtClean="0"/>
          </a:p>
          <a:p>
            <a:pPr lvl="1"/>
            <a:r>
              <a:rPr lang="en-US" altLang="zh-CN" dirty="0" err="1" smtClean="0"/>
              <a:t>Crowd.sol</a:t>
            </a:r>
            <a:endParaRPr lang="en-US" altLang="zh-CN" dirty="0" smtClean="0"/>
          </a:p>
          <a:p>
            <a:pPr lvl="1"/>
            <a:r>
              <a:rPr lang="en-US" altLang="zh-CN" dirty="0" err="1" smtClean="0"/>
              <a:t>Migrations.sol</a:t>
            </a:r>
            <a:endParaRPr lang="en-US" altLang="zh-CN" dirty="0" smtClean="0"/>
          </a:p>
          <a:p>
            <a:pPr lvl="1"/>
            <a:r>
              <a:rPr lang="en-US" altLang="zh-CN" dirty="0" err="1" smtClean="0"/>
              <a:t>Owned.sol</a:t>
            </a:r>
            <a:endParaRPr lang="en-US" altLang="zh-CN" dirty="0" smtClean="0"/>
          </a:p>
          <a:p>
            <a:pPr lvl="1"/>
            <a:r>
              <a:rPr lang="en-US" altLang="zh-CN" dirty="0" err="1"/>
              <a:t>SafeMath.sol</a:t>
            </a:r>
            <a:endParaRPr lang="zh-CN" altLang="en-US" dirty="0"/>
          </a:p>
        </p:txBody>
      </p:sp>
    </p:spTree>
    <p:extLst>
      <p:ext uri="{BB962C8B-B14F-4D97-AF65-F5344CB8AC3E}">
        <p14:creationId xmlns:p14="http://schemas.microsoft.com/office/powerpoint/2010/main" val="20126725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一个小的众筹智能合约</a:t>
            </a:r>
          </a:p>
        </p:txBody>
      </p:sp>
      <p:sp>
        <p:nvSpPr>
          <p:cNvPr id="3" name="内容占位符 2"/>
          <p:cNvSpPr>
            <a:spLocks noGrp="1"/>
          </p:cNvSpPr>
          <p:nvPr>
            <p:ph idx="1"/>
          </p:nvPr>
        </p:nvSpPr>
        <p:spPr>
          <a:xfrm>
            <a:off x="179512" y="1196752"/>
            <a:ext cx="8784975" cy="5544616"/>
          </a:xfrm>
        </p:spPr>
        <p:txBody>
          <a:bodyPr/>
          <a:lstStyle/>
          <a:p>
            <a:pPr marL="0" indent="0">
              <a:buNone/>
            </a:pPr>
            <a:r>
              <a:rPr lang="en-US" altLang="zh-CN" sz="1400" dirty="0"/>
              <a:t>pragma solidity ^0.4.24;</a:t>
            </a:r>
          </a:p>
          <a:p>
            <a:pPr marL="0" indent="0">
              <a:buNone/>
            </a:pPr>
            <a:endParaRPr lang="zh-CN" altLang="en-US" sz="1400" dirty="0"/>
          </a:p>
          <a:p>
            <a:pPr marL="0" indent="0">
              <a:buNone/>
            </a:pPr>
            <a:r>
              <a:rPr lang="en-US" altLang="zh-CN" sz="1400" dirty="0"/>
              <a:t>library </a:t>
            </a:r>
            <a:r>
              <a:rPr lang="en-US" altLang="zh-CN" sz="1400" dirty="0" err="1"/>
              <a:t>SafeMath</a:t>
            </a:r>
            <a:r>
              <a:rPr lang="en-US" altLang="zh-CN" sz="1400" dirty="0"/>
              <a:t> {</a:t>
            </a:r>
          </a:p>
          <a:p>
            <a:pPr marL="0" indent="0">
              <a:buNone/>
            </a:pPr>
            <a:endParaRPr lang="zh-CN" altLang="en-US" sz="1400" dirty="0"/>
          </a:p>
          <a:p>
            <a:pPr marL="0" indent="0">
              <a:buNone/>
            </a:pPr>
            <a:r>
              <a:rPr lang="en-US" altLang="zh-CN" sz="1400" dirty="0"/>
              <a:t>  function </a:t>
            </a:r>
            <a:r>
              <a:rPr lang="en-US" altLang="zh-CN" sz="1400" dirty="0" err="1"/>
              <a:t>mul</a:t>
            </a:r>
            <a:r>
              <a:rPr lang="en-US" altLang="zh-CN" sz="1400" dirty="0"/>
              <a:t>(uint256 a, uint256 b) internal pure returns (uint256) {</a:t>
            </a:r>
          </a:p>
          <a:p>
            <a:pPr marL="0" indent="0">
              <a:buNone/>
            </a:pPr>
            <a:r>
              <a:rPr lang="en-US" altLang="zh-CN" sz="1400" dirty="0"/>
              <a:t>    if (a == 0) {</a:t>
            </a:r>
          </a:p>
          <a:p>
            <a:pPr marL="0" indent="0">
              <a:buNone/>
            </a:pPr>
            <a:r>
              <a:rPr lang="en-US" altLang="zh-CN" sz="1400" dirty="0"/>
              <a:t>      return 0;</a:t>
            </a:r>
          </a:p>
          <a:p>
            <a:pPr marL="0" indent="0">
              <a:buNone/>
            </a:pPr>
            <a:r>
              <a:rPr lang="zh-CN" altLang="en-US" sz="1400" dirty="0"/>
              <a:t>    </a:t>
            </a:r>
            <a:r>
              <a:rPr lang="en-US" altLang="zh-CN" sz="1400" dirty="0"/>
              <a:t>}</a:t>
            </a:r>
          </a:p>
          <a:p>
            <a:pPr marL="0" indent="0">
              <a:buNone/>
            </a:pPr>
            <a:endParaRPr lang="zh-CN" altLang="en-US" sz="1400" dirty="0"/>
          </a:p>
          <a:p>
            <a:pPr marL="0" indent="0">
              <a:buNone/>
            </a:pPr>
            <a:r>
              <a:rPr lang="en-US" altLang="zh-CN" sz="1400" dirty="0"/>
              <a:t>    uint256 c = a * b;</a:t>
            </a:r>
          </a:p>
          <a:p>
            <a:pPr marL="0" indent="0">
              <a:buNone/>
            </a:pPr>
            <a:r>
              <a:rPr lang="en-US" altLang="zh-CN" sz="1400" dirty="0"/>
              <a:t>    require(c / a == b);</a:t>
            </a:r>
          </a:p>
          <a:p>
            <a:pPr marL="0" indent="0">
              <a:buNone/>
            </a:pPr>
            <a:endParaRPr lang="zh-CN" altLang="en-US" sz="1400" dirty="0"/>
          </a:p>
          <a:p>
            <a:pPr marL="0" indent="0">
              <a:buNone/>
            </a:pPr>
            <a:r>
              <a:rPr lang="en-US" altLang="zh-CN" sz="1400" dirty="0"/>
              <a:t>    return c;</a:t>
            </a:r>
          </a:p>
          <a:p>
            <a:pPr marL="0" indent="0">
              <a:buNone/>
            </a:pPr>
            <a:r>
              <a:rPr lang="zh-CN" altLang="en-US" sz="1400" dirty="0"/>
              <a:t>  </a:t>
            </a:r>
            <a:r>
              <a:rPr lang="en-US" altLang="zh-CN" sz="1400" dirty="0"/>
              <a:t>}</a:t>
            </a:r>
          </a:p>
          <a:p>
            <a:pPr marL="0" indent="0">
              <a:buNone/>
            </a:pPr>
            <a:endParaRPr lang="zh-CN" altLang="en-US" sz="1400" dirty="0"/>
          </a:p>
          <a:p>
            <a:pPr marL="0" indent="0">
              <a:buNone/>
            </a:pPr>
            <a:r>
              <a:rPr lang="en-US" altLang="zh-CN" sz="1400" dirty="0"/>
              <a:t>  function div(uint256 a, uint256 b) internal pure returns (uint256) {</a:t>
            </a:r>
          </a:p>
          <a:p>
            <a:pPr marL="0" indent="0">
              <a:buNone/>
            </a:pPr>
            <a:r>
              <a:rPr lang="en-US" altLang="zh-CN" sz="1400" dirty="0"/>
              <a:t>    require(b &gt; 0); </a:t>
            </a:r>
          </a:p>
          <a:p>
            <a:pPr marL="0" indent="0">
              <a:buNone/>
            </a:pPr>
            <a:r>
              <a:rPr lang="en-US" altLang="zh-CN" sz="1400" dirty="0"/>
              <a:t>    uint256 c = a / b;</a:t>
            </a:r>
          </a:p>
          <a:p>
            <a:pPr marL="0" indent="0">
              <a:buNone/>
            </a:pPr>
            <a:r>
              <a:rPr lang="en-US" altLang="zh-CN" sz="1400" dirty="0"/>
              <a:t>    return c;</a:t>
            </a:r>
          </a:p>
          <a:p>
            <a:pPr marL="0" indent="0">
              <a:buNone/>
            </a:pPr>
            <a:r>
              <a:rPr lang="zh-CN" altLang="en-US" sz="1400" dirty="0"/>
              <a:t>  </a:t>
            </a:r>
            <a:r>
              <a:rPr lang="en-US" altLang="zh-CN" sz="1400" dirty="0"/>
              <a:t>}</a:t>
            </a:r>
          </a:p>
          <a:p>
            <a:pPr marL="0" indent="0">
              <a:buNone/>
            </a:pPr>
            <a:endParaRPr lang="zh-CN" altLang="en-US" sz="1100" dirty="0"/>
          </a:p>
        </p:txBody>
      </p:sp>
    </p:spTree>
    <p:extLst>
      <p:ext uri="{BB962C8B-B14F-4D97-AF65-F5344CB8AC3E}">
        <p14:creationId xmlns:p14="http://schemas.microsoft.com/office/powerpoint/2010/main" val="37564454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一个小的众筹智能合约</a:t>
            </a:r>
          </a:p>
        </p:txBody>
      </p:sp>
      <p:sp>
        <p:nvSpPr>
          <p:cNvPr id="3" name="内容占位符 2"/>
          <p:cNvSpPr>
            <a:spLocks noGrp="1"/>
          </p:cNvSpPr>
          <p:nvPr>
            <p:ph idx="1"/>
          </p:nvPr>
        </p:nvSpPr>
        <p:spPr>
          <a:xfrm>
            <a:off x="323528" y="1268760"/>
            <a:ext cx="8568951" cy="5328592"/>
          </a:xfrm>
        </p:spPr>
        <p:txBody>
          <a:bodyPr/>
          <a:lstStyle/>
          <a:p>
            <a:pPr marL="0" indent="0">
              <a:buNone/>
            </a:pPr>
            <a:r>
              <a:rPr lang="en-US" altLang="zh-CN" sz="1400" dirty="0"/>
              <a:t>function sub(uint256 a, uint256 b) internal pure returns (uint256) {</a:t>
            </a:r>
          </a:p>
          <a:p>
            <a:pPr marL="0" indent="0">
              <a:buNone/>
            </a:pPr>
            <a:r>
              <a:rPr lang="en-US" altLang="zh-CN" sz="1400" dirty="0"/>
              <a:t>    require(b &lt;= a);</a:t>
            </a:r>
          </a:p>
          <a:p>
            <a:pPr marL="0" indent="0">
              <a:buNone/>
            </a:pPr>
            <a:r>
              <a:rPr lang="en-US" altLang="zh-CN" sz="1400" dirty="0"/>
              <a:t>    uint256 c = a - b;</a:t>
            </a:r>
          </a:p>
          <a:p>
            <a:pPr marL="0" indent="0">
              <a:buNone/>
            </a:pPr>
            <a:endParaRPr lang="zh-CN" altLang="en-US" sz="1400" dirty="0"/>
          </a:p>
          <a:p>
            <a:pPr marL="0" indent="0">
              <a:buNone/>
            </a:pPr>
            <a:r>
              <a:rPr lang="en-US" altLang="zh-CN" sz="1400" dirty="0"/>
              <a:t>    return c;</a:t>
            </a:r>
          </a:p>
          <a:p>
            <a:pPr marL="0" indent="0">
              <a:buNone/>
            </a:pPr>
            <a:r>
              <a:rPr lang="zh-CN" altLang="en-US" sz="1400" dirty="0"/>
              <a:t>  </a:t>
            </a:r>
            <a:r>
              <a:rPr lang="en-US" altLang="zh-CN" sz="1400" dirty="0"/>
              <a:t>}</a:t>
            </a:r>
          </a:p>
          <a:p>
            <a:pPr marL="0" indent="0">
              <a:buNone/>
            </a:pPr>
            <a:endParaRPr lang="zh-CN" altLang="en-US" sz="1400" dirty="0"/>
          </a:p>
          <a:p>
            <a:pPr marL="0" indent="0">
              <a:buNone/>
            </a:pPr>
            <a:endParaRPr lang="zh-CN" altLang="en-US" sz="1400" dirty="0"/>
          </a:p>
          <a:p>
            <a:pPr marL="0" indent="0">
              <a:buNone/>
            </a:pPr>
            <a:r>
              <a:rPr lang="en-US" altLang="zh-CN" sz="1400" dirty="0"/>
              <a:t>  function add(uint256 a, uint256 b) internal pure returns (uint256) {</a:t>
            </a:r>
          </a:p>
          <a:p>
            <a:pPr marL="0" indent="0">
              <a:buNone/>
            </a:pPr>
            <a:r>
              <a:rPr lang="en-US" altLang="zh-CN" sz="1400" dirty="0"/>
              <a:t>    uint256 c = a + b;</a:t>
            </a:r>
          </a:p>
          <a:p>
            <a:pPr marL="0" indent="0">
              <a:buNone/>
            </a:pPr>
            <a:r>
              <a:rPr lang="en-US" altLang="zh-CN" sz="1400" dirty="0"/>
              <a:t>    require(c &gt;= a);</a:t>
            </a:r>
          </a:p>
          <a:p>
            <a:pPr marL="0" indent="0">
              <a:buNone/>
            </a:pPr>
            <a:endParaRPr lang="zh-CN" altLang="en-US" sz="1400" dirty="0"/>
          </a:p>
          <a:p>
            <a:pPr marL="0" indent="0">
              <a:buNone/>
            </a:pPr>
            <a:r>
              <a:rPr lang="en-US" altLang="zh-CN" sz="1400" dirty="0"/>
              <a:t>    return c;</a:t>
            </a:r>
          </a:p>
          <a:p>
            <a:pPr marL="0" indent="0">
              <a:buNone/>
            </a:pPr>
            <a:r>
              <a:rPr lang="zh-CN" altLang="en-US" sz="1400" dirty="0"/>
              <a:t>  </a:t>
            </a:r>
            <a:r>
              <a:rPr lang="en-US" altLang="zh-CN" sz="1400" dirty="0"/>
              <a:t>}</a:t>
            </a:r>
          </a:p>
          <a:p>
            <a:pPr marL="0" indent="0">
              <a:buNone/>
            </a:pPr>
            <a:endParaRPr lang="zh-CN" altLang="en-US" sz="1400" dirty="0"/>
          </a:p>
          <a:p>
            <a:pPr marL="0" indent="0">
              <a:buNone/>
            </a:pPr>
            <a:r>
              <a:rPr lang="en-US" altLang="zh-CN" sz="1400" dirty="0"/>
              <a:t>  function mod(uint256 a, uint256 b) internal pure returns (uint256) {</a:t>
            </a:r>
          </a:p>
          <a:p>
            <a:pPr marL="0" indent="0">
              <a:buNone/>
            </a:pPr>
            <a:r>
              <a:rPr lang="en-US" altLang="zh-CN" sz="1400" dirty="0"/>
              <a:t>    require(b != 0);</a:t>
            </a:r>
          </a:p>
          <a:p>
            <a:pPr marL="0" indent="0">
              <a:buNone/>
            </a:pPr>
            <a:r>
              <a:rPr lang="en-US" altLang="zh-CN" sz="1400" dirty="0"/>
              <a:t>    return a % b;</a:t>
            </a:r>
          </a:p>
          <a:p>
            <a:pPr marL="0" indent="0">
              <a:buNone/>
            </a:pPr>
            <a:r>
              <a:rPr lang="zh-CN" altLang="en-US" sz="1400" dirty="0"/>
              <a:t>  </a:t>
            </a:r>
            <a:r>
              <a:rPr lang="en-US" altLang="zh-CN" sz="1400" dirty="0"/>
              <a:t>}</a:t>
            </a:r>
          </a:p>
          <a:p>
            <a:pPr marL="0" indent="0">
              <a:buNone/>
            </a:pPr>
            <a:r>
              <a:rPr lang="en-US" altLang="zh-CN" sz="1400" dirty="0"/>
              <a:t>}</a:t>
            </a:r>
          </a:p>
          <a:p>
            <a:pPr marL="0" indent="0">
              <a:buNone/>
            </a:pPr>
            <a:endParaRPr lang="zh-CN" altLang="en-US" sz="1400" dirty="0"/>
          </a:p>
          <a:p>
            <a:pPr marL="0" indent="0">
              <a:buNone/>
            </a:pPr>
            <a:endParaRPr lang="zh-CN" altLang="en-US" sz="1050" dirty="0"/>
          </a:p>
        </p:txBody>
      </p:sp>
    </p:spTree>
    <p:extLst>
      <p:ext uri="{BB962C8B-B14F-4D97-AF65-F5344CB8AC3E}">
        <p14:creationId xmlns:p14="http://schemas.microsoft.com/office/powerpoint/2010/main" val="2052233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一个小的众筹智能合约</a:t>
            </a:r>
          </a:p>
        </p:txBody>
      </p:sp>
      <p:sp>
        <p:nvSpPr>
          <p:cNvPr id="3" name="内容占位符 2"/>
          <p:cNvSpPr>
            <a:spLocks noGrp="1"/>
          </p:cNvSpPr>
          <p:nvPr>
            <p:ph idx="1"/>
          </p:nvPr>
        </p:nvSpPr>
        <p:spPr>
          <a:xfrm>
            <a:off x="107504" y="1052736"/>
            <a:ext cx="8856983" cy="5616624"/>
          </a:xfrm>
        </p:spPr>
        <p:txBody>
          <a:bodyPr/>
          <a:lstStyle/>
          <a:p>
            <a:pPr marL="0" indent="0">
              <a:buNone/>
            </a:pPr>
            <a:r>
              <a:rPr lang="en-US" altLang="zh-CN" sz="1400" dirty="0"/>
              <a:t>pragma solidity ^0.4.24;</a:t>
            </a:r>
          </a:p>
          <a:p>
            <a:pPr marL="0" indent="0">
              <a:buNone/>
            </a:pPr>
            <a:r>
              <a:rPr lang="en-US" altLang="zh-CN" sz="1400" dirty="0" smtClean="0"/>
              <a:t>import </a:t>
            </a:r>
            <a:r>
              <a:rPr lang="en-US" altLang="zh-CN" sz="1400" dirty="0"/>
              <a:t>"./</a:t>
            </a:r>
            <a:r>
              <a:rPr lang="en-US" altLang="zh-CN" sz="1400" dirty="0" err="1"/>
              <a:t>SafeMath.sol</a:t>
            </a:r>
            <a:r>
              <a:rPr lang="en-US" altLang="zh-CN" sz="1400" dirty="0"/>
              <a:t>";</a:t>
            </a:r>
          </a:p>
          <a:p>
            <a:pPr marL="0" indent="0">
              <a:buNone/>
            </a:pPr>
            <a:r>
              <a:rPr lang="en-US" altLang="zh-CN" sz="1400" dirty="0"/>
              <a:t>import "./</a:t>
            </a:r>
            <a:r>
              <a:rPr lang="en-US" altLang="zh-CN" sz="1400" dirty="0" err="1"/>
              <a:t>Owned.sol</a:t>
            </a:r>
            <a:r>
              <a:rPr lang="en-US" altLang="zh-CN" sz="1400" dirty="0"/>
              <a:t>";</a:t>
            </a:r>
          </a:p>
          <a:p>
            <a:pPr marL="0" indent="0">
              <a:buNone/>
            </a:pPr>
            <a:r>
              <a:rPr lang="en-US" altLang="zh-CN" sz="1400" dirty="0" smtClean="0"/>
              <a:t>contract </a:t>
            </a:r>
            <a:r>
              <a:rPr lang="en-US" altLang="zh-CN" sz="1400" dirty="0"/>
              <a:t>Crowd is Owned{</a:t>
            </a:r>
          </a:p>
          <a:p>
            <a:pPr marL="0" indent="0">
              <a:buNone/>
            </a:pPr>
            <a:r>
              <a:rPr lang="en-US" altLang="zh-CN" sz="1400" dirty="0" smtClean="0"/>
              <a:t>    </a:t>
            </a:r>
            <a:r>
              <a:rPr lang="en-US" altLang="zh-CN" sz="1400" dirty="0"/>
              <a:t>using </a:t>
            </a:r>
            <a:r>
              <a:rPr lang="en-US" altLang="zh-CN" sz="1400" dirty="0" err="1"/>
              <a:t>SafeMath</a:t>
            </a:r>
            <a:r>
              <a:rPr lang="en-US" altLang="zh-CN" sz="1400" dirty="0"/>
              <a:t> for uint256;</a:t>
            </a:r>
          </a:p>
          <a:p>
            <a:pPr marL="0" indent="0">
              <a:buNone/>
            </a:pPr>
            <a:r>
              <a:rPr lang="zh-CN" altLang="en-US" sz="1400" dirty="0" smtClean="0"/>
              <a:t>    </a:t>
            </a:r>
            <a:r>
              <a:rPr lang="en-US" altLang="zh-CN" sz="1400" dirty="0"/>
              <a:t>// </a:t>
            </a:r>
            <a:r>
              <a:rPr lang="zh-CN" altLang="en-US" sz="1400" dirty="0" smtClean="0"/>
              <a:t>众筹收款地址</a:t>
            </a:r>
            <a:r>
              <a:rPr lang="en-US" altLang="zh-CN" sz="1400" dirty="0"/>
              <a:t>·</a:t>
            </a:r>
          </a:p>
          <a:p>
            <a:pPr marL="0" indent="0">
              <a:buNone/>
            </a:pPr>
            <a:r>
              <a:rPr lang="en-US" altLang="zh-CN" sz="1400" dirty="0"/>
              <a:t>    address public beneficiary = 0x3f5d03527016a7C5f2Fc660A8a7cC960b9C30cF5;</a:t>
            </a:r>
          </a:p>
          <a:p>
            <a:pPr marL="0" indent="0">
              <a:buNone/>
            </a:pPr>
            <a:r>
              <a:rPr lang="zh-CN" altLang="en-US" sz="1400" dirty="0"/>
              <a:t>    </a:t>
            </a:r>
            <a:r>
              <a:rPr lang="zh-CN" altLang="en-US" sz="1400" dirty="0" smtClean="0"/>
              <a:t>  </a:t>
            </a:r>
            <a:r>
              <a:rPr lang="en-US" altLang="zh-CN" sz="1400" dirty="0"/>
              <a:t>// </a:t>
            </a:r>
            <a:r>
              <a:rPr lang="zh-CN" altLang="en-US" sz="1400" dirty="0" smtClean="0"/>
              <a:t>众筹目标</a:t>
            </a:r>
            <a:endParaRPr lang="en-US" altLang="zh-CN" sz="1400" dirty="0"/>
          </a:p>
          <a:p>
            <a:pPr marL="0" indent="0">
              <a:buNone/>
            </a:pPr>
            <a:r>
              <a:rPr lang="en-US" altLang="zh-CN" sz="1400" dirty="0"/>
              <a:t>    </a:t>
            </a:r>
            <a:r>
              <a:rPr lang="en-US" altLang="zh-CN" sz="1400" dirty="0" err="1"/>
              <a:t>uint</a:t>
            </a:r>
            <a:r>
              <a:rPr lang="en-US" altLang="zh-CN" sz="1400" dirty="0"/>
              <a:t> public </a:t>
            </a:r>
            <a:r>
              <a:rPr lang="en-US" altLang="zh-CN" sz="1400" dirty="0" err="1"/>
              <a:t>fundingGoal</a:t>
            </a:r>
            <a:r>
              <a:rPr lang="en-US" altLang="zh-CN" sz="1400" dirty="0"/>
              <a:t> = 2 ether;</a:t>
            </a:r>
          </a:p>
          <a:p>
            <a:pPr marL="0" indent="0">
              <a:buNone/>
            </a:pPr>
            <a:r>
              <a:rPr lang="zh-CN" altLang="en-US" sz="1400" dirty="0"/>
              <a:t>    </a:t>
            </a:r>
            <a:r>
              <a:rPr lang="zh-CN" altLang="en-US" sz="1400" dirty="0" smtClean="0"/>
              <a:t>  </a:t>
            </a:r>
            <a:r>
              <a:rPr lang="en-US" altLang="zh-CN" sz="1400" dirty="0"/>
              <a:t>// </a:t>
            </a:r>
            <a:r>
              <a:rPr lang="zh-CN" altLang="en-US" sz="1400" dirty="0" smtClean="0"/>
              <a:t>已经</a:t>
            </a:r>
            <a:r>
              <a:rPr lang="en-US" altLang="zh-CN" sz="1400" dirty="0"/>
              <a:t>-</a:t>
            </a:r>
            <a:r>
              <a:rPr lang="zh-CN" altLang="en-US" sz="1400" dirty="0" smtClean="0"/>
              <a:t>众筹金额</a:t>
            </a:r>
            <a:endParaRPr lang="en-US" altLang="zh-CN" sz="1400" dirty="0"/>
          </a:p>
          <a:p>
            <a:pPr marL="0" indent="0">
              <a:buNone/>
            </a:pPr>
            <a:r>
              <a:rPr lang="en-US" altLang="zh-CN" sz="1400" dirty="0"/>
              <a:t>    </a:t>
            </a:r>
            <a:r>
              <a:rPr lang="en-US" altLang="zh-CN" sz="1400" dirty="0" err="1"/>
              <a:t>uint</a:t>
            </a:r>
            <a:r>
              <a:rPr lang="en-US" altLang="zh-CN" sz="1400" dirty="0"/>
              <a:t> public </a:t>
            </a:r>
            <a:r>
              <a:rPr lang="en-US" altLang="zh-CN" sz="1400" dirty="0" err="1"/>
              <a:t>amountRaised</a:t>
            </a:r>
            <a:r>
              <a:rPr lang="en-US" altLang="zh-CN" sz="1400" dirty="0"/>
              <a:t>;</a:t>
            </a:r>
          </a:p>
          <a:p>
            <a:pPr marL="0" indent="0">
              <a:buNone/>
            </a:pPr>
            <a:r>
              <a:rPr lang="zh-CN" altLang="en-US" sz="1400" dirty="0"/>
              <a:t>    </a:t>
            </a:r>
            <a:r>
              <a:rPr lang="zh-CN" altLang="en-US" sz="1400" dirty="0" smtClean="0"/>
              <a:t> </a:t>
            </a:r>
            <a:r>
              <a:rPr lang="en-US" altLang="zh-CN" sz="1400" dirty="0"/>
              <a:t>// </a:t>
            </a:r>
            <a:r>
              <a:rPr lang="zh-CN" altLang="en-US" sz="1400" dirty="0" smtClean="0"/>
              <a:t>截止时间</a:t>
            </a:r>
            <a:endParaRPr lang="en-US" altLang="zh-CN" sz="1400" dirty="0"/>
          </a:p>
          <a:p>
            <a:pPr marL="0" indent="0">
              <a:buNone/>
            </a:pPr>
            <a:r>
              <a:rPr lang="en-US" altLang="zh-CN" sz="1400" dirty="0"/>
              <a:t>    </a:t>
            </a:r>
            <a:r>
              <a:rPr lang="en-US" altLang="zh-CN" sz="1400" dirty="0" err="1"/>
              <a:t>uint</a:t>
            </a:r>
            <a:r>
              <a:rPr lang="en-US" altLang="zh-CN" sz="1400" dirty="0"/>
              <a:t> public deadline = now + 5 minutes;</a:t>
            </a:r>
          </a:p>
          <a:p>
            <a:pPr marL="0" indent="0">
              <a:buNone/>
            </a:pPr>
            <a:r>
              <a:rPr lang="zh-CN" altLang="en-US" sz="1400" dirty="0"/>
              <a:t>    </a:t>
            </a:r>
            <a:r>
              <a:rPr lang="zh-CN" altLang="en-US" sz="1400" dirty="0" smtClean="0"/>
              <a:t>  </a:t>
            </a:r>
            <a:r>
              <a:rPr lang="en-US" altLang="zh-CN" sz="1400" dirty="0"/>
              <a:t>// </a:t>
            </a:r>
            <a:r>
              <a:rPr lang="zh-CN" altLang="en-US" sz="1400" dirty="0" smtClean="0"/>
              <a:t>出资人地址及金额</a:t>
            </a:r>
            <a:endParaRPr lang="en-US" altLang="zh-CN" sz="1400" dirty="0"/>
          </a:p>
          <a:p>
            <a:pPr marL="0" indent="0">
              <a:buNone/>
            </a:pPr>
            <a:r>
              <a:rPr lang="en-US" altLang="zh-CN" sz="1400" dirty="0"/>
              <a:t>    mapping(address =&gt; uint256) public </a:t>
            </a:r>
            <a:r>
              <a:rPr lang="en-US" altLang="zh-CN" sz="1400" dirty="0" err="1"/>
              <a:t>balanceOf</a:t>
            </a:r>
            <a:r>
              <a:rPr lang="en-US" altLang="zh-CN" sz="1400" dirty="0"/>
              <a:t>;</a:t>
            </a:r>
          </a:p>
          <a:p>
            <a:pPr marL="0" indent="0">
              <a:buNone/>
            </a:pPr>
            <a:r>
              <a:rPr lang="zh-CN" altLang="en-US" sz="1400" dirty="0"/>
              <a:t>    </a:t>
            </a:r>
            <a:r>
              <a:rPr lang="zh-CN" altLang="en-US" sz="1400" dirty="0" smtClean="0"/>
              <a:t> </a:t>
            </a:r>
            <a:r>
              <a:rPr lang="en-US" altLang="zh-CN" sz="1400" dirty="0"/>
              <a:t>// </a:t>
            </a:r>
            <a:r>
              <a:rPr lang="zh-CN" altLang="en-US" sz="1400" dirty="0" smtClean="0"/>
              <a:t>是否达到众筹目标括</a:t>
            </a:r>
            <a:endParaRPr lang="en-US" altLang="zh-CN" sz="1400" dirty="0"/>
          </a:p>
          <a:p>
            <a:pPr marL="0" indent="0">
              <a:buNone/>
            </a:pPr>
            <a:r>
              <a:rPr lang="en-US" altLang="zh-CN" sz="1400" dirty="0"/>
              <a:t>    bool public </a:t>
            </a:r>
            <a:r>
              <a:rPr lang="en-US" altLang="zh-CN" sz="1400" dirty="0" err="1"/>
              <a:t>fundingGoalReached</a:t>
            </a:r>
            <a:r>
              <a:rPr lang="en-US" altLang="zh-CN" sz="1400" dirty="0"/>
              <a:t> = false;</a:t>
            </a:r>
          </a:p>
          <a:p>
            <a:pPr marL="0" indent="0">
              <a:buNone/>
            </a:pPr>
            <a:r>
              <a:rPr lang="zh-CN" altLang="en-US" sz="1400" dirty="0"/>
              <a:t>   </a:t>
            </a:r>
            <a:r>
              <a:rPr lang="en-US" altLang="zh-CN" sz="1400" dirty="0" smtClean="0"/>
              <a:t>// </a:t>
            </a:r>
            <a:r>
              <a:rPr lang="zh-CN" altLang="en-US" sz="1400" dirty="0" smtClean="0"/>
              <a:t>是否已提款</a:t>
            </a:r>
            <a:endParaRPr lang="en-US" altLang="zh-CN" sz="1400" dirty="0"/>
          </a:p>
          <a:p>
            <a:pPr marL="0" indent="0">
              <a:buNone/>
            </a:pPr>
            <a:r>
              <a:rPr lang="en-US" altLang="zh-CN" sz="1400" dirty="0"/>
              <a:t>    bool public </a:t>
            </a:r>
            <a:r>
              <a:rPr lang="en-US" altLang="zh-CN" sz="1400" dirty="0" err="1"/>
              <a:t>isWithdrawed</a:t>
            </a:r>
            <a:r>
              <a:rPr lang="en-US" altLang="zh-CN" sz="1400" dirty="0"/>
              <a:t> = false;</a:t>
            </a:r>
          </a:p>
          <a:p>
            <a:pPr marL="0" indent="0">
              <a:buNone/>
            </a:pPr>
            <a:r>
              <a:rPr lang="zh-CN" altLang="en-US" sz="1400" dirty="0" smtClean="0"/>
              <a:t>    </a:t>
            </a:r>
            <a:r>
              <a:rPr lang="en-US" altLang="zh-CN" sz="1400" dirty="0"/>
              <a:t>// </a:t>
            </a:r>
            <a:r>
              <a:rPr lang="zh-CN" altLang="en-US" sz="1400" dirty="0" smtClean="0"/>
              <a:t>参与人次</a:t>
            </a:r>
            <a:endParaRPr lang="en-US" altLang="zh-CN" sz="1400" dirty="0"/>
          </a:p>
          <a:p>
            <a:pPr marL="0" indent="0">
              <a:buNone/>
            </a:pPr>
            <a:r>
              <a:rPr lang="en-US" altLang="zh-CN" sz="1400" dirty="0"/>
              <a:t>    uint256 public </a:t>
            </a:r>
            <a:r>
              <a:rPr lang="en-US" altLang="zh-CN" sz="1400" dirty="0" err="1"/>
              <a:t>donateCount</a:t>
            </a:r>
            <a:r>
              <a:rPr lang="en-US" altLang="zh-CN" sz="1400" dirty="0"/>
              <a:t>;</a:t>
            </a:r>
          </a:p>
          <a:p>
            <a:pPr marL="0" indent="0">
              <a:buNone/>
            </a:pPr>
            <a:endParaRPr lang="zh-CN" altLang="en-US" sz="1050" dirty="0"/>
          </a:p>
        </p:txBody>
      </p:sp>
    </p:spTree>
    <p:extLst>
      <p:ext uri="{BB962C8B-B14F-4D97-AF65-F5344CB8AC3E}">
        <p14:creationId xmlns:p14="http://schemas.microsoft.com/office/powerpoint/2010/main" val="5257808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一个小的众筹智能合约</a:t>
            </a:r>
          </a:p>
        </p:txBody>
      </p:sp>
      <p:sp>
        <p:nvSpPr>
          <p:cNvPr id="3" name="内容占位符 2"/>
          <p:cNvSpPr>
            <a:spLocks noGrp="1"/>
          </p:cNvSpPr>
          <p:nvPr>
            <p:ph idx="1"/>
          </p:nvPr>
        </p:nvSpPr>
        <p:spPr>
          <a:xfrm>
            <a:off x="107504" y="1052736"/>
            <a:ext cx="8856983" cy="5616624"/>
          </a:xfrm>
        </p:spPr>
        <p:txBody>
          <a:bodyPr/>
          <a:lstStyle/>
          <a:p>
            <a:pPr marL="0" indent="0">
              <a:buNone/>
            </a:pPr>
            <a:r>
              <a:rPr lang="en-US" altLang="zh-CN" sz="1400"/>
              <a:t> event Withdraw(address </a:t>
            </a:r>
            <a:r>
              <a:rPr lang="en-US" altLang="zh-CN" sz="1400" dirty="0" err="1"/>
              <a:t>addr</a:t>
            </a:r>
            <a:r>
              <a:rPr lang="en-US" altLang="zh-CN" sz="1400" dirty="0"/>
              <a:t>, </a:t>
            </a:r>
            <a:r>
              <a:rPr lang="en-US" altLang="zh-CN" sz="1400" dirty="0" err="1"/>
              <a:t>uint</a:t>
            </a:r>
            <a:r>
              <a:rPr lang="en-US" altLang="zh-CN" sz="1400" dirty="0"/>
              <a:t> amount);</a:t>
            </a:r>
          </a:p>
          <a:p>
            <a:pPr marL="0" indent="0">
              <a:buNone/>
            </a:pPr>
            <a:endParaRPr lang="en-US" altLang="zh-CN" sz="1400" dirty="0"/>
          </a:p>
          <a:p>
            <a:pPr marL="0" indent="0">
              <a:buNone/>
            </a:pPr>
            <a:r>
              <a:rPr lang="en-US" altLang="zh-CN" sz="1400" dirty="0"/>
              <a:t>    event Refund(address </a:t>
            </a:r>
            <a:r>
              <a:rPr lang="en-US" altLang="zh-CN" sz="1400" dirty="0" err="1"/>
              <a:t>addr</a:t>
            </a:r>
            <a:r>
              <a:rPr lang="en-US" altLang="zh-CN" sz="1400" dirty="0"/>
              <a:t>, uint256 amount);</a:t>
            </a:r>
          </a:p>
          <a:p>
            <a:pPr marL="0" indent="0">
              <a:buNone/>
            </a:pPr>
            <a:endParaRPr lang="en-US" altLang="zh-CN" sz="1400" dirty="0"/>
          </a:p>
          <a:p>
            <a:pPr marL="0" indent="0">
              <a:buNone/>
            </a:pPr>
            <a:r>
              <a:rPr lang="en-US" altLang="zh-CN" sz="1400" dirty="0"/>
              <a:t>    event Donate(address </a:t>
            </a:r>
            <a:r>
              <a:rPr lang="en-US" altLang="zh-CN" sz="1400" dirty="0" err="1"/>
              <a:t>addr</a:t>
            </a:r>
            <a:r>
              <a:rPr lang="en-US" altLang="zh-CN" sz="1400" dirty="0"/>
              <a:t>, uint256 amount);</a:t>
            </a:r>
          </a:p>
          <a:p>
            <a:pPr marL="0" indent="0">
              <a:buNone/>
            </a:pPr>
            <a:endParaRPr lang="en-US" altLang="zh-CN" sz="1400" dirty="0"/>
          </a:p>
          <a:p>
            <a:pPr marL="0" indent="0">
              <a:buNone/>
            </a:pPr>
            <a:r>
              <a:rPr lang="en-US" altLang="zh-CN" sz="1400" dirty="0"/>
              <a:t>    constructor() public{</a:t>
            </a:r>
          </a:p>
          <a:p>
            <a:pPr marL="0" indent="0">
              <a:buNone/>
            </a:pPr>
            <a:endParaRPr lang="en-US" altLang="zh-CN" sz="1400" dirty="0"/>
          </a:p>
          <a:p>
            <a:pPr marL="0" indent="0">
              <a:buNone/>
            </a:pPr>
            <a:r>
              <a:rPr lang="en-US" altLang="zh-CN" sz="1400" dirty="0"/>
              <a:t>    }</a:t>
            </a:r>
          </a:p>
          <a:p>
            <a:pPr marL="0" indent="0">
              <a:buNone/>
            </a:pPr>
            <a:endParaRPr lang="en-US" altLang="zh-CN" sz="1400" dirty="0"/>
          </a:p>
          <a:p>
            <a:pPr marL="0" indent="0">
              <a:buNone/>
            </a:pPr>
            <a:r>
              <a:rPr lang="en-US" altLang="zh-CN" sz="1400" dirty="0"/>
              <a:t>    /**</a:t>
            </a:r>
          </a:p>
          <a:p>
            <a:pPr marL="0" indent="0">
              <a:buNone/>
            </a:pPr>
            <a:r>
              <a:rPr lang="en-US" altLang="zh-CN" sz="1400" dirty="0"/>
              <a:t>     * Fallback function</a:t>
            </a:r>
          </a:p>
          <a:p>
            <a:pPr marL="0" indent="0">
              <a:buNone/>
            </a:pPr>
            <a:r>
              <a:rPr lang="en-US" altLang="zh-CN" sz="1400" dirty="0"/>
              <a:t>     */</a:t>
            </a:r>
          </a:p>
          <a:p>
            <a:pPr marL="0" indent="0">
              <a:buNone/>
            </a:pPr>
            <a:r>
              <a:rPr lang="en-US" altLang="zh-CN" sz="1400" dirty="0"/>
              <a:t>    function () payable public {</a:t>
            </a:r>
          </a:p>
          <a:p>
            <a:pPr marL="0" indent="0">
              <a:buNone/>
            </a:pPr>
            <a:r>
              <a:rPr lang="en-US" altLang="zh-CN" sz="1400" dirty="0"/>
              <a:t>        </a:t>
            </a:r>
          </a:p>
          <a:p>
            <a:pPr marL="0" indent="0">
              <a:buNone/>
            </a:pPr>
            <a:r>
              <a:rPr lang="en-US" altLang="zh-CN" sz="1400" dirty="0"/>
              <a:t>    }</a:t>
            </a:r>
            <a:endParaRPr lang="zh-CN" altLang="en-US" sz="1400" dirty="0"/>
          </a:p>
        </p:txBody>
      </p:sp>
    </p:spTree>
    <p:extLst>
      <p:ext uri="{BB962C8B-B14F-4D97-AF65-F5344CB8AC3E}">
        <p14:creationId xmlns:p14="http://schemas.microsoft.com/office/powerpoint/2010/main" val="29764709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一个小的众筹智能合约</a:t>
            </a:r>
          </a:p>
        </p:txBody>
      </p:sp>
      <p:sp>
        <p:nvSpPr>
          <p:cNvPr id="3" name="内容占位符 2"/>
          <p:cNvSpPr>
            <a:spLocks noGrp="1"/>
          </p:cNvSpPr>
          <p:nvPr>
            <p:ph idx="1"/>
          </p:nvPr>
        </p:nvSpPr>
        <p:spPr>
          <a:xfrm>
            <a:off x="107504" y="1052736"/>
            <a:ext cx="8856983" cy="5616624"/>
          </a:xfrm>
        </p:spPr>
        <p:txBody>
          <a:bodyPr/>
          <a:lstStyle/>
          <a:p>
            <a:pPr marL="0" indent="0">
              <a:buNone/>
            </a:pPr>
            <a:r>
              <a:rPr lang="en-US" altLang="zh-CN" sz="1600" dirty="0"/>
              <a:t> modifier </a:t>
            </a:r>
            <a:r>
              <a:rPr lang="en-US" altLang="zh-CN" sz="1600" dirty="0" err="1"/>
              <a:t>afterDeadline</a:t>
            </a:r>
            <a:r>
              <a:rPr lang="en-US" altLang="zh-CN" sz="1600" dirty="0"/>
              <a:t>() { </a:t>
            </a:r>
          </a:p>
          <a:p>
            <a:pPr marL="0" indent="0">
              <a:buNone/>
            </a:pPr>
            <a:r>
              <a:rPr lang="en-US" altLang="zh-CN" sz="1600" dirty="0"/>
              <a:t>        if (now &gt;= deadline)</a:t>
            </a:r>
          </a:p>
          <a:p>
            <a:pPr marL="0" indent="0">
              <a:buNone/>
            </a:pPr>
            <a:r>
              <a:rPr lang="zh-CN" altLang="en-US" sz="1600" dirty="0"/>
              <a:t>         </a:t>
            </a:r>
            <a:r>
              <a:rPr lang="en-US" altLang="zh-CN" sz="1600" dirty="0"/>
              <a:t>_; </a:t>
            </a:r>
          </a:p>
          <a:p>
            <a:pPr marL="0" indent="0">
              <a:buNone/>
            </a:pPr>
            <a:r>
              <a:rPr lang="zh-CN" altLang="en-US" sz="1600" dirty="0"/>
              <a:t>    </a:t>
            </a:r>
            <a:r>
              <a:rPr lang="en-US" altLang="zh-CN" sz="1600" dirty="0"/>
              <a:t>}</a:t>
            </a:r>
          </a:p>
          <a:p>
            <a:pPr marL="0" indent="0">
              <a:buNone/>
            </a:pPr>
            <a:endParaRPr lang="zh-CN" altLang="en-US" sz="1600" dirty="0"/>
          </a:p>
          <a:p>
            <a:pPr marL="0" indent="0">
              <a:buNone/>
            </a:pPr>
            <a:r>
              <a:rPr lang="en-US" altLang="zh-CN" sz="1600" dirty="0"/>
              <a:t>    modifier </a:t>
            </a:r>
            <a:r>
              <a:rPr lang="en-US" altLang="zh-CN" sz="1600" dirty="0" err="1"/>
              <a:t>beforeDeadline</a:t>
            </a:r>
            <a:r>
              <a:rPr lang="en-US" altLang="zh-CN" sz="1600" dirty="0"/>
              <a:t>() {</a:t>
            </a:r>
          </a:p>
          <a:p>
            <a:pPr marL="0" indent="0">
              <a:buNone/>
            </a:pPr>
            <a:r>
              <a:rPr lang="en-US" altLang="zh-CN" sz="1600" dirty="0"/>
              <a:t>       require(now &lt; deadline);</a:t>
            </a:r>
          </a:p>
          <a:p>
            <a:pPr marL="0" indent="0">
              <a:buNone/>
            </a:pPr>
            <a:r>
              <a:rPr lang="zh-CN" altLang="en-US" sz="1600" dirty="0"/>
              <a:t>       </a:t>
            </a:r>
            <a:r>
              <a:rPr lang="en-US" altLang="zh-CN" sz="1600" dirty="0"/>
              <a:t>_;</a:t>
            </a:r>
          </a:p>
          <a:p>
            <a:pPr marL="0" indent="0">
              <a:buNone/>
            </a:pPr>
            <a:r>
              <a:rPr lang="zh-CN" altLang="en-US" sz="1600" dirty="0"/>
              <a:t>    </a:t>
            </a:r>
            <a:r>
              <a:rPr lang="en-US" altLang="zh-CN" sz="1600" dirty="0"/>
              <a:t>}</a:t>
            </a:r>
          </a:p>
          <a:p>
            <a:pPr marL="0" indent="0">
              <a:buNone/>
            </a:pPr>
            <a:endParaRPr lang="zh-CN" altLang="en-US" sz="1600" dirty="0"/>
          </a:p>
          <a:p>
            <a:pPr marL="0" indent="0">
              <a:buNone/>
            </a:pPr>
            <a:r>
              <a:rPr lang="en-US" altLang="zh-CN" sz="1600" dirty="0"/>
              <a:t>    modifier </a:t>
            </a:r>
            <a:r>
              <a:rPr lang="en-US" altLang="zh-CN" sz="1600" dirty="0" err="1"/>
              <a:t>onlyFundingSuccess</a:t>
            </a:r>
            <a:r>
              <a:rPr lang="en-US" altLang="zh-CN" sz="1600" dirty="0"/>
              <a:t>() {</a:t>
            </a:r>
          </a:p>
          <a:p>
            <a:pPr marL="0" indent="0">
              <a:buNone/>
            </a:pPr>
            <a:r>
              <a:rPr lang="en-US" altLang="zh-CN" sz="1600" dirty="0"/>
              <a:t>      require(</a:t>
            </a:r>
            <a:r>
              <a:rPr lang="en-US" altLang="zh-CN" sz="1600" dirty="0" err="1"/>
              <a:t>fundingGoalReached</a:t>
            </a:r>
            <a:r>
              <a:rPr lang="en-US" altLang="zh-CN" sz="1600" dirty="0"/>
              <a:t>);</a:t>
            </a:r>
          </a:p>
          <a:p>
            <a:pPr marL="0" indent="0">
              <a:buNone/>
            </a:pPr>
            <a:r>
              <a:rPr lang="zh-CN" altLang="en-US" sz="1600" dirty="0"/>
              <a:t>      </a:t>
            </a:r>
            <a:r>
              <a:rPr lang="en-US" altLang="zh-CN" sz="1600" dirty="0"/>
              <a:t>_;</a:t>
            </a:r>
          </a:p>
          <a:p>
            <a:pPr marL="0" indent="0">
              <a:buNone/>
            </a:pPr>
            <a:r>
              <a:rPr lang="zh-CN" altLang="en-US" sz="1600" dirty="0"/>
              <a:t>   </a:t>
            </a:r>
            <a:r>
              <a:rPr lang="en-US" altLang="zh-CN" sz="1600" dirty="0"/>
              <a:t>}</a:t>
            </a:r>
          </a:p>
          <a:p>
            <a:pPr marL="0" indent="0">
              <a:buNone/>
            </a:pPr>
            <a:endParaRPr lang="zh-CN" altLang="en-US" sz="1600" dirty="0"/>
          </a:p>
          <a:p>
            <a:pPr marL="0" indent="0">
              <a:buNone/>
            </a:pPr>
            <a:r>
              <a:rPr lang="en-US" altLang="zh-CN" sz="1600" dirty="0"/>
              <a:t>   modifier </a:t>
            </a:r>
            <a:r>
              <a:rPr lang="en-US" altLang="zh-CN" sz="1600" dirty="0" err="1"/>
              <a:t>onlyFundingFail</a:t>
            </a:r>
            <a:r>
              <a:rPr lang="en-US" altLang="zh-CN" sz="1600" dirty="0"/>
              <a:t>() {</a:t>
            </a:r>
          </a:p>
          <a:p>
            <a:pPr marL="0" indent="0">
              <a:buNone/>
            </a:pPr>
            <a:r>
              <a:rPr lang="en-US" altLang="zh-CN" sz="1600" dirty="0"/>
              <a:t>      require(!</a:t>
            </a:r>
            <a:r>
              <a:rPr lang="en-US" altLang="zh-CN" sz="1600" dirty="0" err="1"/>
              <a:t>fundingGoalReached</a:t>
            </a:r>
            <a:r>
              <a:rPr lang="en-US" altLang="zh-CN" sz="1600" dirty="0"/>
              <a:t>);</a:t>
            </a:r>
          </a:p>
          <a:p>
            <a:pPr marL="0" indent="0">
              <a:buNone/>
            </a:pPr>
            <a:r>
              <a:rPr lang="zh-CN" altLang="en-US" sz="1600" dirty="0"/>
              <a:t>      </a:t>
            </a:r>
            <a:r>
              <a:rPr lang="en-US" altLang="zh-CN" sz="1600" dirty="0"/>
              <a:t>_;</a:t>
            </a:r>
          </a:p>
          <a:p>
            <a:pPr marL="0" indent="0">
              <a:buNone/>
            </a:pPr>
            <a:r>
              <a:rPr lang="zh-CN" altLang="en-US" sz="1600" dirty="0"/>
              <a:t>   </a:t>
            </a:r>
            <a:r>
              <a:rPr lang="en-US" altLang="zh-CN" sz="1600" dirty="0"/>
              <a:t>}</a:t>
            </a:r>
          </a:p>
        </p:txBody>
      </p:sp>
    </p:spTree>
    <p:extLst>
      <p:ext uri="{BB962C8B-B14F-4D97-AF65-F5344CB8AC3E}">
        <p14:creationId xmlns:p14="http://schemas.microsoft.com/office/powerpoint/2010/main" val="41674204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一个小的众筹智能合约</a:t>
            </a:r>
          </a:p>
        </p:txBody>
      </p:sp>
      <p:sp>
        <p:nvSpPr>
          <p:cNvPr id="3" name="内容占位符 2"/>
          <p:cNvSpPr>
            <a:spLocks noGrp="1"/>
          </p:cNvSpPr>
          <p:nvPr>
            <p:ph idx="1"/>
          </p:nvPr>
        </p:nvSpPr>
        <p:spPr>
          <a:xfrm>
            <a:off x="179512" y="1124744"/>
            <a:ext cx="8856983" cy="5544616"/>
          </a:xfrm>
        </p:spPr>
        <p:txBody>
          <a:bodyPr/>
          <a:lstStyle/>
          <a:p>
            <a:pPr marL="0" indent="0">
              <a:buNone/>
            </a:pPr>
            <a:r>
              <a:rPr lang="en-US" altLang="zh-CN" sz="2000" dirty="0"/>
              <a:t> function donate () public payable </a:t>
            </a:r>
            <a:r>
              <a:rPr lang="en-US" altLang="zh-CN" sz="2000" dirty="0" err="1"/>
              <a:t>beforeDeadline</a:t>
            </a:r>
            <a:r>
              <a:rPr lang="en-US" altLang="zh-CN" sz="2000" dirty="0"/>
              <a:t> </a:t>
            </a:r>
            <a:r>
              <a:rPr lang="en-US" altLang="zh-CN" sz="2000" dirty="0" err="1"/>
              <a:t>onlyFundingFail</a:t>
            </a:r>
            <a:r>
              <a:rPr lang="en-US" altLang="zh-CN" sz="2000" dirty="0"/>
              <a:t>{</a:t>
            </a:r>
          </a:p>
          <a:p>
            <a:pPr marL="0" indent="0">
              <a:buNone/>
            </a:pPr>
            <a:r>
              <a:rPr lang="en-US" altLang="zh-CN" sz="2000" dirty="0"/>
              <a:t>      uint256 amount = </a:t>
            </a:r>
            <a:r>
              <a:rPr lang="en-US" altLang="zh-CN" sz="2000" dirty="0" err="1"/>
              <a:t>balanceOf</a:t>
            </a:r>
            <a:r>
              <a:rPr lang="en-US" altLang="zh-CN" sz="2000" dirty="0"/>
              <a:t>[</a:t>
            </a:r>
            <a:r>
              <a:rPr lang="en-US" altLang="zh-CN" sz="2000" dirty="0" err="1"/>
              <a:t>msg.sender</a:t>
            </a:r>
            <a:r>
              <a:rPr lang="en-US" altLang="zh-CN" sz="2000" dirty="0"/>
              <a:t>];</a:t>
            </a:r>
          </a:p>
          <a:p>
            <a:pPr marL="0" indent="0">
              <a:buNone/>
            </a:pPr>
            <a:r>
              <a:rPr lang="en-US" altLang="zh-CN" sz="2000" dirty="0"/>
              <a:t>      uint256 value = </a:t>
            </a:r>
            <a:r>
              <a:rPr lang="en-US" altLang="zh-CN" sz="2000" dirty="0" err="1"/>
              <a:t>msg.value</a:t>
            </a:r>
            <a:r>
              <a:rPr lang="en-US" altLang="zh-CN" sz="2000" dirty="0"/>
              <a:t>;</a:t>
            </a:r>
          </a:p>
          <a:p>
            <a:pPr marL="0" indent="0">
              <a:buNone/>
            </a:pPr>
            <a:r>
              <a:rPr lang="en-US" altLang="zh-CN" sz="2000" dirty="0"/>
              <a:t>      if(value != 0){</a:t>
            </a:r>
          </a:p>
          <a:p>
            <a:pPr marL="0" indent="0">
              <a:buNone/>
            </a:pPr>
            <a:r>
              <a:rPr lang="en-US" altLang="zh-CN" sz="2000" dirty="0"/>
              <a:t>        amount = </a:t>
            </a:r>
            <a:r>
              <a:rPr lang="en-US" altLang="zh-CN" sz="2000" dirty="0" err="1"/>
              <a:t>amount.add</a:t>
            </a:r>
            <a:r>
              <a:rPr lang="en-US" altLang="zh-CN" sz="2000" dirty="0"/>
              <a:t>(value);</a:t>
            </a:r>
          </a:p>
          <a:p>
            <a:pPr marL="0" indent="0">
              <a:buNone/>
            </a:pPr>
            <a:r>
              <a:rPr lang="en-US" altLang="zh-CN" sz="2000" dirty="0"/>
              <a:t>        </a:t>
            </a:r>
            <a:r>
              <a:rPr lang="en-US" altLang="zh-CN" sz="2000" dirty="0" err="1"/>
              <a:t>balanceOf</a:t>
            </a:r>
            <a:r>
              <a:rPr lang="en-US" altLang="zh-CN" sz="2000" dirty="0"/>
              <a:t>[</a:t>
            </a:r>
            <a:r>
              <a:rPr lang="en-US" altLang="zh-CN" sz="2000" dirty="0" err="1"/>
              <a:t>msg.sender</a:t>
            </a:r>
            <a:r>
              <a:rPr lang="en-US" altLang="zh-CN" sz="2000" dirty="0"/>
              <a:t>] = amount;</a:t>
            </a:r>
          </a:p>
          <a:p>
            <a:pPr marL="0" indent="0">
              <a:buNone/>
            </a:pPr>
            <a:r>
              <a:rPr lang="en-US" altLang="zh-CN" sz="2000" dirty="0"/>
              <a:t>        </a:t>
            </a:r>
            <a:r>
              <a:rPr lang="en-US" altLang="zh-CN" sz="2000" dirty="0" err="1"/>
              <a:t>donateCount</a:t>
            </a:r>
            <a:r>
              <a:rPr lang="en-US" altLang="zh-CN" sz="2000" dirty="0"/>
              <a:t>++;</a:t>
            </a:r>
          </a:p>
          <a:p>
            <a:pPr marL="0" indent="0">
              <a:buNone/>
            </a:pPr>
            <a:r>
              <a:rPr lang="en-US" altLang="zh-CN" sz="2000" dirty="0"/>
              <a:t>        </a:t>
            </a:r>
            <a:r>
              <a:rPr lang="en-US" altLang="zh-CN" sz="2000" dirty="0" err="1"/>
              <a:t>amountRaised</a:t>
            </a:r>
            <a:r>
              <a:rPr lang="en-US" altLang="zh-CN" sz="2000" dirty="0"/>
              <a:t> = </a:t>
            </a:r>
            <a:r>
              <a:rPr lang="en-US" altLang="zh-CN" sz="2000" dirty="0" err="1"/>
              <a:t>amountRaised.add</a:t>
            </a:r>
            <a:r>
              <a:rPr lang="en-US" altLang="zh-CN" sz="2000" dirty="0"/>
              <a:t>(value);</a:t>
            </a:r>
          </a:p>
          <a:p>
            <a:pPr marL="0" indent="0">
              <a:buNone/>
            </a:pPr>
            <a:r>
              <a:rPr lang="en-US" altLang="zh-CN" sz="2000" dirty="0"/>
              <a:t>        if(</a:t>
            </a:r>
            <a:r>
              <a:rPr lang="en-US" altLang="zh-CN" sz="2000" dirty="0" err="1"/>
              <a:t>amountRaised</a:t>
            </a:r>
            <a:r>
              <a:rPr lang="en-US" altLang="zh-CN" sz="2000" dirty="0"/>
              <a:t> &gt;= </a:t>
            </a:r>
            <a:r>
              <a:rPr lang="en-US" altLang="zh-CN" sz="2000" dirty="0" err="1"/>
              <a:t>fundingGoal</a:t>
            </a:r>
            <a:r>
              <a:rPr lang="en-US" altLang="zh-CN" sz="2000" dirty="0"/>
              <a:t>){</a:t>
            </a:r>
          </a:p>
          <a:p>
            <a:pPr marL="0" indent="0">
              <a:buNone/>
            </a:pPr>
            <a:r>
              <a:rPr lang="en-US" altLang="zh-CN" sz="2000" dirty="0"/>
              <a:t>            </a:t>
            </a:r>
            <a:r>
              <a:rPr lang="en-US" altLang="zh-CN" sz="2000" dirty="0" err="1"/>
              <a:t>fundingGoalReached</a:t>
            </a:r>
            <a:r>
              <a:rPr lang="en-US" altLang="zh-CN" sz="2000" dirty="0"/>
              <a:t> = true;</a:t>
            </a:r>
          </a:p>
          <a:p>
            <a:pPr marL="0" indent="0">
              <a:buNone/>
            </a:pPr>
            <a:r>
              <a:rPr lang="zh-CN" altLang="en-US" sz="2000" dirty="0"/>
              <a:t>        </a:t>
            </a:r>
            <a:r>
              <a:rPr lang="en-US" altLang="zh-CN" sz="2000" dirty="0"/>
              <a:t>}</a:t>
            </a:r>
          </a:p>
          <a:p>
            <a:pPr marL="0" indent="0">
              <a:buNone/>
            </a:pPr>
            <a:r>
              <a:rPr lang="en-US" altLang="zh-CN" sz="2000" dirty="0"/>
              <a:t>        emit Donate(</a:t>
            </a:r>
            <a:r>
              <a:rPr lang="en-US" altLang="zh-CN" sz="2000" dirty="0" err="1"/>
              <a:t>msg.sender,value</a:t>
            </a:r>
            <a:r>
              <a:rPr lang="en-US" altLang="zh-CN" sz="2000" dirty="0"/>
              <a:t>);</a:t>
            </a:r>
          </a:p>
          <a:p>
            <a:pPr marL="0" indent="0">
              <a:buNone/>
            </a:pPr>
            <a:r>
              <a:rPr lang="zh-CN" altLang="en-US" sz="2000" dirty="0"/>
              <a:t>      </a:t>
            </a:r>
            <a:r>
              <a:rPr lang="en-US" altLang="zh-CN" sz="2000" dirty="0"/>
              <a:t>}</a:t>
            </a:r>
          </a:p>
          <a:p>
            <a:pPr marL="0" indent="0">
              <a:buNone/>
            </a:pPr>
            <a:r>
              <a:rPr lang="zh-CN" altLang="en-US" sz="2000" dirty="0"/>
              <a:t>  </a:t>
            </a:r>
            <a:r>
              <a:rPr lang="en-US" altLang="zh-CN" sz="2000" dirty="0"/>
              <a:t>}</a:t>
            </a:r>
          </a:p>
          <a:p>
            <a:pPr marL="0" indent="0">
              <a:buNone/>
            </a:pPr>
            <a:r>
              <a:rPr lang="zh-CN" altLang="en-US" sz="2000" dirty="0"/>
              <a:t>  </a:t>
            </a:r>
            <a:endParaRPr lang="zh-CN" altLang="en-US" sz="1400" dirty="0"/>
          </a:p>
        </p:txBody>
      </p:sp>
    </p:spTree>
    <p:extLst>
      <p:ext uri="{BB962C8B-B14F-4D97-AF65-F5344CB8AC3E}">
        <p14:creationId xmlns:p14="http://schemas.microsoft.com/office/powerpoint/2010/main" val="9951675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一个小的众筹智能合约</a:t>
            </a:r>
          </a:p>
        </p:txBody>
      </p:sp>
      <p:sp>
        <p:nvSpPr>
          <p:cNvPr id="3" name="内容占位符 2"/>
          <p:cNvSpPr>
            <a:spLocks noGrp="1"/>
          </p:cNvSpPr>
          <p:nvPr>
            <p:ph idx="1"/>
          </p:nvPr>
        </p:nvSpPr>
        <p:spPr>
          <a:xfrm>
            <a:off x="179512" y="1124744"/>
            <a:ext cx="8856983" cy="5544616"/>
          </a:xfrm>
        </p:spPr>
        <p:txBody>
          <a:bodyPr/>
          <a:lstStyle/>
          <a:p>
            <a:pPr marL="0" indent="0">
              <a:buNone/>
            </a:pPr>
            <a:r>
              <a:rPr lang="zh-CN" altLang="en-US" sz="1600" dirty="0"/>
              <a:t> </a:t>
            </a:r>
            <a:r>
              <a:rPr lang="en-US" altLang="zh-CN" sz="1600" dirty="0" smtClean="0"/>
              <a:t>/**</a:t>
            </a:r>
            <a:r>
              <a:rPr lang="ja-JP" altLang="en-US" sz="1600" dirty="0" smtClean="0"/>
              <a:t>  提现接口，发布合约的账户可以提取</a:t>
            </a:r>
            <a:r>
              <a:rPr lang="zh-CN" altLang="en-US" sz="1600" dirty="0" smtClean="0"/>
              <a:t>  </a:t>
            </a:r>
            <a:r>
              <a:rPr lang="zh-CN" altLang="en-US" sz="1600" dirty="0"/>
              <a:t>*</a:t>
            </a:r>
            <a:r>
              <a:rPr lang="en-US" altLang="zh-CN" sz="1600" dirty="0"/>
              <a:t>/</a:t>
            </a:r>
          </a:p>
          <a:p>
            <a:pPr marL="0" indent="0">
              <a:buNone/>
            </a:pPr>
            <a:r>
              <a:rPr lang="en-US" altLang="zh-CN" sz="1600" dirty="0"/>
              <a:t>  function </a:t>
            </a:r>
            <a:r>
              <a:rPr lang="en-US" altLang="zh-CN" sz="1600" dirty="0" err="1"/>
              <a:t>safeWithdrawal</a:t>
            </a:r>
            <a:r>
              <a:rPr lang="en-US" altLang="zh-CN" sz="1600" dirty="0"/>
              <a:t>() public </a:t>
            </a:r>
            <a:r>
              <a:rPr lang="en-US" altLang="zh-CN" sz="1600" dirty="0" err="1"/>
              <a:t>onlyOwner</a:t>
            </a:r>
            <a:r>
              <a:rPr lang="en-US" altLang="zh-CN" sz="1600" dirty="0"/>
              <a:t> </a:t>
            </a:r>
            <a:r>
              <a:rPr lang="en-US" altLang="zh-CN" sz="1600" dirty="0" err="1"/>
              <a:t>onlyFundingSuccess</a:t>
            </a:r>
            <a:r>
              <a:rPr lang="en-US" altLang="zh-CN" sz="1600" dirty="0"/>
              <a:t> </a:t>
            </a:r>
            <a:r>
              <a:rPr lang="en-US" altLang="zh-CN" sz="1600" dirty="0" err="1"/>
              <a:t>afterDeadline</a:t>
            </a:r>
            <a:r>
              <a:rPr lang="en-US" altLang="zh-CN" sz="1600" dirty="0"/>
              <a:t> {</a:t>
            </a:r>
          </a:p>
          <a:p>
            <a:pPr marL="0" indent="0">
              <a:buNone/>
            </a:pPr>
            <a:r>
              <a:rPr lang="en-US" altLang="zh-CN" sz="1600" dirty="0"/>
              <a:t>    require(!</a:t>
            </a:r>
            <a:r>
              <a:rPr lang="en-US" altLang="zh-CN" sz="1600" dirty="0" err="1"/>
              <a:t>isWithdrawed</a:t>
            </a:r>
            <a:r>
              <a:rPr lang="en-US" altLang="zh-CN" sz="1600" dirty="0"/>
              <a:t>);</a:t>
            </a:r>
          </a:p>
          <a:p>
            <a:pPr marL="0" indent="0">
              <a:buNone/>
            </a:pPr>
            <a:r>
              <a:rPr lang="en-US" altLang="zh-CN" sz="1600" dirty="0"/>
              <a:t>    </a:t>
            </a:r>
            <a:r>
              <a:rPr lang="en-US" altLang="zh-CN" sz="1600" dirty="0" err="1"/>
              <a:t>isWithdrawed</a:t>
            </a:r>
            <a:r>
              <a:rPr lang="en-US" altLang="zh-CN" sz="1600" dirty="0"/>
              <a:t> = true;</a:t>
            </a:r>
          </a:p>
          <a:p>
            <a:pPr marL="0" indent="0">
              <a:buNone/>
            </a:pPr>
            <a:r>
              <a:rPr lang="en-US" altLang="zh-CN" sz="1600" dirty="0"/>
              <a:t>    </a:t>
            </a:r>
            <a:r>
              <a:rPr lang="en-US" altLang="zh-CN" sz="1600" dirty="0" err="1"/>
              <a:t>beneficiary.transfer</a:t>
            </a:r>
            <a:r>
              <a:rPr lang="en-US" altLang="zh-CN" sz="1600" dirty="0"/>
              <a:t>(</a:t>
            </a:r>
            <a:r>
              <a:rPr lang="en-US" altLang="zh-CN" sz="1600" dirty="0" err="1"/>
              <a:t>amountRaised</a:t>
            </a:r>
            <a:r>
              <a:rPr lang="en-US" altLang="zh-CN" sz="1600" dirty="0"/>
              <a:t>);</a:t>
            </a:r>
          </a:p>
          <a:p>
            <a:pPr marL="0" indent="0">
              <a:buNone/>
            </a:pPr>
            <a:r>
              <a:rPr lang="en-US" altLang="zh-CN" sz="1600" dirty="0"/>
              <a:t>    emit Withdraw(beneficiary, </a:t>
            </a:r>
            <a:r>
              <a:rPr lang="en-US" altLang="zh-CN" sz="1600" dirty="0" err="1"/>
              <a:t>amountRaised</a:t>
            </a:r>
            <a:r>
              <a:rPr lang="en-US" altLang="zh-CN" sz="1600" dirty="0"/>
              <a:t>);</a:t>
            </a:r>
          </a:p>
          <a:p>
            <a:pPr marL="0" indent="0">
              <a:buNone/>
            </a:pPr>
            <a:r>
              <a:rPr lang="zh-CN" altLang="en-US" sz="1600" dirty="0"/>
              <a:t>  </a:t>
            </a:r>
            <a:r>
              <a:rPr lang="en-US" altLang="zh-CN" sz="1600" dirty="0"/>
              <a:t>}</a:t>
            </a:r>
          </a:p>
          <a:p>
            <a:pPr marL="0" indent="0">
              <a:buNone/>
            </a:pPr>
            <a:endParaRPr lang="zh-CN" altLang="en-US" sz="1600" dirty="0"/>
          </a:p>
          <a:p>
            <a:pPr marL="0" indent="0">
              <a:buNone/>
            </a:pPr>
            <a:r>
              <a:rPr lang="zh-CN" altLang="en-US" sz="1600" dirty="0" smtClean="0"/>
              <a:t>  </a:t>
            </a:r>
            <a:r>
              <a:rPr lang="en-US" altLang="zh-CN" sz="1600" dirty="0" smtClean="0"/>
              <a:t>/**</a:t>
            </a:r>
            <a:r>
              <a:rPr lang="zh-CN" altLang="en-US" sz="1600" dirty="0" smtClean="0"/>
              <a:t> 众筹失败退款    </a:t>
            </a:r>
            <a:r>
              <a:rPr lang="zh-CN" altLang="en-US" sz="1600" dirty="0"/>
              <a:t>*</a:t>
            </a:r>
            <a:r>
              <a:rPr lang="en-US" altLang="zh-CN" sz="1600" dirty="0"/>
              <a:t>/</a:t>
            </a:r>
          </a:p>
          <a:p>
            <a:pPr marL="0" indent="0">
              <a:buNone/>
            </a:pPr>
            <a:r>
              <a:rPr lang="en-US" altLang="zh-CN" sz="1600" dirty="0"/>
              <a:t>  function refund() public </a:t>
            </a:r>
            <a:r>
              <a:rPr lang="en-US" altLang="zh-CN" sz="1600" dirty="0" err="1"/>
              <a:t>afterDeadline</a:t>
            </a:r>
            <a:r>
              <a:rPr lang="en-US" altLang="zh-CN" sz="1600" dirty="0"/>
              <a:t> </a:t>
            </a:r>
            <a:r>
              <a:rPr lang="en-US" altLang="zh-CN" sz="1600" dirty="0" err="1"/>
              <a:t>onlyFundingFail</a:t>
            </a:r>
            <a:r>
              <a:rPr lang="en-US" altLang="zh-CN" sz="1600" dirty="0"/>
              <a:t>{</a:t>
            </a:r>
          </a:p>
          <a:p>
            <a:pPr marL="0" indent="0">
              <a:buNone/>
            </a:pPr>
            <a:r>
              <a:rPr lang="en-US" altLang="zh-CN" sz="1600" dirty="0"/>
              <a:t>    </a:t>
            </a:r>
            <a:r>
              <a:rPr lang="en-US" altLang="zh-CN" sz="1600" dirty="0" err="1"/>
              <a:t>uint</a:t>
            </a:r>
            <a:r>
              <a:rPr lang="en-US" altLang="zh-CN" sz="1600" dirty="0"/>
              <a:t> amount = </a:t>
            </a:r>
            <a:r>
              <a:rPr lang="en-US" altLang="zh-CN" sz="1600" dirty="0" err="1"/>
              <a:t>balanceOf</a:t>
            </a:r>
            <a:r>
              <a:rPr lang="en-US" altLang="zh-CN" sz="1600" dirty="0"/>
              <a:t>[</a:t>
            </a:r>
            <a:r>
              <a:rPr lang="en-US" altLang="zh-CN" sz="1600" dirty="0" err="1"/>
              <a:t>msg.sender</a:t>
            </a:r>
            <a:r>
              <a:rPr lang="en-US" altLang="zh-CN" sz="1600" dirty="0"/>
              <a:t>];</a:t>
            </a:r>
          </a:p>
          <a:p>
            <a:pPr marL="0" indent="0">
              <a:buNone/>
            </a:pPr>
            <a:r>
              <a:rPr lang="en-US" altLang="zh-CN" sz="1600" dirty="0"/>
              <a:t>    </a:t>
            </a:r>
            <a:r>
              <a:rPr lang="en-US" altLang="zh-CN" sz="1600" dirty="0" err="1"/>
              <a:t>balanceOf</a:t>
            </a:r>
            <a:r>
              <a:rPr lang="en-US" altLang="zh-CN" sz="1600" dirty="0"/>
              <a:t>[</a:t>
            </a:r>
            <a:r>
              <a:rPr lang="en-US" altLang="zh-CN" sz="1600" dirty="0" err="1"/>
              <a:t>msg.sender</a:t>
            </a:r>
            <a:r>
              <a:rPr lang="en-US" altLang="zh-CN" sz="1600" dirty="0"/>
              <a:t>] = 0;</a:t>
            </a:r>
          </a:p>
          <a:p>
            <a:pPr marL="0" indent="0">
              <a:buNone/>
            </a:pPr>
            <a:r>
              <a:rPr lang="en-US" altLang="zh-CN" sz="1600" dirty="0"/>
              <a:t>    if (amount &gt; 0) {</a:t>
            </a:r>
          </a:p>
          <a:p>
            <a:pPr marL="0" indent="0">
              <a:buNone/>
            </a:pPr>
            <a:r>
              <a:rPr lang="en-US" altLang="zh-CN" sz="1600" dirty="0"/>
              <a:t>        </a:t>
            </a:r>
            <a:r>
              <a:rPr lang="en-US" altLang="zh-CN" sz="1600" dirty="0" err="1"/>
              <a:t>msg.sender.transfer</a:t>
            </a:r>
            <a:r>
              <a:rPr lang="en-US" altLang="zh-CN" sz="1600" dirty="0"/>
              <a:t>(amount);</a:t>
            </a:r>
          </a:p>
          <a:p>
            <a:pPr marL="0" indent="0">
              <a:buNone/>
            </a:pPr>
            <a:r>
              <a:rPr lang="en-US" altLang="zh-CN" sz="1600" dirty="0"/>
              <a:t>        emit Refund(</a:t>
            </a:r>
            <a:r>
              <a:rPr lang="en-US" altLang="zh-CN" sz="1600" dirty="0" err="1"/>
              <a:t>msg.sender</a:t>
            </a:r>
            <a:r>
              <a:rPr lang="en-US" altLang="zh-CN" sz="1600" dirty="0"/>
              <a:t>, amount);</a:t>
            </a:r>
          </a:p>
          <a:p>
            <a:pPr marL="0" indent="0">
              <a:buNone/>
            </a:pPr>
            <a:r>
              <a:rPr lang="zh-CN" altLang="en-US" sz="1600" dirty="0"/>
              <a:t>    </a:t>
            </a:r>
            <a:r>
              <a:rPr lang="en-US" altLang="zh-CN" sz="1600" dirty="0"/>
              <a:t>} </a:t>
            </a:r>
          </a:p>
          <a:p>
            <a:pPr marL="0" indent="0">
              <a:buNone/>
            </a:pPr>
            <a:r>
              <a:rPr lang="zh-CN" altLang="en-US" sz="1600" dirty="0"/>
              <a:t>  </a:t>
            </a:r>
            <a:r>
              <a:rPr lang="en-US" altLang="zh-CN" sz="1600" dirty="0"/>
              <a:t>}</a:t>
            </a:r>
          </a:p>
          <a:p>
            <a:pPr marL="0" indent="0">
              <a:buNone/>
            </a:pPr>
            <a:r>
              <a:rPr lang="en-US" altLang="zh-CN" sz="1600" dirty="0"/>
              <a:t>}</a:t>
            </a:r>
            <a:endParaRPr lang="zh-CN" altLang="en-US" sz="1100" dirty="0"/>
          </a:p>
        </p:txBody>
      </p:sp>
    </p:spTree>
    <p:extLst>
      <p:ext uri="{BB962C8B-B14F-4D97-AF65-F5344CB8AC3E}">
        <p14:creationId xmlns:p14="http://schemas.microsoft.com/office/powerpoint/2010/main" val="25168310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一个小的众筹智能合约</a:t>
            </a:r>
            <a:endParaRPr lang="zh-CN" altLang="en-US" dirty="0"/>
          </a:p>
        </p:txBody>
      </p:sp>
      <p:sp>
        <p:nvSpPr>
          <p:cNvPr id="3" name="内容占位符 2"/>
          <p:cNvSpPr>
            <a:spLocks noGrp="1"/>
          </p:cNvSpPr>
          <p:nvPr>
            <p:ph idx="1"/>
          </p:nvPr>
        </p:nvSpPr>
        <p:spPr/>
        <p:txBody>
          <a:bodyPr/>
          <a:lstStyle/>
          <a:p>
            <a:r>
              <a:rPr lang="zh-CN" altLang="en-US" dirty="0" smtClean="0"/>
              <a:t>在</a:t>
            </a:r>
            <a:r>
              <a:rPr lang="en-US" altLang="zh-CN" dirty="0"/>
              <a:t>Remix - Solidity IDE - </a:t>
            </a:r>
            <a:r>
              <a:rPr lang="zh-CN" altLang="en-US" dirty="0" smtClean="0"/>
              <a:t>中文版中完成编译，如图步骤所示：</a:t>
            </a:r>
            <a:endParaRPr lang="zh-CN" altLang="en-US" dirty="0"/>
          </a:p>
        </p:txBody>
      </p:sp>
      <p:pic>
        <p:nvPicPr>
          <p:cNvPr id="6" name="图片 5"/>
          <p:cNvPicPr>
            <a:picLocks noChangeAspect="1"/>
          </p:cNvPicPr>
          <p:nvPr/>
        </p:nvPicPr>
        <p:blipFill>
          <a:blip r:embed="rId2"/>
          <a:stretch>
            <a:fillRect/>
          </a:stretch>
        </p:blipFill>
        <p:spPr>
          <a:xfrm>
            <a:off x="1331640" y="2636912"/>
            <a:ext cx="6854924" cy="3805292"/>
          </a:xfrm>
          <a:prstGeom prst="rect">
            <a:avLst/>
          </a:prstGeom>
        </p:spPr>
      </p:pic>
    </p:spTree>
    <p:extLst>
      <p:ext uri="{BB962C8B-B14F-4D97-AF65-F5344CB8AC3E}">
        <p14:creationId xmlns:p14="http://schemas.microsoft.com/office/powerpoint/2010/main" val="39760831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一个小的众筹智能合约</a:t>
            </a:r>
            <a:endParaRPr lang="zh-CN" altLang="en-US" dirty="0"/>
          </a:p>
        </p:txBody>
      </p:sp>
      <p:sp>
        <p:nvSpPr>
          <p:cNvPr id="3" name="内容占位符 2"/>
          <p:cNvSpPr>
            <a:spLocks noGrp="1"/>
          </p:cNvSpPr>
          <p:nvPr>
            <p:ph idx="1"/>
          </p:nvPr>
        </p:nvSpPr>
        <p:spPr/>
        <p:txBody>
          <a:bodyPr/>
          <a:lstStyle/>
          <a:p>
            <a:r>
              <a:rPr lang="zh-CN" altLang="en-US" dirty="0" smtClean="0"/>
              <a:t>部署智能合约</a:t>
            </a:r>
            <a:endParaRPr lang="zh-CN" altLang="en-US" dirty="0"/>
          </a:p>
        </p:txBody>
      </p:sp>
      <p:pic>
        <p:nvPicPr>
          <p:cNvPr id="6" name="图片 5"/>
          <p:cNvPicPr>
            <a:picLocks noChangeAspect="1"/>
          </p:cNvPicPr>
          <p:nvPr/>
        </p:nvPicPr>
        <p:blipFill>
          <a:blip r:embed="rId2"/>
          <a:stretch>
            <a:fillRect/>
          </a:stretch>
        </p:blipFill>
        <p:spPr>
          <a:xfrm>
            <a:off x="1835696" y="2420888"/>
            <a:ext cx="6045497" cy="4107437"/>
          </a:xfrm>
          <a:prstGeom prst="rect">
            <a:avLst/>
          </a:prstGeom>
        </p:spPr>
      </p:pic>
    </p:spTree>
    <p:extLst>
      <p:ext uri="{BB962C8B-B14F-4D97-AF65-F5344CB8AC3E}">
        <p14:creationId xmlns:p14="http://schemas.microsoft.com/office/powerpoint/2010/main" val="5456138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一个小的众筹智能合约</a:t>
            </a:r>
          </a:p>
        </p:txBody>
      </p:sp>
      <p:sp>
        <p:nvSpPr>
          <p:cNvPr id="3" name="内容占位符 2"/>
          <p:cNvSpPr>
            <a:spLocks noGrp="1"/>
          </p:cNvSpPr>
          <p:nvPr>
            <p:ph idx="1"/>
          </p:nvPr>
        </p:nvSpPr>
        <p:spPr>
          <a:xfrm>
            <a:off x="251520" y="1268760"/>
            <a:ext cx="8892479" cy="5400600"/>
          </a:xfrm>
        </p:spPr>
        <p:txBody>
          <a:bodyPr/>
          <a:lstStyle/>
          <a:p>
            <a:pPr marL="0" indent="0">
              <a:buNone/>
            </a:pPr>
            <a:r>
              <a:rPr lang="en-US" altLang="zh-CN" sz="1600" dirty="0" err="1"/>
              <a:t>window.addEventListener</a:t>
            </a:r>
            <a:r>
              <a:rPr lang="en-US" altLang="zh-CN" sz="1600" dirty="0"/>
              <a:t>('load', function() {</a:t>
            </a:r>
          </a:p>
          <a:p>
            <a:pPr marL="0" indent="0">
              <a:buNone/>
            </a:pPr>
            <a:endParaRPr lang="zh-CN" altLang="en-US" sz="1600" dirty="0"/>
          </a:p>
          <a:p>
            <a:pPr marL="0" indent="0">
              <a:buNone/>
            </a:pPr>
            <a:r>
              <a:rPr lang="en-US" altLang="zh-CN" sz="1600" dirty="0"/>
              <a:t>  if (</a:t>
            </a:r>
            <a:r>
              <a:rPr lang="en-US" altLang="zh-CN" sz="1600" dirty="0" err="1"/>
              <a:t>typeof</a:t>
            </a:r>
            <a:r>
              <a:rPr lang="en-US" altLang="zh-CN" sz="1600" dirty="0"/>
              <a:t> web3 !== 'undefined') {</a:t>
            </a:r>
          </a:p>
          <a:p>
            <a:pPr marL="0" indent="0">
              <a:buNone/>
            </a:pPr>
            <a:r>
              <a:rPr lang="en-US" altLang="zh-CN" sz="1600" dirty="0"/>
              <a:t>    web3js = new Web3(web3.currentProvider);</a:t>
            </a:r>
          </a:p>
          <a:p>
            <a:pPr marL="0" indent="0">
              <a:buNone/>
            </a:pPr>
            <a:r>
              <a:rPr lang="en-US" altLang="zh-CN" sz="1600" dirty="0"/>
              <a:t>  } else {</a:t>
            </a:r>
          </a:p>
          <a:p>
            <a:pPr marL="0" indent="0">
              <a:buNone/>
            </a:pPr>
            <a:r>
              <a:rPr lang="en-US" altLang="zh-CN" sz="1600" dirty="0"/>
              <a:t>    web3js = new Web3(new Web3.providers.HttpProvider("http://localhost:8545"));</a:t>
            </a:r>
          </a:p>
          <a:p>
            <a:pPr marL="0" indent="0">
              <a:buNone/>
            </a:pPr>
            <a:r>
              <a:rPr lang="zh-CN" altLang="en-US" sz="1600" dirty="0"/>
              <a:t>  </a:t>
            </a:r>
            <a:r>
              <a:rPr lang="en-US" altLang="zh-CN" sz="1600" dirty="0"/>
              <a:t>}</a:t>
            </a:r>
          </a:p>
          <a:p>
            <a:pPr marL="0" indent="0">
              <a:buNone/>
            </a:pPr>
            <a:endParaRPr lang="zh-CN" altLang="en-US" sz="1600" dirty="0"/>
          </a:p>
          <a:p>
            <a:pPr marL="0" indent="0">
              <a:buNone/>
            </a:pPr>
            <a:r>
              <a:rPr lang="en-US" altLang="zh-CN" sz="1600" dirty="0"/>
              <a:t>  contract = web3js.eth.contract(</a:t>
            </a:r>
            <a:r>
              <a:rPr lang="en-US" altLang="zh-CN" sz="1600" dirty="0" err="1"/>
              <a:t>abi</a:t>
            </a:r>
            <a:r>
              <a:rPr lang="en-US" altLang="zh-CN" sz="1600" dirty="0"/>
              <a:t>).at(address)</a:t>
            </a:r>
          </a:p>
          <a:p>
            <a:pPr marL="0" indent="0">
              <a:buNone/>
            </a:pPr>
            <a:endParaRPr lang="zh-CN" altLang="en-US" sz="1600" dirty="0"/>
          </a:p>
          <a:p>
            <a:pPr marL="0" indent="0">
              <a:buNone/>
            </a:pPr>
            <a:r>
              <a:rPr lang="en-US" altLang="zh-CN" sz="1600" dirty="0"/>
              <a:t>  $("#</a:t>
            </a:r>
            <a:r>
              <a:rPr lang="en-US" altLang="zh-CN" sz="1600" dirty="0" err="1"/>
              <a:t>checkSuccess</a:t>
            </a:r>
            <a:r>
              <a:rPr lang="en-US" altLang="zh-CN" sz="1600" dirty="0"/>
              <a:t>").on("</a:t>
            </a:r>
            <a:r>
              <a:rPr lang="en-US" altLang="zh-CN" sz="1600" dirty="0" err="1"/>
              <a:t>click",function</a:t>
            </a:r>
            <a:r>
              <a:rPr lang="en-US" altLang="zh-CN" sz="1600" dirty="0"/>
              <a:t>(){</a:t>
            </a:r>
          </a:p>
          <a:p>
            <a:pPr marL="0" indent="0">
              <a:buNone/>
            </a:pPr>
            <a:r>
              <a:rPr lang="en-US" altLang="zh-CN" sz="1600" dirty="0"/>
              <a:t>  </a:t>
            </a:r>
            <a:r>
              <a:rPr lang="en-US" altLang="zh-CN" sz="1600" dirty="0" err="1"/>
              <a:t>contract.fundingGoalReached</a:t>
            </a:r>
            <a:r>
              <a:rPr lang="en-US" altLang="zh-CN" sz="1600" dirty="0"/>
              <a:t>(function(</a:t>
            </a:r>
            <a:r>
              <a:rPr lang="en-US" altLang="zh-CN" sz="1600" dirty="0" err="1"/>
              <a:t>err,result</a:t>
            </a:r>
            <a:r>
              <a:rPr lang="en-US" altLang="zh-CN" sz="1600" dirty="0"/>
              <a:t>){</a:t>
            </a:r>
          </a:p>
          <a:p>
            <a:pPr marL="0" indent="0">
              <a:buNone/>
            </a:pPr>
            <a:r>
              <a:rPr lang="en-US" altLang="zh-CN" sz="1600" dirty="0"/>
              <a:t>  if(result == false){</a:t>
            </a:r>
          </a:p>
          <a:p>
            <a:pPr marL="0" indent="0">
              <a:buNone/>
            </a:pPr>
            <a:r>
              <a:rPr lang="en-US" altLang="zh-CN" sz="1600" dirty="0"/>
              <a:t>  $("#</a:t>
            </a:r>
            <a:r>
              <a:rPr lang="en-US" altLang="zh-CN" sz="1600" dirty="0" err="1"/>
              <a:t>isSuccess</a:t>
            </a:r>
            <a:r>
              <a:rPr lang="en-US" altLang="zh-CN" sz="1600" dirty="0"/>
              <a:t>").text("</a:t>
            </a:r>
            <a:r>
              <a:rPr lang="zh-CN" altLang="en-US" sz="1600" dirty="0" smtClean="0"/>
              <a:t>否</a:t>
            </a:r>
            <a:r>
              <a:rPr lang="en-US" altLang="zh-CN" sz="1600" dirty="0" smtClean="0"/>
              <a:t>")</a:t>
            </a:r>
            <a:endParaRPr lang="en-US" altLang="zh-CN" sz="1600" dirty="0"/>
          </a:p>
          <a:p>
            <a:pPr marL="0" indent="0">
              <a:buNone/>
            </a:pPr>
            <a:r>
              <a:rPr lang="en-US" altLang="zh-CN" sz="1600" dirty="0"/>
              <a:t>  }else{</a:t>
            </a:r>
          </a:p>
          <a:p>
            <a:pPr marL="0" indent="0">
              <a:buNone/>
            </a:pPr>
            <a:r>
              <a:rPr lang="en-US" altLang="zh-CN" sz="1600" dirty="0"/>
              <a:t>  $("#</a:t>
            </a:r>
            <a:r>
              <a:rPr lang="en-US" altLang="zh-CN" sz="1600" dirty="0" err="1"/>
              <a:t>isSuccess</a:t>
            </a:r>
            <a:r>
              <a:rPr lang="en-US" altLang="zh-CN" sz="1600" dirty="0"/>
              <a:t>").text("</a:t>
            </a:r>
            <a:r>
              <a:rPr lang="zh-CN" altLang="en-US" sz="1600" dirty="0" smtClean="0"/>
              <a:t>成功</a:t>
            </a:r>
            <a:r>
              <a:rPr lang="en-US" altLang="zh-CN" sz="1600" dirty="0" smtClean="0"/>
              <a:t>")</a:t>
            </a:r>
            <a:endParaRPr lang="en-US" altLang="zh-CN" sz="1600" dirty="0"/>
          </a:p>
          <a:p>
            <a:pPr marL="0" indent="0">
              <a:buNone/>
            </a:pPr>
            <a:r>
              <a:rPr lang="zh-CN" altLang="en-US" sz="1600" dirty="0"/>
              <a:t>  </a:t>
            </a:r>
            <a:r>
              <a:rPr lang="en-US" altLang="zh-CN" sz="1600" dirty="0"/>
              <a:t>}</a:t>
            </a:r>
          </a:p>
          <a:p>
            <a:pPr marL="0" indent="0">
              <a:buNone/>
            </a:pPr>
            <a:r>
              <a:rPr lang="zh-CN" altLang="en-US" sz="1600" dirty="0"/>
              <a:t>  </a:t>
            </a:r>
            <a:r>
              <a:rPr lang="en-US" altLang="zh-CN" sz="1600" dirty="0"/>
              <a:t>})</a:t>
            </a:r>
          </a:p>
          <a:p>
            <a:pPr marL="0" indent="0">
              <a:buNone/>
            </a:pPr>
            <a:r>
              <a:rPr lang="zh-CN" altLang="en-US" sz="1600" dirty="0"/>
              <a:t>  </a:t>
            </a:r>
            <a:r>
              <a:rPr lang="en-US" altLang="zh-CN" sz="1600" dirty="0"/>
              <a:t>})</a:t>
            </a:r>
          </a:p>
          <a:p>
            <a:pPr marL="0" indent="0">
              <a:buNone/>
            </a:pPr>
            <a:r>
              <a:rPr lang="zh-CN" altLang="en-US" sz="1600" dirty="0"/>
              <a:t>  </a:t>
            </a:r>
          </a:p>
          <a:p>
            <a:pPr marL="0" indent="0">
              <a:buNone/>
            </a:pPr>
            <a:endParaRPr lang="zh-CN" altLang="en-US" sz="1600" dirty="0"/>
          </a:p>
        </p:txBody>
      </p:sp>
    </p:spTree>
    <p:extLst>
      <p:ext uri="{BB962C8B-B14F-4D97-AF65-F5344CB8AC3E}">
        <p14:creationId xmlns:p14="http://schemas.microsoft.com/office/powerpoint/2010/main" val="233228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一个小的众筹智能合约</a:t>
            </a:r>
          </a:p>
        </p:txBody>
      </p:sp>
      <p:sp>
        <p:nvSpPr>
          <p:cNvPr id="3" name="内容占位符 2"/>
          <p:cNvSpPr>
            <a:spLocks noGrp="1"/>
          </p:cNvSpPr>
          <p:nvPr>
            <p:ph idx="1"/>
          </p:nvPr>
        </p:nvSpPr>
        <p:spPr/>
        <p:txBody>
          <a:bodyPr/>
          <a:lstStyle/>
          <a:p>
            <a:pPr marL="0" indent="0">
              <a:buNone/>
            </a:pPr>
            <a:endParaRPr lang="zh-CN" altLang="en-US" sz="1800" dirty="0"/>
          </a:p>
          <a:p>
            <a:pPr marL="0" indent="0">
              <a:buNone/>
            </a:pPr>
            <a:r>
              <a:rPr lang="en-US" altLang="zh-CN" sz="1800" dirty="0"/>
              <a:t>  $("#donate").on("</a:t>
            </a:r>
            <a:r>
              <a:rPr lang="en-US" altLang="zh-CN" sz="1800" dirty="0" err="1"/>
              <a:t>click",function</a:t>
            </a:r>
            <a:r>
              <a:rPr lang="en-US" altLang="zh-CN" sz="1800" dirty="0"/>
              <a:t>(){</a:t>
            </a:r>
          </a:p>
          <a:p>
            <a:pPr marL="0" indent="0">
              <a:buNone/>
            </a:pPr>
            <a:r>
              <a:rPr lang="en-US" altLang="zh-CN" sz="1800" dirty="0"/>
              <a:t>  let value = $("#amount").</a:t>
            </a:r>
            <a:r>
              <a:rPr lang="en-US" altLang="zh-CN" sz="1800" dirty="0" err="1"/>
              <a:t>val</a:t>
            </a:r>
            <a:r>
              <a:rPr lang="en-US" altLang="zh-CN" sz="1800" dirty="0"/>
              <a:t>()</a:t>
            </a:r>
          </a:p>
          <a:p>
            <a:pPr marL="0" indent="0">
              <a:buNone/>
            </a:pPr>
            <a:r>
              <a:rPr lang="en-US" altLang="zh-CN" sz="1800" dirty="0"/>
              <a:t>  </a:t>
            </a:r>
            <a:r>
              <a:rPr lang="en-US" altLang="zh-CN" sz="1800" dirty="0" err="1"/>
              <a:t>contract.donate</a:t>
            </a:r>
            <a:r>
              <a:rPr lang="en-US" altLang="zh-CN" sz="1800" dirty="0"/>
              <a:t>({gas: 200000, </a:t>
            </a:r>
            <a:r>
              <a:rPr lang="en-US" altLang="zh-CN" sz="1800" dirty="0" err="1"/>
              <a:t>gasPrice</a:t>
            </a:r>
            <a:r>
              <a:rPr lang="en-US" altLang="zh-CN" sz="1800" dirty="0"/>
              <a:t>: web3js.toWei(3, '</a:t>
            </a:r>
            <a:r>
              <a:rPr lang="en-US" altLang="zh-CN" sz="1800" dirty="0" err="1"/>
              <a:t>gwei</a:t>
            </a:r>
            <a:r>
              <a:rPr lang="en-US" altLang="zh-CN" sz="1800" dirty="0"/>
              <a:t>'),</a:t>
            </a:r>
            <a:r>
              <a:rPr lang="en-US" altLang="zh-CN" sz="1800" dirty="0" err="1"/>
              <a:t>value:value</a:t>
            </a:r>
            <a:r>
              <a:rPr lang="en-US" altLang="zh-CN" sz="1800" dirty="0"/>
              <a:t>},function(</a:t>
            </a:r>
            <a:r>
              <a:rPr lang="en-US" altLang="zh-CN" sz="1800" dirty="0" err="1"/>
              <a:t>err,result</a:t>
            </a:r>
            <a:r>
              <a:rPr lang="en-US" altLang="zh-CN" sz="1800" dirty="0"/>
              <a:t>){</a:t>
            </a:r>
          </a:p>
          <a:p>
            <a:pPr marL="0" indent="0">
              <a:buNone/>
            </a:pPr>
            <a:r>
              <a:rPr lang="en-US" altLang="zh-CN" sz="1800" dirty="0"/>
              <a:t>  if(err){</a:t>
            </a:r>
          </a:p>
          <a:p>
            <a:pPr marL="0" indent="0">
              <a:buNone/>
            </a:pPr>
            <a:r>
              <a:rPr lang="en-US" altLang="zh-CN" sz="1800" dirty="0"/>
              <a:t>  console.log(err)</a:t>
            </a:r>
          </a:p>
          <a:p>
            <a:pPr marL="0" indent="0">
              <a:buNone/>
            </a:pPr>
            <a:r>
              <a:rPr lang="en-US" altLang="zh-CN" sz="1800" dirty="0"/>
              <a:t>  }else{</a:t>
            </a:r>
          </a:p>
          <a:p>
            <a:pPr marL="0" indent="0">
              <a:buNone/>
            </a:pPr>
            <a:r>
              <a:rPr lang="en-US" altLang="zh-CN" sz="1800" dirty="0"/>
              <a:t>  console.log(result)</a:t>
            </a:r>
          </a:p>
          <a:p>
            <a:pPr marL="0" indent="0">
              <a:buNone/>
            </a:pPr>
            <a:r>
              <a:rPr lang="zh-CN" altLang="en-US" sz="1800" dirty="0"/>
              <a:t>  </a:t>
            </a:r>
            <a:r>
              <a:rPr lang="en-US" altLang="zh-CN" sz="1800" dirty="0"/>
              <a:t>}</a:t>
            </a:r>
          </a:p>
          <a:p>
            <a:pPr marL="0" indent="0">
              <a:buNone/>
            </a:pPr>
            <a:r>
              <a:rPr lang="zh-CN" altLang="en-US" sz="1800" dirty="0"/>
              <a:t>  </a:t>
            </a:r>
            <a:r>
              <a:rPr lang="en-US" altLang="zh-CN" sz="1800" dirty="0"/>
              <a:t>})</a:t>
            </a:r>
          </a:p>
          <a:p>
            <a:pPr marL="0" indent="0">
              <a:buNone/>
            </a:pPr>
            <a:r>
              <a:rPr lang="zh-CN" altLang="en-US" sz="1800" dirty="0"/>
              <a:t>  </a:t>
            </a:r>
            <a:r>
              <a:rPr lang="en-US" altLang="zh-CN" sz="1800" dirty="0"/>
              <a:t>})</a:t>
            </a:r>
          </a:p>
          <a:p>
            <a:pPr marL="0" indent="0">
              <a:buNone/>
            </a:pPr>
            <a:r>
              <a:rPr lang="en-US" altLang="zh-CN" sz="1800" dirty="0"/>
              <a:t>})</a:t>
            </a:r>
          </a:p>
          <a:p>
            <a:pPr marL="0" indent="0">
              <a:buNone/>
            </a:pPr>
            <a:endParaRPr lang="zh-CN" altLang="en-US" sz="1800" dirty="0"/>
          </a:p>
          <a:p>
            <a:endParaRPr lang="zh-CN" altLang="en-US" sz="1800" dirty="0"/>
          </a:p>
        </p:txBody>
      </p:sp>
    </p:spTree>
    <p:extLst>
      <p:ext uri="{BB962C8B-B14F-4D97-AF65-F5344CB8AC3E}">
        <p14:creationId xmlns:p14="http://schemas.microsoft.com/office/powerpoint/2010/main" val="33115278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Web3.js</a:t>
            </a:r>
            <a:endParaRPr lang="zh-CN" altLang="en-US" dirty="0"/>
          </a:p>
        </p:txBody>
      </p:sp>
      <p:sp>
        <p:nvSpPr>
          <p:cNvPr id="3" name="内容占位符 2"/>
          <p:cNvSpPr>
            <a:spLocks noGrp="1"/>
          </p:cNvSpPr>
          <p:nvPr>
            <p:ph idx="1"/>
          </p:nvPr>
        </p:nvSpPr>
        <p:spPr/>
        <p:txBody>
          <a:bodyPr/>
          <a:lstStyle/>
          <a:p>
            <a:r>
              <a:rPr lang="en-US" altLang="zh-CN" dirty="0"/>
              <a:t>Web3.js</a:t>
            </a:r>
            <a:r>
              <a:rPr lang="zh-CN" altLang="en-US" dirty="0"/>
              <a:t>是以太坊官方的</a:t>
            </a:r>
            <a:r>
              <a:rPr lang="en-US" altLang="zh-CN" dirty="0" err="1"/>
              <a:t>Javascript</a:t>
            </a:r>
            <a:r>
              <a:rPr lang="en-US" altLang="zh-CN" dirty="0"/>
              <a:t> API</a:t>
            </a:r>
            <a:r>
              <a:rPr lang="zh-CN" altLang="en-US" dirty="0"/>
              <a:t>，可以帮助智能合约开发者使用</a:t>
            </a:r>
            <a:r>
              <a:rPr lang="en-US" altLang="zh-CN" dirty="0"/>
              <a:t>HTTP</a:t>
            </a:r>
            <a:r>
              <a:rPr lang="zh-CN" altLang="en-US" dirty="0"/>
              <a:t>或者</a:t>
            </a:r>
            <a:r>
              <a:rPr lang="en-US" altLang="zh-CN" dirty="0"/>
              <a:t>IPC</a:t>
            </a:r>
            <a:r>
              <a:rPr lang="zh-CN" altLang="en-US" dirty="0"/>
              <a:t>与本地的或者远程的以太坊节点交互。</a:t>
            </a:r>
          </a:p>
        </p:txBody>
      </p:sp>
      <p:grpSp>
        <p:nvGrpSpPr>
          <p:cNvPr id="12" name="组合 11"/>
          <p:cNvGrpSpPr/>
          <p:nvPr/>
        </p:nvGrpSpPr>
        <p:grpSpPr>
          <a:xfrm>
            <a:off x="770290" y="3501008"/>
            <a:ext cx="7538332" cy="2486324"/>
            <a:chOff x="1187624" y="3642455"/>
            <a:chExt cx="7538332" cy="2486324"/>
          </a:xfrm>
        </p:grpSpPr>
        <p:sp>
          <p:nvSpPr>
            <p:cNvPr id="4" name="圆角矩形 3"/>
            <p:cNvSpPr/>
            <p:nvPr/>
          </p:nvSpPr>
          <p:spPr bwMode="auto">
            <a:xfrm>
              <a:off x="1187624" y="3645024"/>
              <a:ext cx="2088232" cy="864096"/>
            </a:xfrm>
            <a:prstGeom prst="roundRect">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rPr>
                <a:t>HTML/JS</a:t>
              </a:r>
            </a:p>
            <a:p>
              <a:pPr marL="0" marR="0" indent="0" algn="ctr" defTabSz="914400" rtl="0" eaLnBrk="1" fontAlgn="base" latinLnBrk="0" hangingPunct="1">
                <a:lnSpc>
                  <a:spcPct val="100000"/>
                </a:lnSpc>
                <a:spcBef>
                  <a:spcPct val="0"/>
                </a:spcBef>
                <a:spcAft>
                  <a:spcPct val="0"/>
                </a:spcAft>
                <a:buClrTx/>
                <a:buSzTx/>
                <a:buFontTx/>
                <a:buNone/>
                <a:tabLst/>
              </a:pPr>
              <a:r>
                <a:rPr lang="zh-CN" altLang="en-US" dirty="0" smtClean="0">
                  <a:latin typeface="Times New Roman" pitchFamily="18" charset="0"/>
                </a:rPr>
                <a:t>前端应用</a:t>
              </a:r>
              <a:endPar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endParaRPr>
            </a:p>
          </p:txBody>
        </p:sp>
        <p:sp>
          <p:nvSpPr>
            <p:cNvPr id="5" name="圆角矩形 4"/>
            <p:cNvSpPr/>
            <p:nvPr/>
          </p:nvSpPr>
          <p:spPr bwMode="auto">
            <a:xfrm>
              <a:off x="3923928" y="3645024"/>
              <a:ext cx="2088232" cy="864096"/>
            </a:xfrm>
            <a:prstGeom prst="roundRect">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rPr>
                <a:t>WEB3</a:t>
              </a:r>
              <a:endPar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endParaRPr>
            </a:p>
          </p:txBody>
        </p:sp>
        <p:sp>
          <p:nvSpPr>
            <p:cNvPr id="6" name="圆角矩形 5"/>
            <p:cNvSpPr/>
            <p:nvPr/>
          </p:nvSpPr>
          <p:spPr bwMode="auto">
            <a:xfrm>
              <a:off x="6637724" y="3642455"/>
              <a:ext cx="2088232" cy="864096"/>
            </a:xfrm>
            <a:prstGeom prst="roundRect">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rPr>
                <a:t>以太坊</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rPr>
                <a:t>区块链</a:t>
              </a:r>
            </a:p>
          </p:txBody>
        </p:sp>
        <p:sp>
          <p:nvSpPr>
            <p:cNvPr id="7" name="圆角矩形 6"/>
            <p:cNvSpPr/>
            <p:nvPr/>
          </p:nvSpPr>
          <p:spPr bwMode="auto">
            <a:xfrm>
              <a:off x="1290081" y="5264683"/>
              <a:ext cx="2088232" cy="864096"/>
            </a:xfrm>
            <a:prstGeom prst="roundRect">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rPr>
                <a:t>用户</a:t>
              </a:r>
            </a:p>
          </p:txBody>
        </p:sp>
        <p:cxnSp>
          <p:nvCxnSpPr>
            <p:cNvPr id="9" name="直接箭头连接符 8"/>
            <p:cNvCxnSpPr>
              <a:stCxn id="4" idx="3"/>
              <a:endCxn id="5" idx="1"/>
            </p:cNvCxnSpPr>
            <p:nvPr/>
          </p:nvCxnSpPr>
          <p:spPr bwMode="auto">
            <a:xfrm>
              <a:off x="3275856" y="4077072"/>
              <a:ext cx="648072" cy="0"/>
            </a:xfrm>
            <a:prstGeom prst="straightConnector1">
              <a:avLst/>
            </a:prstGeom>
            <a:solidFill>
              <a:schemeClr val="bg1"/>
            </a:solidFill>
            <a:ln w="9525" cap="flat" cmpd="sng" algn="ctr">
              <a:solidFill>
                <a:srgbClr val="FF0000"/>
              </a:solidFill>
              <a:prstDash val="solid"/>
              <a:round/>
              <a:headEnd type="triangle"/>
              <a:tailEnd type="triangle"/>
            </a:ln>
            <a:effectLst/>
          </p:spPr>
        </p:cxnSp>
        <p:cxnSp>
          <p:nvCxnSpPr>
            <p:cNvPr id="10" name="直接箭头连接符 9"/>
            <p:cNvCxnSpPr/>
            <p:nvPr/>
          </p:nvCxnSpPr>
          <p:spPr bwMode="auto">
            <a:xfrm>
              <a:off x="6011491" y="4074503"/>
              <a:ext cx="648072" cy="0"/>
            </a:xfrm>
            <a:prstGeom prst="straightConnector1">
              <a:avLst/>
            </a:prstGeom>
            <a:solidFill>
              <a:schemeClr val="bg1"/>
            </a:solidFill>
            <a:ln w="9525" cap="flat" cmpd="sng" algn="ctr">
              <a:solidFill>
                <a:srgbClr val="FF0000"/>
              </a:solidFill>
              <a:prstDash val="solid"/>
              <a:round/>
              <a:headEnd type="triangle"/>
              <a:tailEnd type="triangle"/>
            </a:ln>
            <a:effectLst/>
          </p:spPr>
        </p:cxnSp>
        <p:sp>
          <p:nvSpPr>
            <p:cNvPr id="11" name="上下箭头 10"/>
            <p:cNvSpPr/>
            <p:nvPr/>
          </p:nvSpPr>
          <p:spPr bwMode="auto">
            <a:xfrm>
              <a:off x="2051720" y="4506551"/>
              <a:ext cx="504056" cy="758132"/>
            </a:xfrm>
            <a:prstGeom prst="upDownArrow">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Times New Roman" pitchFamily="18" charset="0"/>
                <a:ea typeface="宋体" pitchFamily="2" charset="-122"/>
              </a:endParaRPr>
            </a:p>
          </p:txBody>
        </p:sp>
      </p:grpSp>
    </p:spTree>
    <p:extLst>
      <p:ext uri="{BB962C8B-B14F-4D97-AF65-F5344CB8AC3E}">
        <p14:creationId xmlns:p14="http://schemas.microsoft.com/office/powerpoint/2010/main" val="27333506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一个小例子</a:t>
            </a:r>
            <a:endParaRPr lang="zh-CN" altLang="en-US" dirty="0"/>
          </a:p>
        </p:txBody>
      </p:sp>
      <p:sp>
        <p:nvSpPr>
          <p:cNvPr id="3" name="内容占位符 2"/>
          <p:cNvSpPr>
            <a:spLocks noGrp="1"/>
          </p:cNvSpPr>
          <p:nvPr>
            <p:ph idx="1"/>
          </p:nvPr>
        </p:nvSpPr>
        <p:spPr>
          <a:xfrm>
            <a:off x="179512" y="1196752"/>
            <a:ext cx="8712969" cy="4680173"/>
          </a:xfrm>
        </p:spPr>
        <p:txBody>
          <a:bodyPr/>
          <a:lstStyle/>
          <a:p>
            <a:pPr marL="0" indent="0">
              <a:buNone/>
            </a:pPr>
            <a:r>
              <a:rPr lang="en-US" altLang="zh-CN" sz="2000" dirty="0"/>
              <a:t>// SPDX-License-Identifier: GPL-3.0</a:t>
            </a:r>
          </a:p>
          <a:p>
            <a:pPr marL="0" indent="0">
              <a:buNone/>
            </a:pPr>
            <a:r>
              <a:rPr lang="en-US" altLang="zh-CN" sz="2000" dirty="0"/>
              <a:t>pragma solidity &gt;=0.7.0 &lt;0.9.0;</a:t>
            </a:r>
          </a:p>
          <a:p>
            <a:pPr marL="0" indent="0">
              <a:buNone/>
            </a:pPr>
            <a:endParaRPr lang="en-US" altLang="zh-CN" sz="2000" dirty="0"/>
          </a:p>
          <a:p>
            <a:pPr marL="0" indent="0">
              <a:buNone/>
            </a:pPr>
            <a:r>
              <a:rPr lang="en-US" altLang="zh-CN" sz="2000" dirty="0"/>
              <a:t>contract </a:t>
            </a:r>
            <a:r>
              <a:rPr lang="en-US" altLang="zh-CN" sz="2000" dirty="0" err="1"/>
              <a:t>InfoContract</a:t>
            </a:r>
            <a:r>
              <a:rPr lang="en-US" altLang="zh-CN" sz="2000" dirty="0"/>
              <a:t> {   </a:t>
            </a:r>
          </a:p>
          <a:p>
            <a:pPr marL="0" indent="0">
              <a:buNone/>
            </a:pPr>
            <a:r>
              <a:rPr lang="en-US" altLang="zh-CN" sz="2000" dirty="0"/>
              <a:t>	uint16 count;   </a:t>
            </a:r>
          </a:p>
          <a:p>
            <a:pPr marL="0" indent="0">
              <a:buNone/>
            </a:pPr>
            <a:r>
              <a:rPr lang="en-US" altLang="zh-CN" sz="2000" dirty="0"/>
              <a:t>	uint8 price;   </a:t>
            </a:r>
          </a:p>
          <a:p>
            <a:pPr marL="0" indent="0">
              <a:buNone/>
            </a:pPr>
            <a:r>
              <a:rPr lang="en-US" altLang="zh-CN" sz="2000" dirty="0"/>
              <a:t>	function </a:t>
            </a:r>
            <a:r>
              <a:rPr lang="en-US" altLang="zh-CN" sz="2000" dirty="0" err="1"/>
              <a:t>setInfo</a:t>
            </a:r>
            <a:r>
              <a:rPr lang="en-US" altLang="zh-CN" sz="2000" dirty="0"/>
              <a:t>(uint16 </a:t>
            </a:r>
            <a:r>
              <a:rPr lang="en-US" altLang="zh-CN" sz="2000" dirty="0" err="1"/>
              <a:t>in_count</a:t>
            </a:r>
            <a:r>
              <a:rPr lang="en-US" altLang="zh-CN" sz="2000" dirty="0"/>
              <a:t>, uint8 </a:t>
            </a:r>
            <a:r>
              <a:rPr lang="en-US" altLang="zh-CN" sz="2000" dirty="0" err="1"/>
              <a:t>in_price</a:t>
            </a:r>
            <a:r>
              <a:rPr lang="en-US" altLang="zh-CN" sz="2000" dirty="0"/>
              <a:t>) public {       </a:t>
            </a:r>
          </a:p>
          <a:p>
            <a:pPr marL="0" indent="0">
              <a:buNone/>
            </a:pPr>
            <a:r>
              <a:rPr lang="en-US" altLang="zh-CN" sz="2000" dirty="0"/>
              <a:t>		count = </a:t>
            </a:r>
            <a:r>
              <a:rPr lang="en-US" altLang="zh-CN" sz="2000" dirty="0" err="1"/>
              <a:t>in_count</a:t>
            </a:r>
            <a:r>
              <a:rPr lang="en-US" altLang="zh-CN" sz="2000" dirty="0"/>
              <a:t>;       </a:t>
            </a:r>
          </a:p>
          <a:p>
            <a:pPr marL="0" indent="0">
              <a:buNone/>
            </a:pPr>
            <a:r>
              <a:rPr lang="en-US" altLang="zh-CN" sz="2000" dirty="0"/>
              <a:t>		price = </a:t>
            </a:r>
            <a:r>
              <a:rPr lang="en-US" altLang="zh-CN" sz="2000" dirty="0" err="1"/>
              <a:t>in_price</a:t>
            </a:r>
            <a:r>
              <a:rPr lang="en-US" altLang="zh-CN" sz="2000" dirty="0"/>
              <a:t>;   </a:t>
            </a:r>
          </a:p>
          <a:p>
            <a:pPr marL="0" indent="0">
              <a:buNone/>
            </a:pPr>
            <a:r>
              <a:rPr lang="en-US" altLang="zh-CN" sz="2000" dirty="0"/>
              <a:t>	}   </a:t>
            </a:r>
          </a:p>
          <a:p>
            <a:pPr marL="0" indent="0">
              <a:buNone/>
            </a:pPr>
            <a:r>
              <a:rPr lang="en-US" altLang="zh-CN" sz="2000" dirty="0"/>
              <a:t>	function </a:t>
            </a:r>
            <a:r>
              <a:rPr lang="en-US" altLang="zh-CN" sz="2000" dirty="0" err="1"/>
              <a:t>getInfo</a:t>
            </a:r>
            <a:r>
              <a:rPr lang="en-US" altLang="zh-CN" sz="2000" dirty="0"/>
              <a:t>() public view  returns (uint16, uint8) {       </a:t>
            </a:r>
          </a:p>
          <a:p>
            <a:pPr marL="0" indent="0">
              <a:buNone/>
            </a:pPr>
            <a:r>
              <a:rPr lang="en-US" altLang="zh-CN" sz="2000" dirty="0"/>
              <a:t>		return (count, price);   </a:t>
            </a:r>
          </a:p>
          <a:p>
            <a:pPr marL="0" indent="0">
              <a:buNone/>
            </a:pPr>
            <a:r>
              <a:rPr lang="en-US" altLang="zh-CN" sz="2000" dirty="0"/>
              <a:t>	}</a:t>
            </a:r>
          </a:p>
          <a:p>
            <a:pPr marL="0" indent="0">
              <a:buNone/>
            </a:pPr>
            <a:r>
              <a:rPr lang="en-US" altLang="zh-CN" sz="2000" dirty="0"/>
              <a:t>}</a:t>
            </a:r>
          </a:p>
        </p:txBody>
      </p:sp>
    </p:spTree>
    <p:extLst>
      <p:ext uri="{BB962C8B-B14F-4D97-AF65-F5344CB8AC3E}">
        <p14:creationId xmlns:p14="http://schemas.microsoft.com/office/powerpoint/2010/main" val="8293072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一个小例子</a:t>
            </a:r>
          </a:p>
        </p:txBody>
      </p:sp>
      <p:sp>
        <p:nvSpPr>
          <p:cNvPr id="3" name="内容占位符 2"/>
          <p:cNvSpPr>
            <a:spLocks noGrp="1"/>
          </p:cNvSpPr>
          <p:nvPr>
            <p:ph idx="1"/>
          </p:nvPr>
        </p:nvSpPr>
        <p:spPr/>
        <p:txBody>
          <a:bodyPr/>
          <a:lstStyle/>
          <a:p>
            <a:r>
              <a:rPr lang="zh-CN" altLang="en-US" dirty="0" smtClean="0"/>
              <a:t>运行</a:t>
            </a:r>
            <a:r>
              <a:rPr lang="en-US" altLang="zh-CN" dirty="0" smtClean="0"/>
              <a:t>Ganache</a:t>
            </a:r>
            <a:r>
              <a:rPr lang="zh-CN" altLang="en-US" dirty="0" smtClean="0"/>
              <a:t>私有链</a:t>
            </a:r>
            <a:endParaRPr lang="zh-CN" altLang="en-US" dirty="0"/>
          </a:p>
        </p:txBody>
      </p:sp>
      <p:pic>
        <p:nvPicPr>
          <p:cNvPr id="4" name="图片 3"/>
          <p:cNvPicPr>
            <a:picLocks noChangeAspect="1"/>
          </p:cNvPicPr>
          <p:nvPr/>
        </p:nvPicPr>
        <p:blipFill>
          <a:blip r:embed="rId2"/>
          <a:stretch>
            <a:fillRect/>
          </a:stretch>
        </p:blipFill>
        <p:spPr>
          <a:xfrm>
            <a:off x="532234" y="2420888"/>
            <a:ext cx="6127329" cy="4096941"/>
          </a:xfrm>
          <a:prstGeom prst="rect">
            <a:avLst/>
          </a:prstGeom>
        </p:spPr>
      </p:pic>
      <p:sp>
        <p:nvSpPr>
          <p:cNvPr id="5" name="矩形 4"/>
          <p:cNvSpPr/>
          <p:nvPr/>
        </p:nvSpPr>
        <p:spPr bwMode="auto">
          <a:xfrm>
            <a:off x="6948264" y="1700808"/>
            <a:ext cx="2088232" cy="1152128"/>
          </a:xfrm>
          <a:prstGeom prst="rect">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rPr>
              <a:t>私有链介入</a:t>
            </a:r>
            <a:r>
              <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rPr>
              <a:t>RPC</a:t>
            </a:r>
            <a:r>
              <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rPr>
              <a:t>地址</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rPr>
              <a:t>和网络</a:t>
            </a:r>
            <a:r>
              <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rPr>
              <a:t>ID</a:t>
            </a:r>
            <a:endPar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endParaRPr>
          </a:p>
        </p:txBody>
      </p:sp>
      <p:cxnSp>
        <p:nvCxnSpPr>
          <p:cNvPr id="7" name="直接箭头连接符 6"/>
          <p:cNvCxnSpPr/>
          <p:nvPr/>
        </p:nvCxnSpPr>
        <p:spPr bwMode="auto">
          <a:xfrm flipH="1">
            <a:off x="3779912" y="2060848"/>
            <a:ext cx="3168352" cy="864096"/>
          </a:xfrm>
          <a:prstGeom prst="straightConnector1">
            <a:avLst/>
          </a:prstGeom>
          <a:solidFill>
            <a:schemeClr val="bg1"/>
          </a:solidFill>
          <a:ln w="9525" cap="flat" cmpd="sng" algn="ctr">
            <a:solidFill>
              <a:srgbClr val="FF0000"/>
            </a:solidFill>
            <a:prstDash val="solid"/>
            <a:round/>
            <a:headEnd type="none" w="med" len="med"/>
            <a:tailEnd type="triangle"/>
          </a:ln>
          <a:effectLst/>
        </p:spPr>
      </p:cxnSp>
      <p:sp>
        <p:nvSpPr>
          <p:cNvPr id="8" name="矩形 7"/>
          <p:cNvSpPr/>
          <p:nvPr/>
        </p:nvSpPr>
        <p:spPr bwMode="auto">
          <a:xfrm>
            <a:off x="7164288" y="3789040"/>
            <a:ext cx="1656184" cy="2224733"/>
          </a:xfrm>
          <a:prstGeom prst="rect">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rPr>
              <a:t>生成的十个账户</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r>
              <a:rPr lang="zh-CN" altLang="en-US" dirty="0" smtClean="0">
                <a:latin typeface="Times New Roman" pitchFamily="18" charset="0"/>
              </a:rPr>
              <a:t>可以使用私钥</a:t>
            </a:r>
            <a:endParaRPr lang="en-US" altLang="zh-CN" dirty="0" smtClean="0">
              <a:latin typeface="Times New Roman" pitchFamily="18" charset="0"/>
            </a:endParaRPr>
          </a:p>
          <a:p>
            <a:pPr marL="0" marR="0" indent="0" algn="ctr" defTabSz="914400" rtl="0" eaLnBrk="1" fontAlgn="base" latinLnBrk="0" hangingPunct="1">
              <a:lnSpc>
                <a:spcPct val="100000"/>
              </a:lnSpc>
              <a:spcBef>
                <a:spcPct val="0"/>
              </a:spcBef>
              <a:spcAft>
                <a:spcPct val="0"/>
              </a:spcAft>
              <a:buClrTx/>
              <a:buSzTx/>
              <a:buFontTx/>
              <a:buNone/>
              <a:tabLst/>
            </a:pPr>
            <a:r>
              <a:rPr lang="zh-CN" altLang="en-US" dirty="0" smtClean="0">
                <a:latin typeface="Times New Roman" pitchFamily="18" charset="0"/>
              </a:rPr>
              <a:t>导入以太坊钱包</a:t>
            </a:r>
            <a:endPar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endParaRPr>
          </a:p>
        </p:txBody>
      </p:sp>
      <p:cxnSp>
        <p:nvCxnSpPr>
          <p:cNvPr id="10" name="直接箭头连接符 9"/>
          <p:cNvCxnSpPr>
            <a:stCxn id="8" idx="1"/>
          </p:cNvCxnSpPr>
          <p:nvPr/>
        </p:nvCxnSpPr>
        <p:spPr bwMode="auto">
          <a:xfrm flipH="1" flipV="1">
            <a:off x="6588224" y="3861048"/>
            <a:ext cx="576064" cy="1040359"/>
          </a:xfrm>
          <a:prstGeom prst="straightConnector1">
            <a:avLst/>
          </a:prstGeom>
          <a:solidFill>
            <a:schemeClr val="bg1"/>
          </a:solidFill>
          <a:ln w="952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6860374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一个小例子</a:t>
            </a:r>
          </a:p>
        </p:txBody>
      </p:sp>
      <p:sp>
        <p:nvSpPr>
          <p:cNvPr id="3" name="内容占位符 2"/>
          <p:cNvSpPr>
            <a:spLocks noGrp="1"/>
          </p:cNvSpPr>
          <p:nvPr>
            <p:ph idx="1"/>
          </p:nvPr>
        </p:nvSpPr>
        <p:spPr>
          <a:xfrm>
            <a:off x="251520" y="1340768"/>
            <a:ext cx="8640959" cy="4536157"/>
          </a:xfrm>
        </p:spPr>
        <p:txBody>
          <a:bodyPr/>
          <a:lstStyle/>
          <a:p>
            <a:r>
              <a:rPr lang="zh-CN" altLang="en-US" dirty="0" smtClean="0"/>
              <a:t>在</a:t>
            </a:r>
            <a:r>
              <a:rPr lang="en-US" altLang="zh-CN" dirty="0" err="1" smtClean="0"/>
              <a:t>firefox</a:t>
            </a:r>
            <a:r>
              <a:rPr lang="zh-CN" altLang="en-US" dirty="0" smtClean="0"/>
              <a:t>浏览器中安装</a:t>
            </a:r>
            <a:r>
              <a:rPr lang="en-US" altLang="zh-CN" dirty="0" err="1" smtClean="0"/>
              <a:t>MetaMask</a:t>
            </a:r>
            <a:r>
              <a:rPr lang="zh-CN" altLang="en-US" dirty="0" smtClean="0"/>
              <a:t>以太坊钱包插件</a:t>
            </a:r>
            <a:endParaRPr lang="en-US" altLang="zh-CN" dirty="0" smtClean="0"/>
          </a:p>
          <a:p>
            <a:pPr lvl="1"/>
            <a:r>
              <a:rPr lang="zh-CN" altLang="en-US" dirty="0"/>
              <a:t>官</a:t>
            </a:r>
            <a:r>
              <a:rPr lang="zh-CN" altLang="en-US" dirty="0" smtClean="0"/>
              <a:t>网地址：</a:t>
            </a:r>
            <a:r>
              <a:rPr lang="en-US" altLang="zh-CN" dirty="0">
                <a:hlinkClick r:id="rId2"/>
              </a:rPr>
              <a:t>https://metamask.io</a:t>
            </a:r>
            <a:r>
              <a:rPr lang="en-US" altLang="zh-CN" dirty="0" smtClean="0">
                <a:hlinkClick r:id="rId2"/>
              </a:rPr>
              <a:t>/</a:t>
            </a:r>
            <a:endParaRPr lang="en-US" altLang="zh-CN" dirty="0" smtClean="0"/>
          </a:p>
          <a:p>
            <a:pPr lvl="1"/>
            <a:r>
              <a:rPr lang="zh-CN" altLang="en-US" dirty="0" smtClean="0"/>
              <a:t>安装教程可以自己网上搜一下</a:t>
            </a:r>
            <a:endParaRPr lang="zh-CN" altLang="en-US" dirty="0"/>
          </a:p>
        </p:txBody>
      </p:sp>
      <p:pic>
        <p:nvPicPr>
          <p:cNvPr id="4" name="图片 3"/>
          <p:cNvPicPr>
            <a:picLocks noChangeAspect="1"/>
          </p:cNvPicPr>
          <p:nvPr/>
        </p:nvPicPr>
        <p:blipFill>
          <a:blip r:embed="rId3"/>
          <a:stretch>
            <a:fillRect/>
          </a:stretch>
        </p:blipFill>
        <p:spPr>
          <a:xfrm>
            <a:off x="1403648" y="3212976"/>
            <a:ext cx="5980262" cy="3308330"/>
          </a:xfrm>
          <a:prstGeom prst="rect">
            <a:avLst/>
          </a:prstGeom>
        </p:spPr>
      </p:pic>
    </p:spTree>
    <p:extLst>
      <p:ext uri="{BB962C8B-B14F-4D97-AF65-F5344CB8AC3E}">
        <p14:creationId xmlns:p14="http://schemas.microsoft.com/office/powerpoint/2010/main" val="27498671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一个小例子</a:t>
            </a:r>
          </a:p>
        </p:txBody>
      </p:sp>
      <p:sp>
        <p:nvSpPr>
          <p:cNvPr id="3" name="内容占位符 2"/>
          <p:cNvSpPr>
            <a:spLocks noGrp="1"/>
          </p:cNvSpPr>
          <p:nvPr>
            <p:ph idx="1"/>
          </p:nvPr>
        </p:nvSpPr>
        <p:spPr>
          <a:xfrm>
            <a:off x="251521" y="1196752"/>
            <a:ext cx="8359079" cy="4680173"/>
          </a:xfrm>
        </p:spPr>
        <p:txBody>
          <a:bodyPr/>
          <a:lstStyle/>
          <a:p>
            <a:r>
              <a:rPr lang="en-US" altLang="zh-CN" dirty="0" err="1" smtClean="0"/>
              <a:t>MetaMask</a:t>
            </a:r>
            <a:r>
              <a:rPr lang="zh-CN" altLang="en-US" dirty="0" smtClean="0"/>
              <a:t>插件安装完毕后，可以在</a:t>
            </a:r>
            <a:r>
              <a:rPr lang="en-US" altLang="zh-CN" dirty="0" err="1" smtClean="0"/>
              <a:t>firefox</a:t>
            </a:r>
            <a:r>
              <a:rPr lang="zh-CN" altLang="en-US" dirty="0" smtClean="0"/>
              <a:t>浏览器中展开界面视图，如下所示。</a:t>
            </a:r>
            <a:endParaRPr lang="zh-CN" altLang="en-US" dirty="0"/>
          </a:p>
        </p:txBody>
      </p:sp>
      <p:pic>
        <p:nvPicPr>
          <p:cNvPr id="4" name="图片 3"/>
          <p:cNvPicPr>
            <a:picLocks noChangeAspect="1"/>
          </p:cNvPicPr>
          <p:nvPr/>
        </p:nvPicPr>
        <p:blipFill>
          <a:blip r:embed="rId2"/>
          <a:stretch>
            <a:fillRect/>
          </a:stretch>
        </p:blipFill>
        <p:spPr>
          <a:xfrm>
            <a:off x="206088" y="2276872"/>
            <a:ext cx="8937912" cy="4033158"/>
          </a:xfrm>
          <a:prstGeom prst="rect">
            <a:avLst/>
          </a:prstGeom>
        </p:spPr>
      </p:pic>
    </p:spTree>
    <p:extLst>
      <p:ext uri="{BB962C8B-B14F-4D97-AF65-F5344CB8AC3E}">
        <p14:creationId xmlns:p14="http://schemas.microsoft.com/office/powerpoint/2010/main" val="25961670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一个小例子</a:t>
            </a:r>
          </a:p>
        </p:txBody>
      </p:sp>
      <p:sp>
        <p:nvSpPr>
          <p:cNvPr id="3" name="内容占位符 2"/>
          <p:cNvSpPr>
            <a:spLocks noGrp="1"/>
          </p:cNvSpPr>
          <p:nvPr>
            <p:ph idx="1"/>
          </p:nvPr>
        </p:nvSpPr>
        <p:spPr>
          <a:xfrm>
            <a:off x="323529" y="1124744"/>
            <a:ext cx="8287072" cy="4752181"/>
          </a:xfrm>
        </p:spPr>
        <p:txBody>
          <a:bodyPr/>
          <a:lstStyle/>
          <a:p>
            <a:r>
              <a:rPr lang="en-US" altLang="zh-CN" dirty="0" err="1" smtClean="0"/>
              <a:t>MetaMask</a:t>
            </a:r>
            <a:r>
              <a:rPr lang="zh-CN" altLang="en-US" dirty="0" smtClean="0"/>
              <a:t>连接</a:t>
            </a:r>
            <a:r>
              <a:rPr lang="en-US" altLang="zh-CN" dirty="0" smtClean="0"/>
              <a:t>Ganache</a:t>
            </a:r>
            <a:r>
              <a:rPr lang="zh-CN" altLang="en-US" dirty="0" smtClean="0"/>
              <a:t>私链节点：</a:t>
            </a:r>
            <a:endParaRPr lang="en-US" altLang="zh-CN" dirty="0" smtClean="0"/>
          </a:p>
          <a:p>
            <a:pPr lvl="1"/>
            <a:r>
              <a:rPr lang="zh-CN" altLang="en-US" dirty="0" smtClean="0"/>
              <a:t>根据</a:t>
            </a:r>
            <a:r>
              <a:rPr lang="en-US" altLang="zh-CN" dirty="0" smtClean="0"/>
              <a:t>Ganache</a:t>
            </a:r>
            <a:r>
              <a:rPr lang="zh-CN" altLang="en-US" dirty="0" smtClean="0"/>
              <a:t>中的</a:t>
            </a:r>
            <a:r>
              <a:rPr lang="en-US" altLang="zh-CN" dirty="0" smtClean="0"/>
              <a:t>RPC</a:t>
            </a:r>
            <a:r>
              <a:rPr lang="zh-CN" altLang="en-US" dirty="0" smtClean="0"/>
              <a:t>信息，选择新建自定义</a:t>
            </a:r>
            <a:r>
              <a:rPr lang="en-US" altLang="zh-CN" dirty="0" smtClean="0"/>
              <a:t>RPC</a:t>
            </a:r>
            <a:r>
              <a:rPr lang="zh-CN" altLang="en-US" dirty="0" smtClean="0"/>
              <a:t>。</a:t>
            </a:r>
            <a:endParaRPr lang="zh-CN" altLang="en-US" dirty="0"/>
          </a:p>
        </p:txBody>
      </p:sp>
      <p:pic>
        <p:nvPicPr>
          <p:cNvPr id="4" name="图片 3"/>
          <p:cNvPicPr>
            <a:picLocks noChangeAspect="1"/>
          </p:cNvPicPr>
          <p:nvPr/>
        </p:nvPicPr>
        <p:blipFill>
          <a:blip r:embed="rId2"/>
          <a:stretch>
            <a:fillRect/>
          </a:stretch>
        </p:blipFill>
        <p:spPr>
          <a:xfrm>
            <a:off x="251520" y="2276872"/>
            <a:ext cx="3696125" cy="4448150"/>
          </a:xfrm>
          <a:prstGeom prst="rect">
            <a:avLst/>
          </a:prstGeom>
        </p:spPr>
      </p:pic>
      <p:pic>
        <p:nvPicPr>
          <p:cNvPr id="5" name="图片 4"/>
          <p:cNvPicPr>
            <a:picLocks noChangeAspect="1"/>
          </p:cNvPicPr>
          <p:nvPr/>
        </p:nvPicPr>
        <p:blipFill>
          <a:blip r:embed="rId3"/>
          <a:stretch>
            <a:fillRect/>
          </a:stretch>
        </p:blipFill>
        <p:spPr>
          <a:xfrm>
            <a:off x="4386427" y="2494794"/>
            <a:ext cx="4546271" cy="3806180"/>
          </a:xfrm>
          <a:prstGeom prst="rect">
            <a:avLst/>
          </a:prstGeom>
        </p:spPr>
      </p:pic>
    </p:spTree>
    <p:extLst>
      <p:ext uri="{BB962C8B-B14F-4D97-AF65-F5344CB8AC3E}">
        <p14:creationId xmlns:p14="http://schemas.microsoft.com/office/powerpoint/2010/main" val="1988955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一个小例子</a:t>
            </a:r>
          </a:p>
        </p:txBody>
      </p:sp>
      <p:sp>
        <p:nvSpPr>
          <p:cNvPr id="3" name="内容占位符 2"/>
          <p:cNvSpPr>
            <a:spLocks noGrp="1"/>
          </p:cNvSpPr>
          <p:nvPr>
            <p:ph idx="1"/>
          </p:nvPr>
        </p:nvSpPr>
        <p:spPr>
          <a:xfrm>
            <a:off x="251520" y="1196752"/>
            <a:ext cx="8568951" cy="4680173"/>
          </a:xfrm>
        </p:spPr>
        <p:txBody>
          <a:bodyPr/>
          <a:lstStyle/>
          <a:p>
            <a:r>
              <a:rPr lang="zh-CN" altLang="en-US" sz="2400" dirty="0" smtClean="0"/>
              <a:t>在</a:t>
            </a:r>
            <a:r>
              <a:rPr lang="en-US" altLang="zh-CN" sz="2400" dirty="0" err="1" smtClean="0"/>
              <a:t>MetaMask</a:t>
            </a:r>
            <a:r>
              <a:rPr lang="zh-CN" altLang="en-US" sz="2400" dirty="0" smtClean="0"/>
              <a:t>中导入</a:t>
            </a:r>
            <a:r>
              <a:rPr lang="en-US" altLang="zh-CN" sz="2400" dirty="0" smtClean="0"/>
              <a:t>Ganache</a:t>
            </a:r>
            <a:r>
              <a:rPr lang="zh-CN" altLang="en-US" sz="2400" dirty="0" smtClean="0"/>
              <a:t>中建立的账户</a:t>
            </a:r>
            <a:endParaRPr lang="en-US" altLang="zh-CN" sz="2400" dirty="0" smtClean="0"/>
          </a:p>
          <a:p>
            <a:pPr lvl="1"/>
            <a:r>
              <a:rPr lang="zh-CN" altLang="en-US" sz="2000" dirty="0" smtClean="0"/>
              <a:t>首先在</a:t>
            </a:r>
            <a:r>
              <a:rPr lang="en-US" altLang="zh-CN" sz="2000" dirty="0" smtClean="0"/>
              <a:t>Ganache</a:t>
            </a:r>
            <a:r>
              <a:rPr lang="zh-CN" altLang="en-US" sz="2000" dirty="0" smtClean="0"/>
              <a:t>中选择一个账户复制私钥</a:t>
            </a:r>
            <a:endParaRPr lang="en-US" altLang="zh-CN" sz="2000" dirty="0" smtClean="0"/>
          </a:p>
          <a:p>
            <a:pPr lvl="1"/>
            <a:r>
              <a:rPr lang="zh-CN" altLang="en-US" sz="2000" dirty="0" smtClean="0"/>
              <a:t>然后在</a:t>
            </a:r>
            <a:r>
              <a:rPr lang="en-US" altLang="zh-CN" sz="2000" dirty="0" err="1" smtClean="0"/>
              <a:t>MetaMask</a:t>
            </a:r>
            <a:r>
              <a:rPr lang="zh-CN" altLang="en-US" sz="2000" dirty="0" smtClean="0"/>
              <a:t>中通过“导入账户”，粘贴私钥实现账户导入。</a:t>
            </a:r>
            <a:endParaRPr lang="zh-CN" altLang="en-US" sz="2000" dirty="0"/>
          </a:p>
        </p:txBody>
      </p:sp>
      <p:pic>
        <p:nvPicPr>
          <p:cNvPr id="4" name="图片 3"/>
          <p:cNvPicPr>
            <a:picLocks noChangeAspect="1"/>
          </p:cNvPicPr>
          <p:nvPr/>
        </p:nvPicPr>
        <p:blipFill>
          <a:blip r:embed="rId2"/>
          <a:stretch>
            <a:fillRect/>
          </a:stretch>
        </p:blipFill>
        <p:spPr>
          <a:xfrm>
            <a:off x="256595" y="2478038"/>
            <a:ext cx="2709638" cy="4379962"/>
          </a:xfrm>
          <a:prstGeom prst="rect">
            <a:avLst/>
          </a:prstGeom>
        </p:spPr>
      </p:pic>
      <p:pic>
        <p:nvPicPr>
          <p:cNvPr id="5" name="图片 4"/>
          <p:cNvPicPr>
            <a:picLocks noChangeAspect="1"/>
          </p:cNvPicPr>
          <p:nvPr/>
        </p:nvPicPr>
        <p:blipFill>
          <a:blip r:embed="rId3"/>
          <a:stretch>
            <a:fillRect/>
          </a:stretch>
        </p:blipFill>
        <p:spPr>
          <a:xfrm>
            <a:off x="3203848" y="2584723"/>
            <a:ext cx="2850629" cy="3507879"/>
          </a:xfrm>
          <a:prstGeom prst="rect">
            <a:avLst/>
          </a:prstGeom>
        </p:spPr>
      </p:pic>
      <p:pic>
        <p:nvPicPr>
          <p:cNvPr id="6" name="图片 5"/>
          <p:cNvPicPr>
            <a:picLocks noChangeAspect="1"/>
          </p:cNvPicPr>
          <p:nvPr/>
        </p:nvPicPr>
        <p:blipFill>
          <a:blip r:embed="rId4"/>
          <a:stretch>
            <a:fillRect/>
          </a:stretch>
        </p:blipFill>
        <p:spPr>
          <a:xfrm>
            <a:off x="6134100" y="3377977"/>
            <a:ext cx="3009900" cy="2714625"/>
          </a:xfrm>
          <a:prstGeom prst="rect">
            <a:avLst/>
          </a:prstGeom>
        </p:spPr>
      </p:pic>
    </p:spTree>
    <p:extLst>
      <p:ext uri="{BB962C8B-B14F-4D97-AF65-F5344CB8AC3E}">
        <p14:creationId xmlns:p14="http://schemas.microsoft.com/office/powerpoint/2010/main" val="31863802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一个小例子</a:t>
            </a:r>
          </a:p>
        </p:txBody>
      </p:sp>
      <p:sp>
        <p:nvSpPr>
          <p:cNvPr id="3" name="内容占位符 2"/>
          <p:cNvSpPr>
            <a:spLocks noGrp="1"/>
          </p:cNvSpPr>
          <p:nvPr>
            <p:ph idx="1"/>
          </p:nvPr>
        </p:nvSpPr>
        <p:spPr/>
        <p:txBody>
          <a:bodyPr/>
          <a:lstStyle/>
          <a:p>
            <a:r>
              <a:rPr lang="zh-CN" altLang="en-US" dirty="0" smtClean="0"/>
              <a:t>在</a:t>
            </a:r>
            <a:r>
              <a:rPr lang="en-US" altLang="zh-CN" dirty="0" smtClean="0"/>
              <a:t>Remix</a:t>
            </a:r>
            <a:r>
              <a:rPr lang="zh-CN" altLang="en-US" dirty="0" smtClean="0"/>
              <a:t>中编译</a:t>
            </a:r>
            <a:endParaRPr lang="zh-CN" altLang="en-US" dirty="0"/>
          </a:p>
        </p:txBody>
      </p:sp>
      <p:pic>
        <p:nvPicPr>
          <p:cNvPr id="4" name="图片 3"/>
          <p:cNvPicPr>
            <a:picLocks noChangeAspect="1"/>
          </p:cNvPicPr>
          <p:nvPr/>
        </p:nvPicPr>
        <p:blipFill>
          <a:blip r:embed="rId2"/>
          <a:stretch>
            <a:fillRect/>
          </a:stretch>
        </p:blipFill>
        <p:spPr>
          <a:xfrm>
            <a:off x="832624" y="2420888"/>
            <a:ext cx="7770266" cy="4043185"/>
          </a:xfrm>
          <a:prstGeom prst="rect">
            <a:avLst/>
          </a:prstGeom>
        </p:spPr>
      </p:pic>
    </p:spTree>
    <p:extLst>
      <p:ext uri="{BB962C8B-B14F-4D97-AF65-F5344CB8AC3E}">
        <p14:creationId xmlns:p14="http://schemas.microsoft.com/office/powerpoint/2010/main" val="1825757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一个小例子</a:t>
            </a:r>
          </a:p>
        </p:txBody>
      </p:sp>
      <p:sp>
        <p:nvSpPr>
          <p:cNvPr id="3" name="内容占位符 2"/>
          <p:cNvSpPr>
            <a:spLocks noGrp="1"/>
          </p:cNvSpPr>
          <p:nvPr>
            <p:ph idx="1"/>
          </p:nvPr>
        </p:nvSpPr>
        <p:spPr/>
        <p:txBody>
          <a:bodyPr/>
          <a:lstStyle/>
          <a:p>
            <a:r>
              <a:rPr lang="en-US" altLang="zh-CN" sz="2400" dirty="0" smtClean="0"/>
              <a:t>Remix</a:t>
            </a:r>
            <a:r>
              <a:rPr lang="zh-CN" altLang="en-US" sz="2400" dirty="0" smtClean="0"/>
              <a:t>中部署合约的三种选择：</a:t>
            </a:r>
            <a:endParaRPr lang="en-US" altLang="zh-CN" sz="2400" dirty="0" smtClean="0"/>
          </a:p>
          <a:p>
            <a:pPr lvl="1"/>
            <a:r>
              <a:rPr lang="en-US" altLang="zh-CN" sz="2000" dirty="0" err="1"/>
              <a:t>Javascript</a:t>
            </a:r>
            <a:r>
              <a:rPr lang="en-US" altLang="zh-CN" sz="2000" dirty="0"/>
              <a:t> VM</a:t>
            </a:r>
            <a:r>
              <a:rPr lang="zh-CN" altLang="en-US" sz="2000" dirty="0"/>
              <a:t>：简单的</a:t>
            </a:r>
            <a:r>
              <a:rPr lang="en-US" altLang="zh-CN" sz="2000" dirty="0" err="1"/>
              <a:t>Javascript</a:t>
            </a:r>
            <a:r>
              <a:rPr lang="zh-CN" altLang="en-US" sz="2000" dirty="0"/>
              <a:t>虚拟机环境，纯粹练习智能合约编写的时候可以选择</a:t>
            </a:r>
          </a:p>
          <a:p>
            <a:pPr lvl="1"/>
            <a:r>
              <a:rPr lang="en-US" altLang="zh-CN" sz="2000" dirty="0"/>
              <a:t>Injected Web3</a:t>
            </a:r>
            <a:r>
              <a:rPr lang="zh-CN" altLang="en-US" sz="2000" dirty="0"/>
              <a:t>：连接到嵌入到页面的</a:t>
            </a:r>
            <a:r>
              <a:rPr lang="en-US" altLang="zh-CN" sz="2000" dirty="0"/>
              <a:t>Web3</a:t>
            </a:r>
            <a:r>
              <a:rPr lang="zh-CN" altLang="en-US" sz="2000" dirty="0"/>
              <a:t>，比如连接到</a:t>
            </a:r>
            <a:r>
              <a:rPr lang="en-US" altLang="zh-CN" sz="2000" dirty="0" err="1"/>
              <a:t>MetaMask</a:t>
            </a:r>
            <a:endParaRPr lang="en-US" altLang="zh-CN" sz="2000" dirty="0"/>
          </a:p>
          <a:p>
            <a:pPr lvl="1"/>
            <a:r>
              <a:rPr lang="en-US" altLang="zh-CN" sz="2000" dirty="0"/>
              <a:t>Web3 Provider</a:t>
            </a:r>
            <a:r>
              <a:rPr lang="zh-CN" altLang="en-US" sz="2000" dirty="0"/>
              <a:t>：连接到自定义的节点，如私有的测试网络。</a:t>
            </a:r>
            <a:endParaRPr lang="en-US" altLang="zh-CN" sz="2000" dirty="0" smtClean="0"/>
          </a:p>
          <a:p>
            <a:r>
              <a:rPr lang="zh-CN" altLang="en-US" sz="2400" dirty="0" smtClean="0"/>
              <a:t>在</a:t>
            </a:r>
            <a:r>
              <a:rPr lang="en-US" altLang="zh-CN" sz="2400" dirty="0" smtClean="0"/>
              <a:t>Remix</a:t>
            </a:r>
            <a:r>
              <a:rPr lang="zh-CN" altLang="en-US" sz="2400" dirty="0" smtClean="0"/>
              <a:t>中将合约部署到</a:t>
            </a:r>
            <a:r>
              <a:rPr lang="en-US" altLang="zh-CN" sz="2400" dirty="0" smtClean="0"/>
              <a:t>Ganache</a:t>
            </a:r>
            <a:r>
              <a:rPr lang="zh-CN" altLang="en-US" sz="2400" dirty="0" smtClean="0"/>
              <a:t>私链上</a:t>
            </a:r>
            <a:endParaRPr lang="en-US" altLang="zh-CN" sz="2400" dirty="0" smtClean="0"/>
          </a:p>
          <a:p>
            <a:pPr lvl="1"/>
            <a:r>
              <a:rPr lang="zh-CN" altLang="en-US" sz="2000" dirty="0" smtClean="0"/>
              <a:t>在</a:t>
            </a:r>
            <a:r>
              <a:rPr lang="en-US" altLang="zh-CN" sz="2000" dirty="0" err="1" smtClean="0"/>
              <a:t>firefox</a:t>
            </a:r>
            <a:r>
              <a:rPr lang="zh-CN" altLang="en-US" sz="2000" dirty="0" smtClean="0"/>
              <a:t>中安装了</a:t>
            </a:r>
            <a:r>
              <a:rPr lang="en-US" altLang="zh-CN" sz="2000" dirty="0" err="1" smtClean="0"/>
              <a:t>MetaMask</a:t>
            </a:r>
            <a:r>
              <a:rPr lang="zh-CN" altLang="en-US" sz="2000" dirty="0" smtClean="0"/>
              <a:t>插件</a:t>
            </a:r>
            <a:endParaRPr lang="en-US" altLang="zh-CN" sz="2000" dirty="0" smtClean="0"/>
          </a:p>
          <a:p>
            <a:pPr lvl="1"/>
            <a:r>
              <a:rPr lang="en-US" altLang="zh-CN" sz="2000" dirty="0" err="1" smtClean="0"/>
              <a:t>MetaMask</a:t>
            </a:r>
            <a:r>
              <a:rPr lang="zh-CN" altLang="en-US" sz="2000" dirty="0" smtClean="0"/>
              <a:t>钱包插件连接到了</a:t>
            </a:r>
            <a:r>
              <a:rPr lang="en-US" altLang="zh-CN" sz="2000" dirty="0" smtClean="0"/>
              <a:t>Ganache</a:t>
            </a:r>
            <a:r>
              <a:rPr lang="zh-CN" altLang="en-US" sz="2000" dirty="0" smtClean="0"/>
              <a:t>私链</a:t>
            </a:r>
            <a:endParaRPr lang="en-US" altLang="zh-CN" sz="2000" dirty="0" smtClean="0"/>
          </a:p>
          <a:p>
            <a:pPr lvl="1"/>
            <a:r>
              <a:rPr lang="zh-CN" altLang="en-US" sz="2000" dirty="0" smtClean="0"/>
              <a:t>在</a:t>
            </a:r>
            <a:r>
              <a:rPr lang="en-US" altLang="zh-CN" sz="2000" dirty="0" err="1" smtClean="0"/>
              <a:t>firefox</a:t>
            </a:r>
            <a:r>
              <a:rPr lang="zh-CN" altLang="en-US" sz="2000" dirty="0" smtClean="0"/>
              <a:t>中打开</a:t>
            </a:r>
            <a:r>
              <a:rPr lang="en-US" altLang="zh-CN" sz="2000" dirty="0" smtClean="0"/>
              <a:t>Remix</a:t>
            </a:r>
            <a:r>
              <a:rPr lang="zh-CN" altLang="en-US" sz="2000" dirty="0" smtClean="0"/>
              <a:t>在线编译部署运行环境</a:t>
            </a:r>
            <a:endParaRPr lang="en-US" altLang="zh-CN" sz="2000" dirty="0" smtClean="0"/>
          </a:p>
          <a:p>
            <a:pPr lvl="1"/>
            <a:r>
              <a:rPr lang="zh-CN" altLang="en-US" sz="2000" dirty="0" smtClean="0"/>
              <a:t>在可以通过选择“</a:t>
            </a:r>
            <a:r>
              <a:rPr lang="en-US" altLang="zh-CN" sz="2000" dirty="0"/>
              <a:t>Injected Web3</a:t>
            </a:r>
            <a:r>
              <a:rPr lang="zh-CN" altLang="en-US" sz="2000" dirty="0" smtClean="0"/>
              <a:t>”方式，让</a:t>
            </a:r>
            <a:r>
              <a:rPr lang="en-US" altLang="zh-CN" sz="2000" dirty="0" smtClean="0"/>
              <a:t>Remix</a:t>
            </a:r>
            <a:r>
              <a:rPr lang="zh-CN" altLang="en-US" sz="2000" dirty="0" smtClean="0"/>
              <a:t>连接内嵌的</a:t>
            </a:r>
            <a:r>
              <a:rPr lang="en-US" altLang="zh-CN" sz="2000" dirty="0" err="1" smtClean="0"/>
              <a:t>MetaMask</a:t>
            </a:r>
            <a:r>
              <a:rPr lang="zh-CN" altLang="en-US" sz="2000" dirty="0" smtClean="0"/>
              <a:t>钱包插件，从而通过</a:t>
            </a:r>
            <a:r>
              <a:rPr lang="en-US" altLang="zh-CN" sz="2000" dirty="0" err="1" smtClean="0"/>
              <a:t>MetaMask</a:t>
            </a:r>
            <a:r>
              <a:rPr lang="zh-CN" altLang="en-US" sz="2000" dirty="0" smtClean="0"/>
              <a:t>，连接到</a:t>
            </a:r>
            <a:r>
              <a:rPr lang="en-US" altLang="zh-CN" sz="2000" dirty="0" smtClean="0"/>
              <a:t>Ganache</a:t>
            </a:r>
            <a:r>
              <a:rPr lang="zh-CN" altLang="en-US" sz="2000" dirty="0" smtClean="0"/>
              <a:t>私链。</a:t>
            </a:r>
            <a:endParaRPr lang="zh-CN" altLang="en-US" sz="2000" dirty="0"/>
          </a:p>
        </p:txBody>
      </p:sp>
    </p:spTree>
    <p:extLst>
      <p:ext uri="{BB962C8B-B14F-4D97-AF65-F5344CB8AC3E}">
        <p14:creationId xmlns:p14="http://schemas.microsoft.com/office/powerpoint/2010/main" val="3852929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一个小例子</a:t>
            </a:r>
          </a:p>
        </p:txBody>
      </p:sp>
      <p:sp>
        <p:nvSpPr>
          <p:cNvPr id="3" name="内容占位符 2"/>
          <p:cNvSpPr>
            <a:spLocks noGrp="1"/>
          </p:cNvSpPr>
          <p:nvPr>
            <p:ph idx="1"/>
          </p:nvPr>
        </p:nvSpPr>
        <p:spPr>
          <a:xfrm>
            <a:off x="323529" y="1340768"/>
            <a:ext cx="8287072" cy="4536157"/>
          </a:xfrm>
        </p:spPr>
        <p:txBody>
          <a:bodyPr/>
          <a:lstStyle/>
          <a:p>
            <a:r>
              <a:rPr lang="zh-CN" altLang="en-US" sz="2400" dirty="0" smtClean="0"/>
              <a:t>在</a:t>
            </a:r>
            <a:r>
              <a:rPr lang="en-US" altLang="zh-CN" sz="2400" dirty="0" smtClean="0"/>
              <a:t>Remix</a:t>
            </a:r>
            <a:r>
              <a:rPr lang="zh-CN" altLang="en-US" sz="2400" dirty="0" smtClean="0"/>
              <a:t>中选择通过“</a:t>
            </a:r>
            <a:r>
              <a:rPr lang="en-US" altLang="zh-CN" sz="2400" dirty="0" smtClean="0"/>
              <a:t>Inject web3</a:t>
            </a:r>
            <a:r>
              <a:rPr lang="zh-CN" altLang="en-US" sz="2400" dirty="0" smtClean="0"/>
              <a:t>”，可以看到已经识别出</a:t>
            </a:r>
            <a:r>
              <a:rPr lang="en-US" altLang="zh-CN" sz="2400" dirty="0" err="1" smtClean="0"/>
              <a:t>MetaMask</a:t>
            </a:r>
            <a:r>
              <a:rPr lang="zh-CN" altLang="en-US" sz="2400" dirty="0" smtClean="0"/>
              <a:t>连接的</a:t>
            </a:r>
            <a:r>
              <a:rPr lang="en-US" altLang="zh-CN" sz="2400" dirty="0" smtClean="0"/>
              <a:t>Ganache</a:t>
            </a:r>
            <a:r>
              <a:rPr lang="zh-CN" altLang="en-US" sz="2400" dirty="0" smtClean="0"/>
              <a:t>私链。</a:t>
            </a:r>
            <a:endParaRPr lang="en-US" altLang="zh-CN" sz="2400" dirty="0" smtClean="0"/>
          </a:p>
          <a:p>
            <a:r>
              <a:rPr lang="zh-CN" altLang="en-US" sz="2400" dirty="0" smtClean="0"/>
              <a:t>点击“</a:t>
            </a:r>
            <a:r>
              <a:rPr lang="en-US" altLang="zh-CN" sz="2400" dirty="0" smtClean="0"/>
              <a:t>Deploy</a:t>
            </a:r>
            <a:r>
              <a:rPr lang="zh-CN" altLang="en-US" sz="2400" dirty="0" smtClean="0"/>
              <a:t>”实现部署。</a:t>
            </a:r>
            <a:endParaRPr lang="zh-CN" altLang="en-US" sz="2400" dirty="0"/>
          </a:p>
        </p:txBody>
      </p:sp>
      <p:pic>
        <p:nvPicPr>
          <p:cNvPr id="4" name="图片 3"/>
          <p:cNvPicPr>
            <a:picLocks noChangeAspect="1"/>
          </p:cNvPicPr>
          <p:nvPr/>
        </p:nvPicPr>
        <p:blipFill>
          <a:blip r:embed="rId2"/>
          <a:stretch>
            <a:fillRect/>
          </a:stretch>
        </p:blipFill>
        <p:spPr>
          <a:xfrm>
            <a:off x="1259632" y="2780928"/>
            <a:ext cx="6986414" cy="3622885"/>
          </a:xfrm>
          <a:prstGeom prst="rect">
            <a:avLst/>
          </a:prstGeom>
        </p:spPr>
      </p:pic>
    </p:spTree>
    <p:extLst>
      <p:ext uri="{BB962C8B-B14F-4D97-AF65-F5344CB8AC3E}">
        <p14:creationId xmlns:p14="http://schemas.microsoft.com/office/powerpoint/2010/main" val="27898329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一个小例子</a:t>
            </a:r>
          </a:p>
        </p:txBody>
      </p:sp>
      <p:sp>
        <p:nvSpPr>
          <p:cNvPr id="3" name="内容占位符 2"/>
          <p:cNvSpPr>
            <a:spLocks noGrp="1"/>
          </p:cNvSpPr>
          <p:nvPr>
            <p:ph idx="1"/>
          </p:nvPr>
        </p:nvSpPr>
        <p:spPr>
          <a:xfrm>
            <a:off x="323529" y="1196752"/>
            <a:ext cx="8287072" cy="4680173"/>
          </a:xfrm>
        </p:spPr>
        <p:txBody>
          <a:bodyPr/>
          <a:lstStyle/>
          <a:p>
            <a:r>
              <a:rPr lang="zh-CN" altLang="en-US" dirty="0" smtClean="0"/>
              <a:t>因为部署合约需要消耗</a:t>
            </a:r>
            <a:r>
              <a:rPr lang="en-US" altLang="zh-CN" dirty="0" smtClean="0"/>
              <a:t>GAS</a:t>
            </a:r>
            <a:r>
              <a:rPr lang="zh-CN" altLang="en-US" dirty="0" smtClean="0"/>
              <a:t>，此时会调出</a:t>
            </a:r>
            <a:r>
              <a:rPr lang="en-US" altLang="zh-CN" dirty="0" err="1" smtClean="0"/>
              <a:t>MetaMask</a:t>
            </a:r>
            <a:r>
              <a:rPr lang="zh-CN" altLang="en-US" dirty="0" smtClean="0"/>
              <a:t>钱包完成付账工作。</a:t>
            </a:r>
            <a:endParaRPr lang="zh-CN" altLang="en-US" dirty="0"/>
          </a:p>
        </p:txBody>
      </p:sp>
      <p:pic>
        <p:nvPicPr>
          <p:cNvPr id="4" name="图片 3"/>
          <p:cNvPicPr>
            <a:picLocks noChangeAspect="1"/>
          </p:cNvPicPr>
          <p:nvPr/>
        </p:nvPicPr>
        <p:blipFill>
          <a:blip r:embed="rId2"/>
          <a:stretch>
            <a:fillRect/>
          </a:stretch>
        </p:blipFill>
        <p:spPr>
          <a:xfrm>
            <a:off x="2771800" y="2276872"/>
            <a:ext cx="2338773" cy="4143548"/>
          </a:xfrm>
          <a:prstGeom prst="rect">
            <a:avLst/>
          </a:prstGeom>
        </p:spPr>
      </p:pic>
    </p:spTree>
    <p:extLst>
      <p:ext uri="{BB962C8B-B14F-4D97-AF65-F5344CB8AC3E}">
        <p14:creationId xmlns:p14="http://schemas.microsoft.com/office/powerpoint/2010/main" val="32441505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一个小例子</a:t>
            </a:r>
          </a:p>
        </p:txBody>
      </p:sp>
      <p:sp>
        <p:nvSpPr>
          <p:cNvPr id="3" name="内容占位符 2"/>
          <p:cNvSpPr>
            <a:spLocks noGrp="1"/>
          </p:cNvSpPr>
          <p:nvPr>
            <p:ph idx="1"/>
          </p:nvPr>
        </p:nvSpPr>
        <p:spPr>
          <a:xfrm>
            <a:off x="323528" y="1268760"/>
            <a:ext cx="8568951" cy="5112568"/>
          </a:xfrm>
        </p:spPr>
        <p:txBody>
          <a:bodyPr/>
          <a:lstStyle/>
          <a:p>
            <a:r>
              <a:rPr lang="zh-CN" altLang="en-US" dirty="0" smtClean="0"/>
              <a:t>在</a:t>
            </a:r>
            <a:r>
              <a:rPr lang="en-US" altLang="zh-CN" dirty="0" smtClean="0"/>
              <a:t>Ganache</a:t>
            </a:r>
            <a:r>
              <a:rPr lang="zh-CN" altLang="en-US" dirty="0" smtClean="0"/>
              <a:t>中，可以观察到新产生的区块信息。</a:t>
            </a:r>
            <a:endParaRPr lang="zh-CN" altLang="en-US" dirty="0"/>
          </a:p>
        </p:txBody>
      </p:sp>
      <p:pic>
        <p:nvPicPr>
          <p:cNvPr id="5" name="图片 4"/>
          <p:cNvPicPr>
            <a:picLocks noChangeAspect="1"/>
          </p:cNvPicPr>
          <p:nvPr/>
        </p:nvPicPr>
        <p:blipFill>
          <a:blip r:embed="rId2"/>
          <a:stretch>
            <a:fillRect/>
          </a:stretch>
        </p:blipFill>
        <p:spPr>
          <a:xfrm>
            <a:off x="1331640" y="1851992"/>
            <a:ext cx="7204271" cy="4817021"/>
          </a:xfrm>
          <a:prstGeom prst="rect">
            <a:avLst/>
          </a:prstGeom>
        </p:spPr>
      </p:pic>
    </p:spTree>
    <p:extLst>
      <p:ext uri="{BB962C8B-B14F-4D97-AF65-F5344CB8AC3E}">
        <p14:creationId xmlns:p14="http://schemas.microsoft.com/office/powerpoint/2010/main" val="6213970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一个小例子</a:t>
            </a:r>
          </a:p>
        </p:txBody>
      </p:sp>
      <p:sp>
        <p:nvSpPr>
          <p:cNvPr id="3" name="内容占位符 2"/>
          <p:cNvSpPr>
            <a:spLocks noGrp="1"/>
          </p:cNvSpPr>
          <p:nvPr>
            <p:ph idx="1"/>
          </p:nvPr>
        </p:nvSpPr>
        <p:spPr>
          <a:xfrm>
            <a:off x="179513" y="1124744"/>
            <a:ext cx="8431088" cy="4752181"/>
          </a:xfrm>
        </p:spPr>
        <p:txBody>
          <a:bodyPr/>
          <a:lstStyle/>
          <a:p>
            <a:r>
              <a:rPr lang="zh-CN" altLang="en-US" sz="2400" dirty="0"/>
              <a:t>在</a:t>
            </a:r>
            <a:r>
              <a:rPr lang="en-US" altLang="zh-CN" sz="2400" dirty="0"/>
              <a:t>Ganache</a:t>
            </a:r>
            <a:r>
              <a:rPr lang="zh-CN" altLang="en-US" sz="2400" dirty="0"/>
              <a:t>中，可以观察</a:t>
            </a:r>
            <a:r>
              <a:rPr lang="zh-CN" altLang="en-US" sz="2400" dirty="0" smtClean="0"/>
              <a:t>到部署</a:t>
            </a:r>
            <a:r>
              <a:rPr lang="zh-CN" altLang="en-US" sz="2400" dirty="0"/>
              <a:t>合约的交易</a:t>
            </a:r>
            <a:r>
              <a:rPr lang="zh-CN" altLang="en-US" sz="2400" dirty="0" smtClean="0"/>
              <a:t>信息，并且可以得到完成合约部署的外部账户地址和部署成功后的合约地址。</a:t>
            </a:r>
            <a:endParaRPr lang="zh-CN" altLang="en-US" sz="2400" dirty="0"/>
          </a:p>
          <a:p>
            <a:endParaRPr lang="zh-CN" altLang="en-US" sz="2400" dirty="0"/>
          </a:p>
        </p:txBody>
      </p:sp>
      <p:pic>
        <p:nvPicPr>
          <p:cNvPr id="5" name="图片 4"/>
          <p:cNvPicPr>
            <a:picLocks noChangeAspect="1"/>
          </p:cNvPicPr>
          <p:nvPr/>
        </p:nvPicPr>
        <p:blipFill>
          <a:blip r:embed="rId2"/>
          <a:stretch>
            <a:fillRect/>
          </a:stretch>
        </p:blipFill>
        <p:spPr>
          <a:xfrm>
            <a:off x="1691680" y="2132856"/>
            <a:ext cx="6558106" cy="4384973"/>
          </a:xfrm>
          <a:prstGeom prst="rect">
            <a:avLst/>
          </a:prstGeom>
        </p:spPr>
      </p:pic>
    </p:spTree>
    <p:extLst>
      <p:ext uri="{BB962C8B-B14F-4D97-AF65-F5344CB8AC3E}">
        <p14:creationId xmlns:p14="http://schemas.microsoft.com/office/powerpoint/2010/main" val="37691026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一个小例子</a:t>
            </a:r>
          </a:p>
        </p:txBody>
      </p:sp>
      <p:sp>
        <p:nvSpPr>
          <p:cNvPr id="3" name="内容占位符 2"/>
          <p:cNvSpPr>
            <a:spLocks noGrp="1"/>
          </p:cNvSpPr>
          <p:nvPr>
            <p:ph idx="1"/>
          </p:nvPr>
        </p:nvSpPr>
        <p:spPr>
          <a:xfrm>
            <a:off x="179513" y="1124744"/>
            <a:ext cx="8431088" cy="4752181"/>
          </a:xfrm>
        </p:spPr>
        <p:txBody>
          <a:bodyPr/>
          <a:lstStyle/>
          <a:p>
            <a:r>
              <a:rPr lang="zh-CN" altLang="en-US" sz="2000" dirty="0" smtClean="0"/>
              <a:t>在</a:t>
            </a:r>
            <a:r>
              <a:rPr lang="en-US" altLang="zh-CN" sz="2000" dirty="0" smtClean="0"/>
              <a:t>Remix</a:t>
            </a:r>
            <a:r>
              <a:rPr lang="zh-CN" altLang="en-US" sz="2000" dirty="0" smtClean="0"/>
              <a:t>环境中可以调用合约的方法，例如设置好</a:t>
            </a:r>
            <a:r>
              <a:rPr lang="en-US" altLang="zh-CN" sz="2000" dirty="0" smtClean="0"/>
              <a:t>price</a:t>
            </a:r>
            <a:r>
              <a:rPr lang="zh-CN" altLang="en-US" sz="2000" dirty="0" smtClean="0"/>
              <a:t>和</a:t>
            </a:r>
            <a:r>
              <a:rPr lang="en-US" altLang="zh-CN" sz="2000" dirty="0" smtClean="0"/>
              <a:t>count</a:t>
            </a:r>
            <a:r>
              <a:rPr lang="zh-CN" altLang="en-US" sz="2000" dirty="0" smtClean="0"/>
              <a:t>的值后调用</a:t>
            </a:r>
            <a:r>
              <a:rPr lang="en-US" altLang="zh-CN" sz="2000" dirty="0" err="1" smtClean="0"/>
              <a:t>setInfo</a:t>
            </a:r>
            <a:r>
              <a:rPr lang="en-US" altLang="zh-CN" sz="2000" dirty="0" smtClean="0"/>
              <a:t>()</a:t>
            </a:r>
            <a:r>
              <a:rPr lang="zh-CN" altLang="en-US" sz="2000" dirty="0" smtClean="0"/>
              <a:t>函数。这会执行一个交易，同样通过</a:t>
            </a:r>
            <a:r>
              <a:rPr lang="en-US" altLang="zh-CN" sz="2000" dirty="0" err="1" smtClean="0"/>
              <a:t>MetaMask</a:t>
            </a:r>
            <a:r>
              <a:rPr lang="zh-CN" altLang="en-US" sz="2000" dirty="0" smtClean="0"/>
              <a:t>钱包付款支付运行交易所需的</a:t>
            </a:r>
            <a:r>
              <a:rPr lang="en-US" altLang="zh-CN" sz="2000" dirty="0" smtClean="0"/>
              <a:t>GAS</a:t>
            </a:r>
            <a:r>
              <a:rPr lang="zh-CN" altLang="en-US" sz="2000" dirty="0" smtClean="0"/>
              <a:t>。</a:t>
            </a:r>
            <a:endParaRPr lang="zh-CN" altLang="en-US" sz="2000" dirty="0"/>
          </a:p>
        </p:txBody>
      </p:sp>
      <p:pic>
        <p:nvPicPr>
          <p:cNvPr id="5" name="图片 4"/>
          <p:cNvPicPr>
            <a:picLocks noChangeAspect="1"/>
          </p:cNvPicPr>
          <p:nvPr/>
        </p:nvPicPr>
        <p:blipFill>
          <a:blip r:embed="rId2"/>
          <a:stretch>
            <a:fillRect/>
          </a:stretch>
        </p:blipFill>
        <p:spPr>
          <a:xfrm>
            <a:off x="1763688" y="2132856"/>
            <a:ext cx="5165810" cy="4551564"/>
          </a:xfrm>
          <a:prstGeom prst="rect">
            <a:avLst/>
          </a:prstGeom>
        </p:spPr>
      </p:pic>
    </p:spTree>
    <p:extLst>
      <p:ext uri="{BB962C8B-B14F-4D97-AF65-F5344CB8AC3E}">
        <p14:creationId xmlns:p14="http://schemas.microsoft.com/office/powerpoint/2010/main" val="38709894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一个小例子</a:t>
            </a:r>
          </a:p>
        </p:txBody>
      </p:sp>
      <p:sp>
        <p:nvSpPr>
          <p:cNvPr id="3" name="内容占位符 2"/>
          <p:cNvSpPr>
            <a:spLocks noGrp="1"/>
          </p:cNvSpPr>
          <p:nvPr>
            <p:ph idx="1"/>
          </p:nvPr>
        </p:nvSpPr>
        <p:spPr>
          <a:xfrm>
            <a:off x="107504" y="1124744"/>
            <a:ext cx="8784975" cy="5328592"/>
          </a:xfrm>
        </p:spPr>
        <p:txBody>
          <a:bodyPr/>
          <a:lstStyle/>
          <a:p>
            <a:r>
              <a:rPr lang="zh-CN" altLang="en-US" dirty="0" smtClean="0"/>
              <a:t>在</a:t>
            </a:r>
            <a:r>
              <a:rPr lang="en-US" altLang="zh-CN" dirty="0" smtClean="0"/>
              <a:t>Ganache</a:t>
            </a:r>
            <a:r>
              <a:rPr lang="zh-CN" altLang="en-US" dirty="0" smtClean="0"/>
              <a:t>中可以观察到新生成的区块以及交易信息，此外，通过执行</a:t>
            </a:r>
            <a:r>
              <a:rPr lang="en-US" altLang="zh-CN" dirty="0" err="1"/>
              <a:t>getInfo</a:t>
            </a:r>
            <a:r>
              <a:rPr lang="en-US" altLang="zh-CN" dirty="0" smtClean="0"/>
              <a:t>()</a:t>
            </a:r>
            <a:r>
              <a:rPr lang="zh-CN" altLang="en-US" dirty="0" smtClean="0"/>
              <a:t>函数，可以看到合约状态变量的值已经被改变。</a:t>
            </a:r>
            <a:endParaRPr lang="zh-CN" altLang="en-US" dirty="0"/>
          </a:p>
        </p:txBody>
      </p:sp>
      <p:pic>
        <p:nvPicPr>
          <p:cNvPr id="6" name="图片 5"/>
          <p:cNvPicPr>
            <a:picLocks noChangeAspect="1"/>
          </p:cNvPicPr>
          <p:nvPr/>
        </p:nvPicPr>
        <p:blipFill>
          <a:blip r:embed="rId2"/>
          <a:stretch>
            <a:fillRect/>
          </a:stretch>
        </p:blipFill>
        <p:spPr>
          <a:xfrm>
            <a:off x="251520" y="2768980"/>
            <a:ext cx="5481683" cy="3665240"/>
          </a:xfrm>
          <a:prstGeom prst="rect">
            <a:avLst/>
          </a:prstGeom>
        </p:spPr>
      </p:pic>
      <p:pic>
        <p:nvPicPr>
          <p:cNvPr id="7" name="图片 6"/>
          <p:cNvPicPr>
            <a:picLocks noChangeAspect="1"/>
          </p:cNvPicPr>
          <p:nvPr/>
        </p:nvPicPr>
        <p:blipFill>
          <a:blip r:embed="rId3"/>
          <a:stretch>
            <a:fillRect/>
          </a:stretch>
        </p:blipFill>
        <p:spPr>
          <a:xfrm>
            <a:off x="6084168" y="2996952"/>
            <a:ext cx="2667000" cy="3362325"/>
          </a:xfrm>
          <a:prstGeom prst="rect">
            <a:avLst/>
          </a:prstGeom>
        </p:spPr>
      </p:pic>
    </p:spTree>
    <p:extLst>
      <p:ext uri="{BB962C8B-B14F-4D97-AF65-F5344CB8AC3E}">
        <p14:creationId xmlns:p14="http://schemas.microsoft.com/office/powerpoint/2010/main" val="27981481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一个小例子</a:t>
            </a:r>
          </a:p>
        </p:txBody>
      </p:sp>
      <p:sp>
        <p:nvSpPr>
          <p:cNvPr id="3" name="内容占位符 2"/>
          <p:cNvSpPr>
            <a:spLocks noGrp="1"/>
          </p:cNvSpPr>
          <p:nvPr>
            <p:ph idx="1"/>
          </p:nvPr>
        </p:nvSpPr>
        <p:spPr>
          <a:xfrm>
            <a:off x="323529" y="1196752"/>
            <a:ext cx="8287072" cy="4680173"/>
          </a:xfrm>
        </p:spPr>
        <p:txBody>
          <a:bodyPr/>
          <a:lstStyle/>
          <a:p>
            <a:r>
              <a:rPr lang="zh-CN" altLang="en-US" dirty="0" smtClean="0"/>
              <a:t>构造前端网页界面</a:t>
            </a:r>
            <a:r>
              <a:rPr lang="en-US" altLang="zh-CN" dirty="0" smtClean="0"/>
              <a:t>index.html</a:t>
            </a:r>
            <a:endParaRPr lang="zh-CN" altLang="en-US" dirty="0"/>
          </a:p>
        </p:txBody>
      </p:sp>
      <p:sp>
        <p:nvSpPr>
          <p:cNvPr id="4" name="文本框 3"/>
          <p:cNvSpPr txBox="1"/>
          <p:nvPr/>
        </p:nvSpPr>
        <p:spPr>
          <a:xfrm>
            <a:off x="611560" y="1844824"/>
            <a:ext cx="7999041" cy="4662815"/>
          </a:xfrm>
          <a:prstGeom prst="rect">
            <a:avLst/>
          </a:prstGeom>
          <a:noFill/>
        </p:spPr>
        <p:txBody>
          <a:bodyPr wrap="square" rtlCol="0">
            <a:spAutoFit/>
          </a:bodyPr>
          <a:lstStyle/>
          <a:p>
            <a:r>
              <a:rPr lang="en-US" altLang="zh-CN" sz="1100" dirty="0"/>
              <a:t>&lt;!DOCTYPE html&gt;</a:t>
            </a:r>
          </a:p>
          <a:p>
            <a:r>
              <a:rPr lang="en-US" altLang="zh-CN" sz="1100" dirty="0"/>
              <a:t>&lt;html </a:t>
            </a:r>
            <a:r>
              <a:rPr lang="en-US" altLang="zh-CN" sz="1100" dirty="0" err="1"/>
              <a:t>lang</a:t>
            </a:r>
            <a:r>
              <a:rPr lang="en-US" altLang="zh-CN" sz="1100" dirty="0"/>
              <a:t>="</a:t>
            </a:r>
            <a:r>
              <a:rPr lang="en-US" altLang="zh-CN" sz="1100" dirty="0" err="1"/>
              <a:t>en</a:t>
            </a:r>
            <a:r>
              <a:rPr lang="en-US" altLang="zh-CN" sz="1100" dirty="0"/>
              <a:t>"&gt;</a:t>
            </a:r>
          </a:p>
          <a:p>
            <a:r>
              <a:rPr lang="en-US" altLang="zh-CN" sz="1100" dirty="0"/>
              <a:t>&lt;head&gt;</a:t>
            </a:r>
          </a:p>
          <a:p>
            <a:r>
              <a:rPr lang="en-US" altLang="zh-CN" sz="1100" dirty="0"/>
              <a:t>    &lt;meta charset="UTF-8"&gt;</a:t>
            </a:r>
          </a:p>
          <a:p>
            <a:r>
              <a:rPr lang="en-US" altLang="zh-CN" sz="1100" dirty="0"/>
              <a:t>    &lt;meta name="viewport" content="width=device-width, initial-scale=1.0"&gt;</a:t>
            </a:r>
          </a:p>
          <a:p>
            <a:r>
              <a:rPr lang="en-US" altLang="zh-CN" sz="1100" dirty="0"/>
              <a:t>    &lt;meta http-</a:t>
            </a:r>
            <a:r>
              <a:rPr lang="en-US" altLang="zh-CN" sz="1100" dirty="0" err="1"/>
              <a:t>equiv</a:t>
            </a:r>
            <a:r>
              <a:rPr lang="en-US" altLang="zh-CN" sz="1100" dirty="0"/>
              <a:t>="X-UA-Compatible" content="</a:t>
            </a:r>
            <a:r>
              <a:rPr lang="en-US" altLang="zh-CN" sz="1100" dirty="0" err="1"/>
              <a:t>ie</a:t>
            </a:r>
            <a:r>
              <a:rPr lang="en-US" altLang="zh-CN" sz="1100" dirty="0"/>
              <a:t>=edge"&gt;</a:t>
            </a:r>
          </a:p>
          <a:p>
            <a:r>
              <a:rPr lang="en-US" altLang="zh-CN" sz="1100" dirty="0"/>
              <a:t>    &lt;</a:t>
            </a:r>
            <a:r>
              <a:rPr lang="en-US" altLang="zh-CN" sz="1100" dirty="0" smtClean="0"/>
              <a:t>title&gt;solidity contract demo&lt;/</a:t>
            </a:r>
            <a:r>
              <a:rPr lang="en-US" altLang="zh-CN" sz="1100" dirty="0"/>
              <a:t>title&gt;</a:t>
            </a:r>
          </a:p>
          <a:p>
            <a:r>
              <a:rPr lang="en-US" altLang="zh-CN" sz="1100" dirty="0" smtClean="0"/>
              <a:t>demo of web3 and solidity contract</a:t>
            </a:r>
            <a:endParaRPr lang="en-US" altLang="zh-CN" sz="1100" dirty="0"/>
          </a:p>
          <a:p>
            <a:r>
              <a:rPr lang="en-US" altLang="zh-CN" sz="1100" dirty="0" smtClean="0"/>
              <a:t>    </a:t>
            </a:r>
            <a:r>
              <a:rPr lang="en-US" altLang="zh-CN" sz="1100" dirty="0"/>
              <a:t>&lt;link </a:t>
            </a:r>
            <a:r>
              <a:rPr lang="en-US" altLang="zh-CN" sz="1100" dirty="0" err="1"/>
              <a:t>rel</a:t>
            </a:r>
            <a:r>
              <a:rPr lang="en-US" altLang="zh-CN" sz="1100" dirty="0"/>
              <a:t>="stylesheet" type="text/</a:t>
            </a:r>
            <a:r>
              <a:rPr lang="en-US" altLang="zh-CN" sz="1100" dirty="0" err="1"/>
              <a:t>css</a:t>
            </a:r>
            <a:r>
              <a:rPr lang="en-US" altLang="zh-CN" sz="1100" dirty="0"/>
              <a:t>" </a:t>
            </a:r>
            <a:r>
              <a:rPr lang="en-US" altLang="zh-CN" sz="1100" dirty="0" err="1"/>
              <a:t>href</a:t>
            </a:r>
            <a:r>
              <a:rPr lang="en-US" altLang="zh-CN" sz="1100" dirty="0"/>
              <a:t>="main.css"&gt;</a:t>
            </a:r>
          </a:p>
          <a:p>
            <a:r>
              <a:rPr lang="en-US" altLang="zh-CN" sz="1100" dirty="0" smtClean="0"/>
              <a:t>    &lt;</a:t>
            </a:r>
            <a:r>
              <a:rPr lang="en-US" altLang="zh-CN" sz="1100" dirty="0"/>
              <a:t>script </a:t>
            </a:r>
            <a:r>
              <a:rPr lang="en-US" altLang="zh-CN" sz="1100" dirty="0" err="1"/>
              <a:t>src</a:t>
            </a:r>
            <a:r>
              <a:rPr lang="en-US" altLang="zh-CN" sz="1100" dirty="0"/>
              <a:t>="./web3.min.js"&gt;&lt;/script&gt;</a:t>
            </a:r>
          </a:p>
          <a:p>
            <a:r>
              <a:rPr lang="en-US" altLang="zh-CN" sz="1100" dirty="0" smtClean="0"/>
              <a:t>&lt;/</a:t>
            </a:r>
            <a:r>
              <a:rPr lang="en-US" altLang="zh-CN" sz="1100" dirty="0"/>
              <a:t>head&gt;</a:t>
            </a:r>
          </a:p>
          <a:p>
            <a:r>
              <a:rPr lang="en-US" altLang="zh-CN" sz="1100" dirty="0"/>
              <a:t>&lt;body&gt;</a:t>
            </a:r>
          </a:p>
          <a:p>
            <a:r>
              <a:rPr lang="en-US" altLang="zh-CN" sz="1100" dirty="0"/>
              <a:t>    &lt;div class="container"&gt;</a:t>
            </a:r>
          </a:p>
          <a:p>
            <a:r>
              <a:rPr lang="en-US" altLang="zh-CN" sz="1100" dirty="0" smtClean="0"/>
              <a:t>        </a:t>
            </a:r>
            <a:r>
              <a:rPr lang="en-US" altLang="zh-CN" sz="1100" dirty="0"/>
              <a:t>&lt;h1&gt;Info Contract&lt;/h1&gt;</a:t>
            </a:r>
          </a:p>
          <a:p>
            <a:r>
              <a:rPr lang="en-US" altLang="zh-CN" sz="1100" dirty="0" smtClean="0"/>
              <a:t>        </a:t>
            </a:r>
            <a:r>
              <a:rPr lang="en-US" altLang="zh-CN" sz="1100" dirty="0"/>
              <a:t>&lt;h2 id="info"&gt;&lt;/h2&gt;</a:t>
            </a:r>
          </a:p>
          <a:p>
            <a:r>
              <a:rPr lang="en-US" altLang="zh-CN" sz="1100" dirty="0" smtClean="0"/>
              <a:t>        </a:t>
            </a:r>
            <a:r>
              <a:rPr lang="en-US" altLang="zh-CN" sz="1100" dirty="0"/>
              <a:t>&lt;label for="count" class="col-lg-2 control-label"&gt;Count&lt;/label&gt;</a:t>
            </a:r>
          </a:p>
          <a:p>
            <a:r>
              <a:rPr lang="en-US" altLang="zh-CN" sz="1100" dirty="0"/>
              <a:t>        &lt;input id="count" type="text"&gt;</a:t>
            </a:r>
          </a:p>
          <a:p>
            <a:r>
              <a:rPr lang="en-US" altLang="zh-CN" sz="1100" dirty="0" smtClean="0"/>
              <a:t>        </a:t>
            </a:r>
            <a:r>
              <a:rPr lang="en-US" altLang="zh-CN" sz="1100" dirty="0"/>
              <a:t>&lt;label for="price" class="col-lg-2 control-label"&gt;Price&lt;/label&gt;</a:t>
            </a:r>
          </a:p>
          <a:p>
            <a:r>
              <a:rPr lang="en-US" altLang="zh-CN" sz="1100" dirty="0"/>
              <a:t>        &lt;input id="price" type="text"&gt;</a:t>
            </a:r>
          </a:p>
          <a:p>
            <a:r>
              <a:rPr lang="en-US" altLang="zh-CN" sz="1100" dirty="0" smtClean="0"/>
              <a:t>        </a:t>
            </a:r>
            <a:r>
              <a:rPr lang="en-US" altLang="zh-CN" sz="1100" dirty="0"/>
              <a:t>&lt;button id="button"&gt;Update Info&lt;/button&gt;</a:t>
            </a:r>
          </a:p>
          <a:p>
            <a:r>
              <a:rPr lang="en-US" altLang="zh-CN" sz="1100" dirty="0" smtClean="0"/>
              <a:t>    </a:t>
            </a:r>
            <a:r>
              <a:rPr lang="en-US" altLang="zh-CN" sz="1100" dirty="0"/>
              <a:t>&lt;/div</a:t>
            </a:r>
            <a:r>
              <a:rPr lang="en-US" altLang="zh-CN" sz="1100" dirty="0" smtClean="0"/>
              <a:t>&gt;</a:t>
            </a:r>
          </a:p>
          <a:p>
            <a:r>
              <a:rPr lang="en-US" altLang="zh-CN" sz="1100" dirty="0" smtClean="0"/>
              <a:t>   &lt;</a:t>
            </a:r>
            <a:r>
              <a:rPr lang="en-US" altLang="zh-CN" sz="1100" dirty="0"/>
              <a:t>script </a:t>
            </a:r>
            <a:r>
              <a:rPr lang="en-US" altLang="zh-CN" sz="1100" dirty="0" err="1"/>
              <a:t>src</a:t>
            </a:r>
            <a:r>
              <a:rPr lang="en-US" altLang="zh-CN" sz="1100" dirty="0"/>
              <a:t>="https://code.jquery.com/jquery-3.2.1.slim.min.js"&gt;&lt;/script&gt;</a:t>
            </a:r>
          </a:p>
          <a:p>
            <a:r>
              <a:rPr lang="en-US" altLang="zh-CN" sz="1100" dirty="0" smtClean="0"/>
              <a:t>   &lt;</a:t>
            </a:r>
            <a:r>
              <a:rPr lang="en-US" altLang="zh-CN" sz="1100" dirty="0"/>
              <a:t>script&gt;</a:t>
            </a:r>
          </a:p>
          <a:p>
            <a:r>
              <a:rPr lang="en-US" altLang="zh-CN" sz="1100" b="1" dirty="0">
                <a:solidFill>
                  <a:srgbClr val="FF0000"/>
                </a:solidFill>
              </a:rPr>
              <a:t>       // </a:t>
            </a:r>
            <a:r>
              <a:rPr lang="zh-CN" altLang="en-US" sz="1100" b="1" dirty="0" smtClean="0">
                <a:solidFill>
                  <a:srgbClr val="FF0000"/>
                </a:solidFill>
              </a:rPr>
              <a:t>实际完成调用合约还有监听事件的</a:t>
            </a:r>
            <a:r>
              <a:rPr lang="en-US" altLang="zh-CN" sz="1100" b="1" dirty="0" smtClean="0">
                <a:solidFill>
                  <a:srgbClr val="FF0000"/>
                </a:solidFill>
              </a:rPr>
              <a:t>JS</a:t>
            </a:r>
            <a:r>
              <a:rPr lang="zh-CN" altLang="en-US" sz="1100" b="1" dirty="0" smtClean="0">
                <a:solidFill>
                  <a:srgbClr val="FF0000"/>
                </a:solidFill>
              </a:rPr>
              <a:t>代码放在这里</a:t>
            </a:r>
            <a:endParaRPr lang="en-US" altLang="zh-CN" sz="1100" b="1" dirty="0" smtClean="0">
              <a:solidFill>
                <a:srgbClr val="FF0000"/>
              </a:solidFill>
            </a:endParaRPr>
          </a:p>
          <a:p>
            <a:r>
              <a:rPr lang="en-US" altLang="zh-CN" sz="1100" dirty="0" smtClean="0"/>
              <a:t>    </a:t>
            </a:r>
            <a:r>
              <a:rPr lang="en-US" altLang="zh-CN" sz="1100" dirty="0"/>
              <a:t>&lt;/script&gt;</a:t>
            </a:r>
          </a:p>
          <a:p>
            <a:r>
              <a:rPr lang="en-US" altLang="zh-CN" sz="1100" dirty="0" smtClean="0"/>
              <a:t>&lt;/</a:t>
            </a:r>
            <a:r>
              <a:rPr lang="en-US" altLang="zh-CN" sz="1100" dirty="0"/>
              <a:t>body&gt;</a:t>
            </a:r>
          </a:p>
          <a:p>
            <a:r>
              <a:rPr lang="en-US" altLang="zh-CN" sz="1100" dirty="0"/>
              <a:t>&lt;/html&gt;</a:t>
            </a:r>
            <a:endParaRPr lang="zh-CN" altLang="en-US" sz="1100" dirty="0"/>
          </a:p>
        </p:txBody>
      </p:sp>
      <p:sp>
        <p:nvSpPr>
          <p:cNvPr id="5" name="文本框 4"/>
          <p:cNvSpPr txBox="1"/>
          <p:nvPr/>
        </p:nvSpPr>
        <p:spPr>
          <a:xfrm>
            <a:off x="6012160" y="2348880"/>
            <a:ext cx="2160240" cy="646331"/>
          </a:xfrm>
          <a:prstGeom prst="rect">
            <a:avLst/>
          </a:prstGeom>
          <a:noFill/>
        </p:spPr>
        <p:txBody>
          <a:bodyPr wrap="square" rtlCol="0">
            <a:spAutoFit/>
          </a:bodyPr>
          <a:lstStyle/>
          <a:p>
            <a:r>
              <a:rPr lang="zh-CN" altLang="en-US" dirty="0" smtClean="0"/>
              <a:t>用于显示更新后状态信息的页面元素</a:t>
            </a:r>
            <a:endParaRPr lang="zh-CN" altLang="en-US" dirty="0"/>
          </a:p>
        </p:txBody>
      </p:sp>
      <p:cxnSp>
        <p:nvCxnSpPr>
          <p:cNvPr id="7" name="直接箭头连接符 6"/>
          <p:cNvCxnSpPr>
            <a:stCxn id="5" idx="1"/>
          </p:cNvCxnSpPr>
          <p:nvPr/>
        </p:nvCxnSpPr>
        <p:spPr bwMode="auto">
          <a:xfrm flipH="1">
            <a:off x="2195736" y="2672046"/>
            <a:ext cx="3816424" cy="1621050"/>
          </a:xfrm>
          <a:prstGeom prst="straightConnector1">
            <a:avLst/>
          </a:prstGeom>
          <a:solidFill>
            <a:schemeClr val="bg1"/>
          </a:solidFill>
          <a:ln w="9525" cap="flat" cmpd="sng" algn="ctr">
            <a:solidFill>
              <a:srgbClr val="FF0000"/>
            </a:solidFill>
            <a:prstDash val="solid"/>
            <a:round/>
            <a:headEnd type="none" w="med" len="med"/>
            <a:tailEnd type="triangle"/>
          </a:ln>
          <a:effectLst/>
        </p:spPr>
      </p:cxnSp>
      <p:sp>
        <p:nvSpPr>
          <p:cNvPr id="8" name="文本框 7"/>
          <p:cNvSpPr txBox="1"/>
          <p:nvPr/>
        </p:nvSpPr>
        <p:spPr>
          <a:xfrm>
            <a:off x="6253883" y="3320117"/>
            <a:ext cx="1656184" cy="646331"/>
          </a:xfrm>
          <a:prstGeom prst="rect">
            <a:avLst/>
          </a:prstGeom>
          <a:noFill/>
        </p:spPr>
        <p:txBody>
          <a:bodyPr wrap="square" rtlCol="0">
            <a:spAutoFit/>
          </a:bodyPr>
          <a:lstStyle/>
          <a:p>
            <a:r>
              <a:rPr lang="zh-CN" altLang="en-US" dirty="0" smtClean="0"/>
              <a:t>填写数量的页面文本框对象</a:t>
            </a:r>
            <a:endParaRPr lang="zh-CN" altLang="en-US" dirty="0"/>
          </a:p>
        </p:txBody>
      </p:sp>
      <p:cxnSp>
        <p:nvCxnSpPr>
          <p:cNvPr id="10" name="直接箭头连接符 9"/>
          <p:cNvCxnSpPr/>
          <p:nvPr/>
        </p:nvCxnSpPr>
        <p:spPr bwMode="auto">
          <a:xfrm flipH="1">
            <a:off x="2810881" y="3786255"/>
            <a:ext cx="3312368" cy="865837"/>
          </a:xfrm>
          <a:prstGeom prst="straightConnector1">
            <a:avLst/>
          </a:prstGeom>
          <a:solidFill>
            <a:schemeClr val="bg1"/>
          </a:solidFill>
          <a:ln w="9525" cap="flat" cmpd="sng" algn="ctr">
            <a:solidFill>
              <a:srgbClr val="FF0000"/>
            </a:solidFill>
            <a:prstDash val="solid"/>
            <a:round/>
            <a:headEnd type="none" w="med" len="med"/>
            <a:tailEnd type="triangle"/>
          </a:ln>
          <a:effectLst/>
        </p:spPr>
      </p:cxnSp>
      <p:sp>
        <p:nvSpPr>
          <p:cNvPr id="13" name="文本框 12"/>
          <p:cNvSpPr txBox="1"/>
          <p:nvPr/>
        </p:nvSpPr>
        <p:spPr>
          <a:xfrm>
            <a:off x="6253883" y="4365104"/>
            <a:ext cx="1656184" cy="646331"/>
          </a:xfrm>
          <a:prstGeom prst="rect">
            <a:avLst/>
          </a:prstGeom>
          <a:noFill/>
        </p:spPr>
        <p:txBody>
          <a:bodyPr wrap="square" rtlCol="0">
            <a:spAutoFit/>
          </a:bodyPr>
          <a:lstStyle/>
          <a:p>
            <a:r>
              <a:rPr lang="zh-CN" altLang="en-US" dirty="0" smtClean="0"/>
              <a:t>填写单价的页面文本框对象</a:t>
            </a:r>
            <a:endParaRPr lang="zh-CN" altLang="en-US" dirty="0"/>
          </a:p>
        </p:txBody>
      </p:sp>
      <p:cxnSp>
        <p:nvCxnSpPr>
          <p:cNvPr id="15" name="直接箭头连接符 14"/>
          <p:cNvCxnSpPr/>
          <p:nvPr/>
        </p:nvCxnSpPr>
        <p:spPr bwMode="auto">
          <a:xfrm flipH="1">
            <a:off x="2810881" y="4725144"/>
            <a:ext cx="3443003" cy="251854"/>
          </a:xfrm>
          <a:prstGeom prst="straightConnector1">
            <a:avLst/>
          </a:prstGeom>
          <a:solidFill>
            <a:schemeClr val="bg1"/>
          </a:solidFill>
          <a:ln w="9525" cap="flat" cmpd="sng" algn="ctr">
            <a:solidFill>
              <a:srgbClr val="FF0000"/>
            </a:solidFill>
            <a:prstDash val="solid"/>
            <a:round/>
            <a:headEnd type="none" w="med" len="med"/>
            <a:tailEnd type="triangle"/>
          </a:ln>
          <a:effectLst/>
        </p:spPr>
      </p:cxnSp>
      <p:sp>
        <p:nvSpPr>
          <p:cNvPr id="16" name="文本框 15"/>
          <p:cNvSpPr txBox="1"/>
          <p:nvPr/>
        </p:nvSpPr>
        <p:spPr>
          <a:xfrm>
            <a:off x="6300192" y="5301208"/>
            <a:ext cx="1512168" cy="1200329"/>
          </a:xfrm>
          <a:prstGeom prst="rect">
            <a:avLst/>
          </a:prstGeom>
          <a:noFill/>
        </p:spPr>
        <p:txBody>
          <a:bodyPr wrap="square" rtlCol="0">
            <a:spAutoFit/>
          </a:bodyPr>
          <a:lstStyle/>
          <a:p>
            <a:r>
              <a:rPr lang="zh-CN" altLang="en-US" dirty="0" smtClean="0"/>
              <a:t>提交更新信息，并调用合约函数的按钮对象</a:t>
            </a:r>
            <a:endParaRPr lang="zh-CN" altLang="en-US" dirty="0"/>
          </a:p>
        </p:txBody>
      </p:sp>
      <p:cxnSp>
        <p:nvCxnSpPr>
          <p:cNvPr id="18" name="直接箭头连接符 17"/>
          <p:cNvCxnSpPr/>
          <p:nvPr/>
        </p:nvCxnSpPr>
        <p:spPr bwMode="auto">
          <a:xfrm flipH="1" flipV="1">
            <a:off x="3491880" y="5266771"/>
            <a:ext cx="2808312" cy="466486"/>
          </a:xfrm>
          <a:prstGeom prst="straightConnector1">
            <a:avLst/>
          </a:prstGeom>
          <a:solidFill>
            <a:schemeClr val="bg1"/>
          </a:solidFill>
          <a:ln w="9525" cap="flat" cmpd="sng" algn="ctr">
            <a:solidFill>
              <a:srgbClr val="FF0000"/>
            </a:solidFill>
            <a:prstDash val="solid"/>
            <a:round/>
            <a:headEnd type="none" w="med" len="med"/>
            <a:tailEnd type="triangle"/>
          </a:ln>
          <a:effectLst/>
        </p:spPr>
      </p:cxnSp>
      <p:sp>
        <p:nvSpPr>
          <p:cNvPr id="22" name="文本框 21"/>
          <p:cNvSpPr txBox="1"/>
          <p:nvPr/>
        </p:nvSpPr>
        <p:spPr>
          <a:xfrm>
            <a:off x="6335688" y="259658"/>
            <a:ext cx="2808312" cy="1477328"/>
          </a:xfrm>
          <a:prstGeom prst="rect">
            <a:avLst/>
          </a:prstGeom>
          <a:noFill/>
        </p:spPr>
        <p:txBody>
          <a:bodyPr wrap="square" rtlCol="0">
            <a:spAutoFit/>
          </a:bodyPr>
          <a:lstStyle/>
          <a:p>
            <a:r>
              <a:rPr lang="zh-CN" altLang="en-US" dirty="0" smtClean="0"/>
              <a:t>层叠</a:t>
            </a:r>
            <a:r>
              <a:rPr lang="zh-CN" altLang="en-US" dirty="0"/>
              <a:t>样式</a:t>
            </a:r>
            <a:r>
              <a:rPr lang="zh-CN" altLang="en-US" dirty="0" smtClean="0"/>
              <a:t>表文件</a:t>
            </a:r>
            <a:endParaRPr lang="en-US" altLang="zh-CN" dirty="0" smtClean="0"/>
          </a:p>
          <a:p>
            <a:r>
              <a:rPr lang="en-US" altLang="zh-CN" dirty="0" smtClean="0"/>
              <a:t>   main.css</a:t>
            </a:r>
            <a:endParaRPr lang="en-US" altLang="zh-CN" dirty="0"/>
          </a:p>
          <a:p>
            <a:r>
              <a:rPr lang="en-US" altLang="zh-CN" dirty="0" smtClean="0"/>
              <a:t>web3</a:t>
            </a:r>
            <a:r>
              <a:rPr lang="zh-CN" altLang="en-US" dirty="0" smtClean="0"/>
              <a:t>的库</a:t>
            </a:r>
            <a:endParaRPr lang="en-US" altLang="zh-CN" dirty="0" smtClean="0"/>
          </a:p>
          <a:p>
            <a:r>
              <a:rPr lang="en-US" altLang="zh-CN" dirty="0" smtClean="0"/>
              <a:t>  web3.min.js</a:t>
            </a:r>
          </a:p>
          <a:p>
            <a:r>
              <a:rPr lang="en-US" altLang="zh-CN" dirty="0" smtClean="0"/>
              <a:t>  jquery-3.2.1.slim.min.js</a:t>
            </a:r>
            <a:endParaRPr lang="zh-CN" altLang="en-US" dirty="0"/>
          </a:p>
        </p:txBody>
      </p:sp>
      <p:cxnSp>
        <p:nvCxnSpPr>
          <p:cNvPr id="24" name="直接箭头连接符 23"/>
          <p:cNvCxnSpPr/>
          <p:nvPr/>
        </p:nvCxnSpPr>
        <p:spPr bwMode="auto">
          <a:xfrm flipH="1">
            <a:off x="3779912" y="736437"/>
            <a:ext cx="2865475" cy="2494398"/>
          </a:xfrm>
          <a:prstGeom prst="straightConnector1">
            <a:avLst/>
          </a:prstGeom>
          <a:solidFill>
            <a:schemeClr val="bg1"/>
          </a:solidFill>
          <a:ln w="9525" cap="flat" cmpd="sng" algn="ctr">
            <a:solidFill>
              <a:srgbClr val="FF0000"/>
            </a:solidFill>
            <a:prstDash val="solid"/>
            <a:round/>
            <a:headEnd type="none" w="med" len="med"/>
            <a:tailEnd type="triangle"/>
          </a:ln>
          <a:effectLst/>
        </p:spPr>
      </p:cxnSp>
      <p:cxnSp>
        <p:nvCxnSpPr>
          <p:cNvPr id="26" name="直接箭头连接符 25"/>
          <p:cNvCxnSpPr/>
          <p:nvPr/>
        </p:nvCxnSpPr>
        <p:spPr bwMode="auto">
          <a:xfrm flipH="1">
            <a:off x="2195737" y="1280896"/>
            <a:ext cx="4449650" cy="2146363"/>
          </a:xfrm>
          <a:prstGeom prst="straightConnector1">
            <a:avLst/>
          </a:prstGeom>
          <a:solidFill>
            <a:schemeClr val="bg1"/>
          </a:solidFill>
          <a:ln w="9525" cap="flat" cmpd="sng" algn="ctr">
            <a:solidFill>
              <a:srgbClr val="FF0000"/>
            </a:solidFill>
            <a:prstDash val="solid"/>
            <a:round/>
            <a:headEnd type="none" w="med" len="med"/>
            <a:tailEnd type="triangle"/>
          </a:ln>
          <a:effectLst/>
        </p:spPr>
      </p:cxnSp>
      <p:cxnSp>
        <p:nvCxnSpPr>
          <p:cNvPr id="28" name="直接箭头连接符 27"/>
          <p:cNvCxnSpPr/>
          <p:nvPr/>
        </p:nvCxnSpPr>
        <p:spPr bwMode="auto">
          <a:xfrm flipH="1">
            <a:off x="2664123" y="1587860"/>
            <a:ext cx="4212133" cy="3933597"/>
          </a:xfrm>
          <a:prstGeom prst="straightConnector1">
            <a:avLst/>
          </a:prstGeom>
          <a:solidFill>
            <a:schemeClr val="bg1"/>
          </a:solidFill>
          <a:ln w="952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0528210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一个小例子</a:t>
            </a:r>
          </a:p>
        </p:txBody>
      </p:sp>
      <p:sp>
        <p:nvSpPr>
          <p:cNvPr id="3" name="内容占位符 2"/>
          <p:cNvSpPr>
            <a:spLocks noGrp="1"/>
          </p:cNvSpPr>
          <p:nvPr>
            <p:ph idx="1"/>
          </p:nvPr>
        </p:nvSpPr>
        <p:spPr>
          <a:xfrm>
            <a:off x="310170" y="978983"/>
            <a:ext cx="8287072" cy="4752181"/>
          </a:xfrm>
        </p:spPr>
        <p:txBody>
          <a:bodyPr/>
          <a:lstStyle/>
          <a:p>
            <a:r>
              <a:rPr lang="zh-CN" altLang="en-US" sz="2400" dirty="0" smtClean="0"/>
              <a:t>与合约交互的</a:t>
            </a:r>
            <a:r>
              <a:rPr lang="en-US" altLang="zh-CN" sz="2400" dirty="0" smtClean="0"/>
              <a:t>JS</a:t>
            </a:r>
            <a:r>
              <a:rPr lang="zh-CN" altLang="en-US" sz="2400" dirty="0" smtClean="0"/>
              <a:t>代码</a:t>
            </a:r>
            <a:endParaRPr lang="zh-CN" altLang="en-US" sz="2400" dirty="0"/>
          </a:p>
        </p:txBody>
      </p:sp>
      <p:sp>
        <p:nvSpPr>
          <p:cNvPr id="4" name="文本框 3"/>
          <p:cNvSpPr txBox="1"/>
          <p:nvPr/>
        </p:nvSpPr>
        <p:spPr>
          <a:xfrm>
            <a:off x="179512" y="1628800"/>
            <a:ext cx="8208143" cy="5078313"/>
          </a:xfrm>
          <a:prstGeom prst="rect">
            <a:avLst/>
          </a:prstGeom>
          <a:noFill/>
        </p:spPr>
        <p:txBody>
          <a:bodyPr wrap="square" rtlCol="0">
            <a:spAutoFit/>
          </a:bodyPr>
          <a:lstStyle/>
          <a:p>
            <a:r>
              <a:rPr lang="en-US" altLang="zh-CN" sz="1200" dirty="0"/>
              <a:t> &lt;script&gt;</a:t>
            </a:r>
          </a:p>
          <a:p>
            <a:r>
              <a:rPr lang="en-US" altLang="zh-CN" sz="1200" dirty="0"/>
              <a:t>       if (</a:t>
            </a:r>
            <a:r>
              <a:rPr lang="en-US" altLang="zh-CN" sz="1200" dirty="0" err="1"/>
              <a:t>typeof</a:t>
            </a:r>
            <a:r>
              <a:rPr lang="en-US" altLang="zh-CN" sz="1200" dirty="0"/>
              <a:t> web3 !== 'undefined') {</a:t>
            </a:r>
          </a:p>
          <a:p>
            <a:r>
              <a:rPr lang="en-US" altLang="zh-CN" sz="1200" dirty="0"/>
              <a:t>        	web3 = new Web3(web3.currentProvider);</a:t>
            </a:r>
          </a:p>
          <a:p>
            <a:r>
              <a:rPr lang="en-US" altLang="zh-CN" sz="1200" dirty="0"/>
              <a:t>    	}</a:t>
            </a:r>
          </a:p>
          <a:p>
            <a:r>
              <a:rPr lang="en-US" altLang="zh-CN" sz="1200" dirty="0"/>
              <a:t>	else{</a:t>
            </a:r>
          </a:p>
          <a:p>
            <a:r>
              <a:rPr lang="en-US" altLang="zh-CN" sz="1200" dirty="0"/>
              <a:t>	        // set the provider you want from Web3.providers</a:t>
            </a:r>
          </a:p>
          <a:p>
            <a:r>
              <a:rPr lang="en-US" altLang="zh-CN" sz="1200" dirty="0"/>
              <a:t>        	web3 = new Web3(new Web3.providers.HttpProvider("http://localhost:7545"));</a:t>
            </a:r>
          </a:p>
          <a:p>
            <a:r>
              <a:rPr lang="en-US" altLang="zh-CN" sz="1200" dirty="0"/>
              <a:t>   	}</a:t>
            </a:r>
          </a:p>
          <a:p>
            <a:r>
              <a:rPr lang="en-US" altLang="zh-CN" sz="1200" dirty="0"/>
              <a:t>	web3.eth.defaultAccount = web3.eth.accounts[0];</a:t>
            </a:r>
          </a:p>
          <a:p>
            <a:r>
              <a:rPr lang="en-US" altLang="zh-CN" sz="1200" dirty="0"/>
              <a:t>	</a:t>
            </a:r>
            <a:r>
              <a:rPr lang="en-US" altLang="zh-CN" sz="1200" dirty="0" err="1"/>
              <a:t>var</a:t>
            </a:r>
            <a:r>
              <a:rPr lang="en-US" altLang="zh-CN" sz="1200" dirty="0"/>
              <a:t> </a:t>
            </a:r>
            <a:r>
              <a:rPr lang="en-US" altLang="zh-CN" sz="1200" dirty="0" err="1"/>
              <a:t>infoContract</a:t>
            </a:r>
            <a:r>
              <a:rPr lang="en-US" altLang="zh-CN" sz="1200" dirty="0"/>
              <a:t> = web3.eth.contract(</a:t>
            </a:r>
            <a:r>
              <a:rPr lang="zh-CN" altLang="en-US" sz="1200" dirty="0"/>
              <a:t>复制合约</a:t>
            </a:r>
            <a:r>
              <a:rPr lang="en-US" altLang="zh-CN" sz="1200" dirty="0"/>
              <a:t>ABI</a:t>
            </a:r>
            <a:r>
              <a:rPr lang="zh-CN" altLang="en-US" sz="1200" dirty="0"/>
              <a:t>到这里</a:t>
            </a:r>
            <a:r>
              <a:rPr lang="en-US" altLang="zh-CN" sz="1200" dirty="0"/>
              <a:t>);</a:t>
            </a:r>
          </a:p>
          <a:p>
            <a:r>
              <a:rPr lang="en-US" altLang="zh-CN" sz="1200" dirty="0"/>
              <a:t>	</a:t>
            </a:r>
            <a:r>
              <a:rPr lang="en-US" altLang="zh-CN" sz="1200" dirty="0" err="1"/>
              <a:t>var</a:t>
            </a:r>
            <a:r>
              <a:rPr lang="en-US" altLang="zh-CN" sz="1200" dirty="0"/>
              <a:t> info = infoContract.at('0xf126cc3291FAa74E67cBF83fFB7a4F32F0c06E87');</a:t>
            </a:r>
          </a:p>
          <a:p>
            <a:r>
              <a:rPr lang="en-US" altLang="zh-CN" sz="1200" dirty="0"/>
              <a:t>	</a:t>
            </a:r>
            <a:r>
              <a:rPr lang="en-US" altLang="zh-CN" sz="1200" dirty="0" err="1"/>
              <a:t>var</a:t>
            </a:r>
            <a:r>
              <a:rPr lang="en-US" altLang="zh-CN" sz="1200" dirty="0"/>
              <a:t> </a:t>
            </a:r>
            <a:r>
              <a:rPr lang="en-US" altLang="zh-CN" sz="1200" dirty="0" err="1"/>
              <a:t>AfterSetEvent</a:t>
            </a:r>
            <a:r>
              <a:rPr lang="en-US" altLang="zh-CN" sz="1200" dirty="0"/>
              <a:t> = </a:t>
            </a:r>
            <a:r>
              <a:rPr lang="en-US" altLang="zh-CN" sz="1200" dirty="0" err="1"/>
              <a:t>info.AfterSet</a:t>
            </a:r>
            <a:r>
              <a:rPr lang="en-US" altLang="zh-CN" sz="1200" dirty="0"/>
              <a:t>();</a:t>
            </a:r>
          </a:p>
          <a:p>
            <a:r>
              <a:rPr lang="en-US" altLang="zh-CN" sz="1200" dirty="0"/>
              <a:t>	</a:t>
            </a:r>
            <a:r>
              <a:rPr lang="en-US" altLang="zh-CN" sz="1200" dirty="0" err="1"/>
              <a:t>AfterSetEvent.watch</a:t>
            </a:r>
            <a:r>
              <a:rPr lang="en-US" altLang="zh-CN" sz="1200" dirty="0"/>
              <a:t>(function(error, result){</a:t>
            </a:r>
          </a:p>
          <a:p>
            <a:r>
              <a:rPr lang="en-US" altLang="zh-CN" sz="1200" dirty="0"/>
              <a:t>	    if(!error)</a:t>
            </a:r>
          </a:p>
          <a:p>
            <a:r>
              <a:rPr lang="en-US" altLang="zh-CN" sz="1200" dirty="0"/>
              <a:t>        	{</a:t>
            </a:r>
          </a:p>
          <a:p>
            <a:r>
              <a:rPr lang="en-US" altLang="zh-CN" sz="1200" dirty="0"/>
              <a:t>	            $("#info").html('</a:t>
            </a:r>
            <a:r>
              <a:rPr lang="en-US" altLang="zh-CN" sz="1200" dirty="0" err="1"/>
              <a:t>addr</a:t>
            </a:r>
            <a:r>
              <a:rPr lang="en-US" altLang="zh-CN" sz="1200" dirty="0"/>
              <a:t>:('+</a:t>
            </a:r>
            <a:r>
              <a:rPr lang="en-US" altLang="zh-CN" sz="1200" dirty="0" err="1"/>
              <a:t>result.args.addr</a:t>
            </a:r>
            <a:r>
              <a:rPr lang="en-US" altLang="zh-CN" sz="1200" dirty="0"/>
              <a:t>+') count:('+</a:t>
            </a:r>
            <a:r>
              <a:rPr lang="en-US" altLang="zh-CN" sz="1200" dirty="0" err="1"/>
              <a:t>result.args.e_count</a:t>
            </a:r>
            <a:r>
              <a:rPr lang="en-US" altLang="zh-CN" sz="1200" dirty="0"/>
              <a:t>+')  price:('+</a:t>
            </a:r>
            <a:r>
              <a:rPr lang="en-US" altLang="zh-CN" sz="1200" dirty="0" err="1"/>
              <a:t>result.args.e_price</a:t>
            </a:r>
            <a:r>
              <a:rPr lang="en-US" altLang="zh-CN" sz="1200" dirty="0"/>
              <a:t>+')');</a:t>
            </a:r>
          </a:p>
          <a:p>
            <a:r>
              <a:rPr lang="en-US" altLang="zh-CN" sz="1200" dirty="0"/>
              <a:t>        	    console.log(result);</a:t>
            </a:r>
          </a:p>
          <a:p>
            <a:r>
              <a:rPr lang="en-US" altLang="zh-CN" sz="1200" dirty="0"/>
              <a:t>	        }</a:t>
            </a:r>
          </a:p>
          <a:p>
            <a:r>
              <a:rPr lang="en-US" altLang="zh-CN" sz="1200" dirty="0"/>
              <a:t>	    else</a:t>
            </a:r>
          </a:p>
          <a:p>
            <a:r>
              <a:rPr lang="en-US" altLang="zh-CN" sz="1200" dirty="0"/>
              <a:t>        	</a:t>
            </a:r>
            <a:r>
              <a:rPr lang="en-US" altLang="zh-CN" sz="1200" dirty="0" err="1"/>
              <a:t>console.error</a:t>
            </a:r>
            <a:r>
              <a:rPr lang="en-US" altLang="zh-CN" sz="1200" dirty="0"/>
              <a:t>(error);</a:t>
            </a:r>
          </a:p>
          <a:p>
            <a:r>
              <a:rPr lang="en-US" altLang="zh-CN" sz="1200" dirty="0"/>
              <a:t>	});</a:t>
            </a:r>
          </a:p>
          <a:p>
            <a:endParaRPr lang="en-US" altLang="zh-CN" sz="1200" dirty="0"/>
          </a:p>
          <a:p>
            <a:r>
              <a:rPr lang="en-US" altLang="zh-CN" sz="1200" dirty="0"/>
              <a:t>	$("#button").click(function() {</a:t>
            </a:r>
          </a:p>
          <a:p>
            <a:r>
              <a:rPr lang="en-US" altLang="zh-CN" sz="1200" dirty="0"/>
              <a:t>		</a:t>
            </a:r>
            <a:r>
              <a:rPr lang="en-US" altLang="zh-CN" sz="1200" dirty="0" err="1"/>
              <a:t>info.setInfo</a:t>
            </a:r>
            <a:r>
              <a:rPr lang="en-US" altLang="zh-CN" sz="1200" dirty="0"/>
              <a:t>($("#count").</a:t>
            </a:r>
            <a:r>
              <a:rPr lang="en-US" altLang="zh-CN" sz="1200" dirty="0" err="1"/>
              <a:t>val</a:t>
            </a:r>
            <a:r>
              <a:rPr lang="en-US" altLang="zh-CN" sz="1200" dirty="0"/>
              <a:t>(), $("#price").</a:t>
            </a:r>
            <a:r>
              <a:rPr lang="en-US" altLang="zh-CN" sz="1200" dirty="0" err="1"/>
              <a:t>val</a:t>
            </a:r>
            <a:r>
              <a:rPr lang="en-US" altLang="zh-CN" sz="1200" dirty="0"/>
              <a:t>());</a:t>
            </a:r>
          </a:p>
          <a:p>
            <a:r>
              <a:rPr lang="en-US" altLang="zh-CN" sz="1200" dirty="0"/>
              <a:t>	});</a:t>
            </a:r>
          </a:p>
          <a:p>
            <a:r>
              <a:rPr lang="en-US" altLang="zh-CN" sz="1200" dirty="0"/>
              <a:t>    &lt;/script&gt;</a:t>
            </a:r>
            <a:endParaRPr lang="zh-CN" altLang="en-US" sz="1200" dirty="0"/>
          </a:p>
        </p:txBody>
      </p:sp>
      <p:pic>
        <p:nvPicPr>
          <p:cNvPr id="5" name="图片 4"/>
          <p:cNvPicPr>
            <a:picLocks noChangeAspect="1"/>
          </p:cNvPicPr>
          <p:nvPr/>
        </p:nvPicPr>
        <p:blipFill>
          <a:blip r:embed="rId2"/>
          <a:stretch>
            <a:fillRect/>
          </a:stretch>
        </p:blipFill>
        <p:spPr>
          <a:xfrm>
            <a:off x="7092280" y="201849"/>
            <a:ext cx="1923555" cy="3975348"/>
          </a:xfrm>
          <a:prstGeom prst="rect">
            <a:avLst/>
          </a:prstGeom>
        </p:spPr>
      </p:pic>
      <p:cxnSp>
        <p:nvCxnSpPr>
          <p:cNvPr id="7" name="直接箭头连接符 6"/>
          <p:cNvCxnSpPr/>
          <p:nvPr/>
        </p:nvCxnSpPr>
        <p:spPr bwMode="auto">
          <a:xfrm flipH="1" flipV="1">
            <a:off x="4932040" y="3429000"/>
            <a:ext cx="3240360" cy="646623"/>
          </a:xfrm>
          <a:prstGeom prst="straightConnector1">
            <a:avLst/>
          </a:prstGeom>
          <a:solidFill>
            <a:schemeClr val="bg1"/>
          </a:solidFill>
          <a:ln w="9525" cap="flat" cmpd="sng" algn="ctr">
            <a:solidFill>
              <a:srgbClr val="FF0000"/>
            </a:solidFill>
            <a:prstDash val="solid"/>
            <a:round/>
            <a:headEnd type="none" w="med" len="med"/>
            <a:tailEnd type="triangle"/>
          </a:ln>
          <a:effectLst/>
        </p:spPr>
      </p:cxnSp>
      <p:pic>
        <p:nvPicPr>
          <p:cNvPr id="8" name="图片 7"/>
          <p:cNvPicPr>
            <a:picLocks noChangeAspect="1"/>
          </p:cNvPicPr>
          <p:nvPr/>
        </p:nvPicPr>
        <p:blipFill>
          <a:blip r:embed="rId3"/>
          <a:stretch>
            <a:fillRect/>
          </a:stretch>
        </p:blipFill>
        <p:spPr>
          <a:xfrm>
            <a:off x="4143151" y="4985163"/>
            <a:ext cx="4818137" cy="846651"/>
          </a:xfrm>
          <a:prstGeom prst="rect">
            <a:avLst/>
          </a:prstGeom>
        </p:spPr>
      </p:pic>
      <p:cxnSp>
        <p:nvCxnSpPr>
          <p:cNvPr id="10" name="直接箭头连接符 9"/>
          <p:cNvCxnSpPr/>
          <p:nvPr/>
        </p:nvCxnSpPr>
        <p:spPr bwMode="auto">
          <a:xfrm flipH="1" flipV="1">
            <a:off x="4644009" y="3645025"/>
            <a:ext cx="2768586" cy="1624153"/>
          </a:xfrm>
          <a:prstGeom prst="straightConnector1">
            <a:avLst/>
          </a:prstGeom>
          <a:solidFill>
            <a:schemeClr val="bg1"/>
          </a:solidFill>
          <a:ln w="952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33906221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一个小例子</a:t>
            </a:r>
          </a:p>
        </p:txBody>
      </p:sp>
      <p:sp>
        <p:nvSpPr>
          <p:cNvPr id="3" name="内容占位符 2"/>
          <p:cNvSpPr>
            <a:spLocks noGrp="1"/>
          </p:cNvSpPr>
          <p:nvPr>
            <p:ph idx="1"/>
          </p:nvPr>
        </p:nvSpPr>
        <p:spPr>
          <a:xfrm>
            <a:off x="179512" y="981076"/>
            <a:ext cx="8431089" cy="4895850"/>
          </a:xfrm>
        </p:spPr>
        <p:txBody>
          <a:bodyPr/>
          <a:lstStyle/>
          <a:p>
            <a:r>
              <a:rPr lang="zh-CN" altLang="en-US" sz="1800" dirty="0" smtClean="0"/>
              <a:t>在</a:t>
            </a:r>
            <a:r>
              <a:rPr lang="en-US" altLang="zh-CN" sz="1800" dirty="0" err="1" smtClean="0"/>
              <a:t>firefox</a:t>
            </a:r>
            <a:r>
              <a:rPr lang="zh-CN" altLang="en-US" sz="1800" dirty="0" smtClean="0"/>
              <a:t>中打开</a:t>
            </a:r>
            <a:r>
              <a:rPr lang="en-US" altLang="zh-CN" sz="1800" dirty="0" smtClean="0"/>
              <a:t>index.html</a:t>
            </a:r>
            <a:r>
              <a:rPr lang="zh-CN" altLang="en-US" sz="1800" dirty="0" smtClean="0"/>
              <a:t>，执行更新操作，可以看到浏览器中刷新了更新的结果，并且还显示了调用合约的账户的地址。</a:t>
            </a:r>
            <a:endParaRPr lang="en-US" altLang="zh-CN" sz="1800" dirty="0" smtClean="0"/>
          </a:p>
          <a:p>
            <a:r>
              <a:rPr lang="zh-CN" altLang="en-US" sz="1800" dirty="0" smtClean="0"/>
              <a:t>在</a:t>
            </a:r>
            <a:r>
              <a:rPr lang="en-US" altLang="zh-CN" sz="1800" dirty="0" smtClean="0"/>
              <a:t>Remix</a:t>
            </a:r>
            <a:r>
              <a:rPr lang="zh-CN" altLang="en-US" sz="1800" dirty="0" smtClean="0"/>
              <a:t>中也可以看到更新结果。</a:t>
            </a:r>
            <a:endParaRPr lang="zh-CN" altLang="en-US" sz="1800" dirty="0"/>
          </a:p>
        </p:txBody>
      </p:sp>
      <p:pic>
        <p:nvPicPr>
          <p:cNvPr id="5" name="图片 4"/>
          <p:cNvPicPr>
            <a:picLocks noChangeAspect="1"/>
          </p:cNvPicPr>
          <p:nvPr/>
        </p:nvPicPr>
        <p:blipFill>
          <a:blip r:embed="rId2"/>
          <a:stretch>
            <a:fillRect/>
          </a:stretch>
        </p:blipFill>
        <p:spPr>
          <a:xfrm>
            <a:off x="6012160" y="1988840"/>
            <a:ext cx="2180120" cy="4270995"/>
          </a:xfrm>
          <a:prstGeom prst="rect">
            <a:avLst/>
          </a:prstGeom>
        </p:spPr>
      </p:pic>
      <p:pic>
        <p:nvPicPr>
          <p:cNvPr id="6" name="图片 5"/>
          <p:cNvPicPr>
            <a:picLocks noChangeAspect="1"/>
          </p:cNvPicPr>
          <p:nvPr/>
        </p:nvPicPr>
        <p:blipFill>
          <a:blip r:embed="rId3"/>
          <a:stretch>
            <a:fillRect/>
          </a:stretch>
        </p:blipFill>
        <p:spPr>
          <a:xfrm>
            <a:off x="683568" y="2492896"/>
            <a:ext cx="4597661" cy="1952054"/>
          </a:xfrm>
          <a:prstGeom prst="rect">
            <a:avLst/>
          </a:prstGeom>
        </p:spPr>
      </p:pic>
    </p:spTree>
    <p:extLst>
      <p:ext uri="{BB962C8B-B14F-4D97-AF65-F5344CB8AC3E}">
        <p14:creationId xmlns:p14="http://schemas.microsoft.com/office/powerpoint/2010/main" val="28880775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一个小例子</a:t>
            </a:r>
          </a:p>
        </p:txBody>
      </p:sp>
      <p:sp>
        <p:nvSpPr>
          <p:cNvPr id="3" name="内容占位符 2"/>
          <p:cNvSpPr>
            <a:spLocks noGrp="1"/>
          </p:cNvSpPr>
          <p:nvPr>
            <p:ph idx="1"/>
          </p:nvPr>
        </p:nvSpPr>
        <p:spPr>
          <a:xfrm>
            <a:off x="323528" y="1268760"/>
            <a:ext cx="8712967" cy="4608165"/>
          </a:xfrm>
        </p:spPr>
        <p:txBody>
          <a:bodyPr/>
          <a:lstStyle/>
          <a:p>
            <a:r>
              <a:rPr lang="zh-CN" altLang="en-US" sz="2400" dirty="0" smtClean="0"/>
              <a:t>在</a:t>
            </a:r>
            <a:r>
              <a:rPr lang="en-US" altLang="zh-CN" sz="2400" dirty="0" smtClean="0"/>
              <a:t>Ganache</a:t>
            </a:r>
            <a:r>
              <a:rPr lang="zh-CN" altLang="en-US" sz="2400" dirty="0" smtClean="0"/>
              <a:t>中可以看到前端调用合约所产生的区块和交易。</a:t>
            </a:r>
            <a:endParaRPr lang="zh-CN" altLang="en-US" sz="2400" dirty="0"/>
          </a:p>
        </p:txBody>
      </p:sp>
      <p:pic>
        <p:nvPicPr>
          <p:cNvPr id="4" name="图片 3"/>
          <p:cNvPicPr>
            <a:picLocks noChangeAspect="1"/>
          </p:cNvPicPr>
          <p:nvPr/>
        </p:nvPicPr>
        <p:blipFill>
          <a:blip r:embed="rId2"/>
          <a:stretch>
            <a:fillRect/>
          </a:stretch>
        </p:blipFill>
        <p:spPr>
          <a:xfrm>
            <a:off x="1115616" y="2060848"/>
            <a:ext cx="6583879" cy="4402206"/>
          </a:xfrm>
          <a:prstGeom prst="rect">
            <a:avLst/>
          </a:prstGeom>
        </p:spPr>
      </p:pic>
    </p:spTree>
    <p:extLst>
      <p:ext uri="{BB962C8B-B14F-4D97-AF65-F5344CB8AC3E}">
        <p14:creationId xmlns:p14="http://schemas.microsoft.com/office/powerpoint/2010/main" val="1737629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更多案例</a:t>
            </a:r>
            <a:endParaRPr lang="zh-CN" altLang="en-US" dirty="0"/>
          </a:p>
        </p:txBody>
      </p:sp>
      <p:sp>
        <p:nvSpPr>
          <p:cNvPr id="3" name="内容占位符 2"/>
          <p:cNvSpPr>
            <a:spLocks noGrp="1"/>
          </p:cNvSpPr>
          <p:nvPr>
            <p:ph idx="1"/>
          </p:nvPr>
        </p:nvSpPr>
        <p:spPr/>
        <p:txBody>
          <a:bodyPr/>
          <a:lstStyle/>
          <a:p>
            <a:r>
              <a:rPr lang="en-US" altLang="zh-CN" dirty="0">
                <a:hlinkClick r:id="rId2"/>
              </a:rPr>
              <a:t>https://</a:t>
            </a:r>
            <a:r>
              <a:rPr lang="en-US" altLang="zh-CN" dirty="0" smtClean="0">
                <a:hlinkClick r:id="rId2"/>
              </a:rPr>
              <a:t>learnblockchain.cn/docs/solidity/solidity-by-example.html</a:t>
            </a:r>
            <a:endParaRPr lang="en-US" altLang="zh-CN" dirty="0" smtClean="0"/>
          </a:p>
          <a:p>
            <a:endParaRPr lang="zh-CN" altLang="en-US" dirty="0"/>
          </a:p>
        </p:txBody>
      </p:sp>
    </p:spTree>
    <p:extLst>
      <p:ext uri="{BB962C8B-B14F-4D97-AF65-F5344CB8AC3E}">
        <p14:creationId xmlns:p14="http://schemas.microsoft.com/office/powerpoint/2010/main" val="1686365070"/>
      </p:ext>
    </p:extLst>
  </p:cSld>
  <p:clrMapOvr>
    <a:masterClrMapping/>
  </p:clrMapOvr>
</p:sld>
</file>

<file path=ppt/theme/theme1.xml><?xml version="1.0" encoding="utf-8"?>
<a:theme xmlns:a="http://schemas.openxmlformats.org/drawingml/2006/main" name="nju">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第2章 信息安全体系结构.pptx" id="{2A91B836-FFFD-4C9D-ACEB-12964C45F731}" vid="{3FEFB23B-0341-4517-8F01-752859B552F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朴素模板</Template>
  <TotalTime>2246</TotalTime>
  <Words>3118</Words>
  <Application>Microsoft Office PowerPoint</Application>
  <PresentationFormat>全屏显示(4:3)</PresentationFormat>
  <Paragraphs>464</Paragraphs>
  <Slides>56</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56</vt:i4>
      </vt:variant>
    </vt:vector>
  </HeadingPairs>
  <TitlesOfParts>
    <vt:vector size="64" baseType="lpstr">
      <vt:lpstr>楷体</vt:lpstr>
      <vt:lpstr>宋体</vt:lpstr>
      <vt:lpstr>微软雅黑</vt:lpstr>
      <vt:lpstr>Arial</vt:lpstr>
      <vt:lpstr>Calibri</vt:lpstr>
      <vt:lpstr>Times New Roman</vt:lpstr>
      <vt:lpstr>Wingdings</vt:lpstr>
      <vt:lpstr>nju</vt:lpstr>
      <vt:lpstr>以太坊智能合约开发</vt:lpstr>
      <vt:lpstr>以太坊智能合约基本原理</vt:lpstr>
      <vt:lpstr>以太坊智能合约基本原理</vt:lpstr>
      <vt:lpstr>以太坊智能合约基本原理</vt:lpstr>
      <vt:lpstr>以太坊智能合约基本原理</vt:lpstr>
      <vt:lpstr>智能合约实践</vt:lpstr>
      <vt:lpstr>以太坊智能合约基本原理</vt:lpstr>
      <vt:lpstr>以太坊智能合约基本原理</vt:lpstr>
      <vt:lpstr>以太坊智能合约基本原理</vt:lpstr>
      <vt:lpstr>以太坊智能合约基本原理</vt:lpstr>
      <vt:lpstr>以太坊智能合约基本原理</vt:lpstr>
      <vt:lpstr>以太坊智能合约基本原理</vt:lpstr>
      <vt:lpstr>以太坊智能合约基本原理</vt:lpstr>
      <vt:lpstr>以太坊智能合约基本原理</vt:lpstr>
      <vt:lpstr>以太坊DAPP</vt:lpstr>
      <vt:lpstr>构建DAPP开发测试环境</vt:lpstr>
      <vt:lpstr>构建DAPP开发测试环境</vt:lpstr>
      <vt:lpstr>构建DAPP开发测试环境</vt:lpstr>
      <vt:lpstr>构建DAPP开发测试环境</vt:lpstr>
      <vt:lpstr>智能合约的结构</vt:lpstr>
      <vt:lpstr>智能合约的结构</vt:lpstr>
      <vt:lpstr>智能合约的结构</vt:lpstr>
      <vt:lpstr>智能合约的结构</vt:lpstr>
      <vt:lpstr>加载Remix</vt:lpstr>
      <vt:lpstr>一个小的众筹智能合约</vt:lpstr>
      <vt:lpstr>一个小的众筹智能合约</vt:lpstr>
      <vt:lpstr>一个小的众筹智能合约</vt:lpstr>
      <vt:lpstr>一个小的众筹智能合约</vt:lpstr>
      <vt:lpstr>一个小的众筹智能合约</vt:lpstr>
      <vt:lpstr>一个小的众筹智能合约</vt:lpstr>
      <vt:lpstr>一个小的众筹智能合约</vt:lpstr>
      <vt:lpstr>一个小的众筹智能合约</vt:lpstr>
      <vt:lpstr>一个小的众筹智能合约</vt:lpstr>
      <vt:lpstr>一个小的众筹智能合约</vt:lpstr>
      <vt:lpstr>一个小的众筹智能合约</vt:lpstr>
      <vt:lpstr>一个小的众筹智能合约</vt:lpstr>
      <vt:lpstr>Web3.js</vt:lpstr>
      <vt:lpstr>一个小例子</vt:lpstr>
      <vt:lpstr>一个小例子</vt:lpstr>
      <vt:lpstr>一个小例子</vt:lpstr>
      <vt:lpstr>一个小例子</vt:lpstr>
      <vt:lpstr>一个小例子</vt:lpstr>
      <vt:lpstr>一个小例子</vt:lpstr>
      <vt:lpstr>一个小例子</vt:lpstr>
      <vt:lpstr>一个小例子</vt:lpstr>
      <vt:lpstr>一个小例子</vt:lpstr>
      <vt:lpstr>一个小例子</vt:lpstr>
      <vt:lpstr>一个小例子</vt:lpstr>
      <vt:lpstr>一个小例子</vt:lpstr>
      <vt:lpstr>一个小例子</vt:lpstr>
      <vt:lpstr>一个小例子</vt:lpstr>
      <vt:lpstr>一个小例子</vt:lpstr>
      <vt:lpstr>一个小例子</vt:lpstr>
      <vt:lpstr>一个小例子</vt:lpstr>
      <vt:lpstr>一个小例子</vt:lpstr>
      <vt:lpstr>更多案例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大学计算机信息技术</dc:title>
  <dc:creator>Hp</dc:creator>
  <cp:lastModifiedBy>dell</cp:lastModifiedBy>
  <cp:revision>391</cp:revision>
  <dcterms:created xsi:type="dcterms:W3CDTF">2013-09-23T10:22:11Z</dcterms:created>
  <dcterms:modified xsi:type="dcterms:W3CDTF">2021-05-13T07:22:16Z</dcterms:modified>
</cp:coreProperties>
</file>