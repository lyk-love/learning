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5" r:id="rId1"/>
  </p:sldMasterIdLst>
  <p:notesMasterIdLst>
    <p:notesMasterId r:id="rId37"/>
  </p:notesMasterIdLst>
  <p:sldIdLst>
    <p:sldId id="395" r:id="rId2"/>
    <p:sldId id="396" r:id="rId3"/>
    <p:sldId id="397" r:id="rId4"/>
    <p:sldId id="404" r:id="rId5"/>
    <p:sldId id="445" r:id="rId6"/>
    <p:sldId id="450" r:id="rId7"/>
    <p:sldId id="459" r:id="rId8"/>
    <p:sldId id="460" r:id="rId9"/>
    <p:sldId id="451" r:id="rId10"/>
    <p:sldId id="477" r:id="rId11"/>
    <p:sldId id="478" r:id="rId12"/>
    <p:sldId id="458" r:id="rId13"/>
    <p:sldId id="452" r:id="rId14"/>
    <p:sldId id="467" r:id="rId15"/>
    <p:sldId id="468" r:id="rId16"/>
    <p:sldId id="469" r:id="rId17"/>
    <p:sldId id="470" r:id="rId18"/>
    <p:sldId id="472" r:id="rId19"/>
    <p:sldId id="473" r:id="rId20"/>
    <p:sldId id="474" r:id="rId21"/>
    <p:sldId id="453" r:id="rId22"/>
    <p:sldId id="454" r:id="rId23"/>
    <p:sldId id="455" r:id="rId24"/>
    <p:sldId id="466" r:id="rId25"/>
    <p:sldId id="461" r:id="rId26"/>
    <p:sldId id="462" r:id="rId27"/>
    <p:sldId id="463" r:id="rId28"/>
    <p:sldId id="464" r:id="rId29"/>
    <p:sldId id="465" r:id="rId30"/>
    <p:sldId id="456" r:id="rId31"/>
    <p:sldId id="457" r:id="rId32"/>
    <p:sldId id="475" r:id="rId33"/>
    <p:sldId id="476" r:id="rId34"/>
    <p:sldId id="471" r:id="rId35"/>
    <p:sldId id="479" r:id="rId3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7" autoAdjust="0"/>
    <p:restoredTop sz="91031" autoAdjust="0"/>
  </p:normalViewPr>
  <p:slideViewPr>
    <p:cSldViewPr>
      <p:cViewPr varScale="1">
        <p:scale>
          <a:sx n="104" d="100"/>
          <a:sy n="104" d="100"/>
        </p:scale>
        <p:origin x="1836" y="11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534"/>
    </p:cViewPr>
  </p:sorterViewPr>
  <p:notesViewPr>
    <p:cSldViewPr>
      <p:cViewPr varScale="1">
        <p:scale>
          <a:sx n="57" d="100"/>
          <a:sy n="57" d="100"/>
        </p:scale>
        <p:origin x="2562"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CE977AA7-57E9-4A56-AFE1-34A5A5DC790A}" type="datetimeFigureOut">
              <a:rPr lang="zh-CN" altLang="en-US"/>
              <a:pPr>
                <a:defRPr/>
              </a:pPr>
              <a:t>2021/4/29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64121CE6-E712-413E-ACD8-955771AA458E}" type="slidenum">
              <a:rPr lang="zh-CN" altLang="en-US"/>
              <a:pPr/>
              <a:t>‹#›</a:t>
            </a:fld>
            <a:endParaRPr lang="zh-CN" altLang="en-US"/>
          </a:p>
        </p:txBody>
      </p:sp>
    </p:spTree>
    <p:extLst>
      <p:ext uri="{BB962C8B-B14F-4D97-AF65-F5344CB8AC3E}">
        <p14:creationId xmlns:p14="http://schemas.microsoft.com/office/powerpoint/2010/main" val="42417061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mtClean="0"/>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smtClean="0"/>
          </a:p>
        </p:txBody>
      </p:sp>
      <p:pic>
        <p:nvPicPr>
          <p:cNvPr id="9"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itchFamily="2" charset="2"/>
              <a:buNone/>
              <a:defRPr/>
            </a:lvl1pPr>
          </a:lstStyle>
          <a:p>
            <a:r>
              <a:rPr lang="zh-CN" altLang="en-US" smtClean="0"/>
              <a:t>单击以编辑母版副标题样式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smtClean="0"/>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2F738E57-93F9-4D16-9D65-7B0414EDCF8F}" type="datetimeFigureOut">
              <a:rPr lang="zh-CN" altLang="en-US" smtClean="0"/>
              <a:pPr>
                <a:defRPr/>
              </a:pPr>
              <a:t>2021/4/29</a:t>
            </a:fld>
            <a:endParaRPr lang="zh-CN" altLang="en-US"/>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endParaRPr lang="zh-CN" altLang="en-US"/>
          </a:p>
        </p:txBody>
      </p:sp>
      <p:sp>
        <p:nvSpPr>
          <p:cNvPr id="13" name="Rectangle 5"/>
          <p:cNvSpPr>
            <a:spLocks noGrp="1" noChangeArrowheads="1"/>
          </p:cNvSpPr>
          <p:nvPr>
            <p:ph type="sldNum" sz="quarter" idx="12"/>
          </p:nvPr>
        </p:nvSpPr>
        <p:spPr/>
        <p:txBody>
          <a:bodyPr/>
          <a:lstStyle>
            <a:lvl1pPr>
              <a:defRPr/>
            </a:lvl1pPr>
          </a:lstStyle>
          <a:p>
            <a:fld id="{C0548130-33E5-4651-8CB0-053FFE4C990B}" type="slidenum">
              <a:rPr lang="zh-CN" altLang="en-US" smtClean="0"/>
              <a:pPr/>
              <a:t>‹#›</a:t>
            </a:fld>
            <a:endParaRPr lang="zh-CN" altLang="en-US"/>
          </a:p>
        </p:txBody>
      </p:sp>
    </p:spTree>
    <p:extLst>
      <p:ext uri="{BB962C8B-B14F-4D97-AF65-F5344CB8AC3E}">
        <p14:creationId xmlns:p14="http://schemas.microsoft.com/office/powerpoint/2010/main" val="356144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Rectangle 7"/>
          <p:cNvSpPr>
            <a:spLocks noGrp="1" noChangeArrowheads="1"/>
          </p:cNvSpPr>
          <p:nvPr>
            <p:ph type="dt" sz="half" idx="10"/>
          </p:nvPr>
        </p:nvSpPr>
        <p:spPr>
          <a:ln/>
        </p:spPr>
        <p:txBody>
          <a:bodyPr/>
          <a:lstStyle>
            <a:lvl1pPr>
              <a:defRPr/>
            </a:lvl1pPr>
          </a:lstStyle>
          <a:p>
            <a:pPr>
              <a:defRPr/>
            </a:pPr>
            <a:fld id="{4EC36114-4B0D-48F2-AFFD-DD492E28E8B1}" type="datetimeFigureOut">
              <a:rPr lang="zh-CN" altLang="en-US" smtClean="0"/>
              <a:pPr>
                <a:defRPr/>
              </a:pPr>
              <a:t>2021/4/29</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A309C164-7C40-4743-A1D0-60CDBD9780F0}" type="slidenum">
              <a:rPr lang="zh-CN" altLang="en-US" smtClean="0"/>
              <a:pPr/>
              <a:t>‹#›</a:t>
            </a:fld>
            <a:endParaRPr lang="zh-CN" altLang="en-US"/>
          </a:p>
        </p:txBody>
      </p:sp>
    </p:spTree>
    <p:extLst>
      <p:ext uri="{BB962C8B-B14F-4D97-AF65-F5344CB8AC3E}">
        <p14:creationId xmlns:p14="http://schemas.microsoft.com/office/powerpoint/2010/main" val="2559014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
        <p:nvSpPr>
          <p:cNvPr id="4" name="Rectangle 7"/>
          <p:cNvSpPr>
            <a:spLocks noGrp="1" noChangeArrowheads="1"/>
          </p:cNvSpPr>
          <p:nvPr>
            <p:ph type="dt" sz="half" idx="10"/>
          </p:nvPr>
        </p:nvSpPr>
        <p:spPr>
          <a:ln/>
        </p:spPr>
        <p:txBody>
          <a:bodyPr/>
          <a:lstStyle>
            <a:lvl1pPr>
              <a:defRPr/>
            </a:lvl1pPr>
          </a:lstStyle>
          <a:p>
            <a:pPr>
              <a:defRPr/>
            </a:pPr>
            <a:fld id="{3C15F954-ED4F-4BB5-81E4-369170938DD6}" type="datetimeFigureOut">
              <a:rPr lang="zh-CN" altLang="en-US" smtClean="0"/>
              <a:pPr>
                <a:defRPr/>
              </a:pPr>
              <a:t>2021/4/29</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47F6FC0A-5A87-4514-96BC-E02BA09E53F5}" type="slidenum">
              <a:rPr lang="zh-CN" altLang="en-US" smtClean="0"/>
              <a:pPr/>
              <a:t>‹#›</a:t>
            </a:fld>
            <a:endParaRPr lang="zh-CN" altLang="en-US"/>
          </a:p>
        </p:txBody>
      </p:sp>
    </p:spTree>
    <p:extLst>
      <p:ext uri="{BB962C8B-B14F-4D97-AF65-F5344CB8AC3E}">
        <p14:creationId xmlns:p14="http://schemas.microsoft.com/office/powerpoint/2010/main" val="121631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pPr>
              <a:defRPr/>
            </a:pPr>
            <a:fld id="{CD4B7F95-78A0-4EB8-A841-36370DAECFC3}" type="datetimeFigureOut">
              <a:rPr lang="zh-CN" altLang="en-US" smtClean="0"/>
              <a:pPr>
                <a:defRPr/>
              </a:pPr>
              <a:t>2021/4/29</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62225C4B-1503-4E05-91D6-4EAE80571FF6}" type="slidenum">
              <a:rPr lang="zh-CN" altLang="en-US" smtClean="0"/>
              <a:pPr/>
              <a:t>‹#›</a:t>
            </a:fld>
            <a:endParaRPr lang="zh-CN" altLang="en-US"/>
          </a:p>
        </p:txBody>
      </p:sp>
    </p:spTree>
    <p:extLst>
      <p:ext uri="{BB962C8B-B14F-4D97-AF65-F5344CB8AC3E}">
        <p14:creationId xmlns:p14="http://schemas.microsoft.com/office/powerpoint/2010/main" val="3434815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a:ln/>
        </p:spPr>
        <p:txBody>
          <a:bodyPr/>
          <a:lstStyle>
            <a:lvl1pPr>
              <a:defRPr/>
            </a:lvl1pPr>
          </a:lstStyle>
          <a:p>
            <a:pPr>
              <a:defRPr/>
            </a:pPr>
            <a:fld id="{73130273-FB3F-4409-B68D-27AC6E41ADBA}" type="datetimeFigureOut">
              <a:rPr lang="zh-CN" altLang="en-US" smtClean="0"/>
              <a:pPr>
                <a:defRPr/>
              </a:pPr>
              <a:t>2021/4/29</a:t>
            </a:fld>
            <a:endParaRPr lang="zh-CN" altLang="en-US"/>
          </a:p>
        </p:txBody>
      </p:sp>
      <p:sp>
        <p:nvSpPr>
          <p:cNvPr id="8"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9" name="Rectangle 9"/>
          <p:cNvSpPr>
            <a:spLocks noGrp="1" noChangeArrowheads="1"/>
          </p:cNvSpPr>
          <p:nvPr>
            <p:ph type="sldNum" sz="quarter" idx="12"/>
          </p:nvPr>
        </p:nvSpPr>
        <p:spPr>
          <a:ln/>
        </p:spPr>
        <p:txBody>
          <a:bodyPr/>
          <a:lstStyle>
            <a:lvl1pPr>
              <a:defRPr/>
            </a:lvl1pPr>
          </a:lstStyle>
          <a:p>
            <a:fld id="{0A0D7FE8-9F4A-4FCC-9904-F8AD160DF52B}" type="slidenum">
              <a:rPr lang="zh-CN" altLang="en-US" smtClean="0"/>
              <a:pPr/>
              <a:t>‹#›</a:t>
            </a:fld>
            <a:endParaRPr lang="zh-CN" altLang="en-US"/>
          </a:p>
        </p:txBody>
      </p:sp>
    </p:spTree>
    <p:extLst>
      <p:ext uri="{BB962C8B-B14F-4D97-AF65-F5344CB8AC3E}">
        <p14:creationId xmlns:p14="http://schemas.microsoft.com/office/powerpoint/2010/main" val="16946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a:ln/>
        </p:spPr>
        <p:txBody>
          <a:bodyPr/>
          <a:lstStyle>
            <a:lvl1pPr>
              <a:defRPr/>
            </a:lvl1pPr>
          </a:lstStyle>
          <a:p>
            <a:pPr>
              <a:defRPr/>
            </a:pPr>
            <a:fld id="{2A966980-E121-4D27-8E64-7E45764D8807}" type="datetimeFigureOut">
              <a:rPr lang="zh-CN" altLang="en-US" smtClean="0"/>
              <a:pPr>
                <a:defRPr/>
              </a:pPr>
              <a:t>2021/4/29</a:t>
            </a:fld>
            <a:endParaRPr lang="zh-CN" altLang="en-US"/>
          </a:p>
        </p:txBody>
      </p:sp>
      <p:sp>
        <p:nvSpPr>
          <p:cNvPr id="4"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5" name="Rectangle 9"/>
          <p:cNvSpPr>
            <a:spLocks noGrp="1" noChangeArrowheads="1"/>
          </p:cNvSpPr>
          <p:nvPr>
            <p:ph type="sldNum" sz="quarter" idx="12"/>
          </p:nvPr>
        </p:nvSpPr>
        <p:spPr>
          <a:ln/>
        </p:spPr>
        <p:txBody>
          <a:bodyPr/>
          <a:lstStyle>
            <a:lvl1pPr>
              <a:defRPr/>
            </a:lvl1pPr>
          </a:lstStyle>
          <a:p>
            <a:fld id="{C82B6336-A0FB-4BAE-AFC2-E4641F29156F}" type="slidenum">
              <a:rPr lang="zh-CN" altLang="en-US" smtClean="0"/>
              <a:pPr/>
              <a:t>‹#›</a:t>
            </a:fld>
            <a:endParaRPr lang="zh-CN" altLang="en-US"/>
          </a:p>
        </p:txBody>
      </p:sp>
    </p:spTree>
    <p:extLst>
      <p:ext uri="{BB962C8B-B14F-4D97-AF65-F5344CB8AC3E}">
        <p14:creationId xmlns:p14="http://schemas.microsoft.com/office/powerpoint/2010/main" val="1879457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fld id="{6ACD6303-86B8-435D-9CDF-1D9D86A9AD6C}" type="datetimeFigureOut">
              <a:rPr lang="zh-CN" altLang="en-US" smtClean="0"/>
              <a:pPr>
                <a:defRPr/>
              </a:pPr>
              <a:t>2021/4/29</a:t>
            </a:fld>
            <a:endParaRPr lang="zh-CN" altLang="en-US"/>
          </a:p>
        </p:txBody>
      </p:sp>
      <p:sp>
        <p:nvSpPr>
          <p:cNvPr id="3"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4" name="Rectangle 9"/>
          <p:cNvSpPr>
            <a:spLocks noGrp="1" noChangeArrowheads="1"/>
          </p:cNvSpPr>
          <p:nvPr>
            <p:ph type="sldNum" sz="quarter" idx="12"/>
          </p:nvPr>
        </p:nvSpPr>
        <p:spPr>
          <a:ln/>
        </p:spPr>
        <p:txBody>
          <a:bodyPr/>
          <a:lstStyle>
            <a:lvl1pPr>
              <a:defRPr/>
            </a:lvl1pPr>
          </a:lstStyle>
          <a:p>
            <a:fld id="{F2C6FD49-9006-4ACC-B270-EC04A2D917FE}" type="slidenum">
              <a:rPr lang="zh-CN" altLang="en-US" smtClean="0"/>
              <a:pPr/>
              <a:t>‹#›</a:t>
            </a:fld>
            <a:endParaRPr lang="zh-CN" altLang="en-US"/>
          </a:p>
        </p:txBody>
      </p:sp>
    </p:spTree>
    <p:extLst>
      <p:ext uri="{BB962C8B-B14F-4D97-AF65-F5344CB8AC3E}">
        <p14:creationId xmlns:p14="http://schemas.microsoft.com/office/powerpoint/2010/main" val="1953127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EB6CEF59-9DF9-4BC2-9D2C-8C5C0BAE01A8}" type="datetimeFigureOut">
              <a:rPr lang="zh-CN" altLang="en-US" smtClean="0"/>
              <a:pPr>
                <a:defRPr/>
              </a:pPr>
              <a:t>2021/4/29</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DD06C489-D1FB-4028-9879-44C39A67CF50}" type="slidenum">
              <a:rPr lang="zh-CN" altLang="en-US" smtClean="0"/>
              <a:pPr/>
              <a:t>‹#›</a:t>
            </a:fld>
            <a:endParaRPr lang="zh-CN" altLang="en-US"/>
          </a:p>
        </p:txBody>
      </p:sp>
    </p:spTree>
    <p:extLst>
      <p:ext uri="{BB962C8B-B14F-4D97-AF65-F5344CB8AC3E}">
        <p14:creationId xmlns:p14="http://schemas.microsoft.com/office/powerpoint/2010/main" val="547707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837582AB-7697-423A-8094-EDFC4FB6F069}" type="datetimeFigureOut">
              <a:rPr lang="zh-CN" altLang="en-US" smtClean="0"/>
              <a:pPr>
                <a:defRPr/>
              </a:pPr>
              <a:t>2021/4/29</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E8C00C18-A1A9-4C03-9462-5B70A010C7CE}" type="slidenum">
              <a:rPr lang="zh-CN" altLang="en-US" smtClean="0"/>
              <a:pPr/>
              <a:t>‹#›</a:t>
            </a:fld>
            <a:endParaRPr lang="zh-CN" altLang="en-US"/>
          </a:p>
        </p:txBody>
      </p:sp>
    </p:spTree>
    <p:extLst>
      <p:ext uri="{BB962C8B-B14F-4D97-AF65-F5344CB8AC3E}">
        <p14:creationId xmlns:p14="http://schemas.microsoft.com/office/powerpoint/2010/main" val="79535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pPr>
              <a:defRPr/>
            </a:pPr>
            <a:fld id="{4F901C4D-A13F-4CBF-A93F-917A0BB25796}" type="datetimeFigureOut">
              <a:rPr lang="zh-CN" altLang="en-US" smtClean="0"/>
              <a:pPr>
                <a:defRPr/>
              </a:pPr>
              <a:t>2021/4/29</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3CCD0368-030E-4470-9CC0-A8539E28CCE0}" type="slidenum">
              <a:rPr lang="zh-CN" altLang="en-US" smtClean="0"/>
              <a:pPr/>
              <a:t>‹#›</a:t>
            </a:fld>
            <a:endParaRPr lang="zh-CN" altLang="en-US"/>
          </a:p>
        </p:txBody>
      </p:sp>
    </p:spTree>
    <p:extLst>
      <p:ext uri="{BB962C8B-B14F-4D97-AF65-F5344CB8AC3E}">
        <p14:creationId xmlns:p14="http://schemas.microsoft.com/office/powerpoint/2010/main" val="2453607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Rectangle 7"/>
          <p:cNvSpPr>
            <a:spLocks noGrp="1" noChangeArrowheads="1"/>
          </p:cNvSpPr>
          <p:nvPr>
            <p:ph type="dt" sz="half" idx="10"/>
          </p:nvPr>
        </p:nvSpPr>
        <p:spPr>
          <a:ln/>
        </p:spPr>
        <p:txBody>
          <a:bodyPr/>
          <a:lstStyle>
            <a:lvl1pPr>
              <a:defRPr/>
            </a:lvl1pPr>
          </a:lstStyle>
          <a:p>
            <a:pPr>
              <a:defRPr/>
            </a:pPr>
            <a:fld id="{1F65B808-DAE2-490F-9DA8-6B1F02696318}" type="datetimeFigureOut">
              <a:rPr lang="zh-CN" altLang="en-US" smtClean="0"/>
              <a:pPr>
                <a:defRPr/>
              </a:pPr>
              <a:t>2021/4/29</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1B6C2C6C-AFC8-4EC7-BA35-3E0EA0828F21}" type="slidenum">
              <a:rPr lang="zh-CN" altLang="en-US" smtClean="0"/>
              <a:pPr/>
              <a:t>‹#›</a:t>
            </a:fld>
            <a:endParaRPr lang="zh-CN" altLang="en-US"/>
          </a:p>
        </p:txBody>
      </p:sp>
    </p:spTree>
    <p:extLst>
      <p:ext uri="{BB962C8B-B14F-4D97-AF65-F5344CB8AC3E}">
        <p14:creationId xmlns:p14="http://schemas.microsoft.com/office/powerpoint/2010/main" val="1242991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5616575" cy="5762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68313" y="1484313"/>
            <a:ext cx="3994150"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pPr>
              <a:defRPr/>
            </a:pPr>
            <a:fld id="{41D486B6-4D75-475D-A2BA-381A4D02304A}" type="datetimeFigureOut">
              <a:rPr lang="zh-CN" altLang="en-US" smtClean="0"/>
              <a:pPr>
                <a:defRPr/>
              </a:pPr>
              <a:t>2021/4/29</a:t>
            </a:fld>
            <a:endParaRPr lang="zh-CN"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B8D680A7-0A96-4F61-9ECD-6D8EEA3CDDBF}" type="slidenum">
              <a:rPr lang="zh-CN" altLang="en-US" smtClean="0"/>
              <a:pPr/>
              <a:t>‹#›</a:t>
            </a:fld>
            <a:endParaRPr lang="zh-CN" altLang="en-US"/>
          </a:p>
        </p:txBody>
      </p:sp>
    </p:spTree>
    <p:extLst>
      <p:ext uri="{BB962C8B-B14F-4D97-AF65-F5344CB8AC3E}">
        <p14:creationId xmlns:p14="http://schemas.microsoft.com/office/powerpoint/2010/main" val="34932754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5616575" cy="5762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68313" y="1484313"/>
            <a:ext cx="3994150"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14863" y="1484313"/>
            <a:ext cx="3995737" cy="21193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14863" y="3756025"/>
            <a:ext cx="3995737" cy="21209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7"/>
          <p:cNvSpPr>
            <a:spLocks noGrp="1" noChangeArrowheads="1"/>
          </p:cNvSpPr>
          <p:nvPr>
            <p:ph type="dt" sz="half" idx="10"/>
          </p:nvPr>
        </p:nvSpPr>
        <p:spPr>
          <a:ln/>
        </p:spPr>
        <p:txBody>
          <a:bodyPr/>
          <a:lstStyle>
            <a:lvl1pPr>
              <a:defRPr/>
            </a:lvl1pPr>
          </a:lstStyle>
          <a:p>
            <a:pPr>
              <a:defRPr/>
            </a:pPr>
            <a:fld id="{502121C5-8A82-461F-9C43-B895C2BB9631}" type="datetimeFigureOut">
              <a:rPr lang="zh-CN" altLang="en-US" smtClean="0"/>
              <a:pPr>
                <a:defRPr/>
              </a:pPr>
              <a:t>2021/4/29</a:t>
            </a:fld>
            <a:endParaRPr lang="zh-CN" altLang="en-US"/>
          </a:p>
        </p:txBody>
      </p:sp>
      <p:sp>
        <p:nvSpPr>
          <p:cNvPr id="7"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8" name="Rectangle 9"/>
          <p:cNvSpPr>
            <a:spLocks noGrp="1" noChangeArrowheads="1"/>
          </p:cNvSpPr>
          <p:nvPr>
            <p:ph type="sldNum" sz="quarter" idx="12"/>
          </p:nvPr>
        </p:nvSpPr>
        <p:spPr>
          <a:ln/>
        </p:spPr>
        <p:txBody>
          <a:bodyPr/>
          <a:lstStyle>
            <a:lvl1pPr>
              <a:defRPr/>
            </a:lvl1pPr>
          </a:lstStyle>
          <a:p>
            <a:fld id="{7F87A25D-A7AB-4FD5-BCD7-8D09FECE4038}" type="slidenum">
              <a:rPr lang="zh-CN" altLang="en-US" smtClean="0"/>
              <a:pPr/>
              <a:t>‹#›</a:t>
            </a:fld>
            <a:endParaRPr lang="zh-CN" altLang="en-US"/>
          </a:p>
        </p:txBody>
      </p:sp>
    </p:spTree>
    <p:extLst>
      <p:ext uri="{BB962C8B-B14F-4D97-AF65-F5344CB8AC3E}">
        <p14:creationId xmlns:p14="http://schemas.microsoft.com/office/powerpoint/2010/main" val="20248861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5616575" cy="5762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68313" y="1484313"/>
            <a:ext cx="8142287" cy="4392612"/>
          </a:xfrm>
        </p:spPr>
        <p:txBody>
          <a:bodyPr/>
          <a:lstStyle/>
          <a:p>
            <a:pPr lvl="0"/>
            <a:r>
              <a:rPr lang="zh-CN" altLang="en-US" noProof="0" smtClean="0"/>
              <a:t>单击图标添加表格</a:t>
            </a:r>
          </a:p>
        </p:txBody>
      </p:sp>
      <p:sp>
        <p:nvSpPr>
          <p:cNvPr id="4" name="Rectangle 7"/>
          <p:cNvSpPr>
            <a:spLocks noGrp="1" noChangeArrowheads="1"/>
          </p:cNvSpPr>
          <p:nvPr>
            <p:ph type="dt" sz="half" idx="10"/>
          </p:nvPr>
        </p:nvSpPr>
        <p:spPr>
          <a:ln/>
        </p:spPr>
        <p:txBody>
          <a:bodyPr/>
          <a:lstStyle>
            <a:lvl1pPr>
              <a:defRPr/>
            </a:lvl1pPr>
          </a:lstStyle>
          <a:p>
            <a:pPr>
              <a:defRPr/>
            </a:pPr>
            <a:fld id="{2BC47007-5084-4A4B-96D7-4CA561231CE2}" type="datetimeFigureOut">
              <a:rPr lang="zh-CN" altLang="en-US" smtClean="0"/>
              <a:pPr>
                <a:defRPr/>
              </a:pPr>
              <a:t>2021/4/29</a:t>
            </a:fld>
            <a:endParaRPr lang="zh-CN"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098F181F-B538-4183-9F44-79237E3859D3}" type="slidenum">
              <a:rPr lang="zh-CN" altLang="en-US" smtClean="0"/>
              <a:pPr/>
              <a:t>‹#›</a:t>
            </a:fld>
            <a:endParaRPr lang="zh-CN" altLang="en-US"/>
          </a:p>
        </p:txBody>
      </p:sp>
    </p:spTree>
    <p:extLst>
      <p:ext uri="{BB962C8B-B14F-4D97-AF65-F5344CB8AC3E}">
        <p14:creationId xmlns:p14="http://schemas.microsoft.com/office/powerpoint/2010/main" val="2878265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fontAlgn="auto" hangingPunct="1">
              <a:spcBef>
                <a:spcPts val="0"/>
              </a:spcBef>
              <a:spcAft>
                <a:spcPts val="0"/>
              </a:spcAft>
              <a:defRPr sz="1600">
                <a:latin typeface="+mn-lt"/>
                <a:ea typeface="宋体" pitchFamily="2" charset="-122"/>
              </a:defRPr>
            </a:lvl1pPr>
          </a:lstStyle>
          <a:p>
            <a:pPr>
              <a:defRPr/>
            </a:pPr>
            <a:fld id="{8C693853-0C9D-41EA-8BCF-EF3ACA4223C9}" type="datetimeFigureOut">
              <a:rPr lang="zh-CN" altLang="en-US" smtClean="0"/>
              <a:pPr>
                <a:defRPr/>
              </a:pPr>
              <a:t>2021/4/29</a:t>
            </a:fld>
            <a:endParaRPr lang="zh-CN" altLang="en-US"/>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600">
                <a:latin typeface="Arial" charset="0"/>
                <a:ea typeface="宋体" pitchFamily="2" charset="-122"/>
              </a:defRPr>
            </a:lvl1pPr>
          </a:lstStyle>
          <a:p>
            <a:pPr>
              <a:defRPr/>
            </a:pPr>
            <a:endParaRPr lang="zh-CN" altLang="en-US"/>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600"/>
            </a:lvl1pPr>
          </a:lstStyle>
          <a:p>
            <a:fld id="{40102EC4-04E9-4BDC-BD4F-A88C8CF7337D}" type="slidenum">
              <a:rPr lang="zh-CN" altLang="en-US" smtClean="0"/>
              <a:pPr/>
              <a:t>‹#›</a:t>
            </a:fld>
            <a:endParaRPr lang="zh-CN" altLang="en-US"/>
          </a:p>
        </p:txBody>
      </p:sp>
      <p:pic>
        <p:nvPicPr>
          <p:cNvPr id="1034"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0228794"/>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 id="2147483928" r:id="rId13"/>
    <p:sldLayoutId id="2147483929" r:id="rId14"/>
  </p:sldLayoutIdLst>
  <p:txStyles>
    <p:titleStyle>
      <a:lvl1pPr algn="ctr" rtl="0" eaLnBrk="1" fontAlgn="base" hangingPunct="1">
        <a:spcBef>
          <a:spcPct val="0"/>
        </a:spcBef>
        <a:spcAft>
          <a:spcPct val="0"/>
        </a:spcAft>
        <a:defRPr sz="3200">
          <a:solidFill>
            <a:schemeClr val="tx1"/>
          </a:solidFill>
          <a:latin typeface="+mj-lt"/>
          <a:ea typeface="+mj-ea"/>
          <a:cs typeface="+mj-cs"/>
        </a:defRPr>
      </a:lvl1pPr>
      <a:lvl2pPr algn="ctr" rtl="0" eaLnBrk="1" fontAlgn="base" hangingPunct="1">
        <a:spcBef>
          <a:spcPct val="0"/>
        </a:spcBef>
        <a:spcAft>
          <a:spcPct val="0"/>
        </a:spcAft>
        <a:defRPr sz="3200">
          <a:solidFill>
            <a:schemeClr val="tx1"/>
          </a:solidFill>
          <a:latin typeface="Arial" charset="0"/>
          <a:ea typeface="宋体" pitchFamily="2" charset="-122"/>
        </a:defRPr>
      </a:lvl2pPr>
      <a:lvl3pPr algn="ctr" rtl="0" eaLnBrk="1" fontAlgn="base" hangingPunct="1">
        <a:spcBef>
          <a:spcPct val="0"/>
        </a:spcBef>
        <a:spcAft>
          <a:spcPct val="0"/>
        </a:spcAft>
        <a:defRPr sz="3200">
          <a:solidFill>
            <a:schemeClr val="tx1"/>
          </a:solidFill>
          <a:latin typeface="Arial" charset="0"/>
          <a:ea typeface="宋体" pitchFamily="2" charset="-122"/>
        </a:defRPr>
      </a:lvl3pPr>
      <a:lvl4pPr algn="ctr" rtl="0" eaLnBrk="1" fontAlgn="base" hangingPunct="1">
        <a:spcBef>
          <a:spcPct val="0"/>
        </a:spcBef>
        <a:spcAft>
          <a:spcPct val="0"/>
        </a:spcAft>
        <a:defRPr sz="3200">
          <a:solidFill>
            <a:schemeClr val="tx1"/>
          </a:solidFill>
          <a:latin typeface="Arial" charset="0"/>
          <a:ea typeface="宋体" pitchFamily="2" charset="-122"/>
        </a:defRPr>
      </a:lvl4pPr>
      <a:lvl5pPr algn="ctr" rtl="0" eaLnBrk="1" fontAlgn="base" hangingPunct="1">
        <a:spcBef>
          <a:spcPct val="0"/>
        </a:spcBef>
        <a:spcAft>
          <a:spcPct val="0"/>
        </a:spcAft>
        <a:defRPr sz="3200">
          <a:solidFill>
            <a:schemeClr val="tx1"/>
          </a:solidFill>
          <a:latin typeface="Arial" charset="0"/>
          <a:ea typeface="宋体" pitchFamily="2" charset="-122"/>
        </a:defRPr>
      </a:lvl5pPr>
      <a:lvl6pPr marL="457200" algn="ctr" rtl="0" eaLnBrk="1" fontAlgn="base" hangingPunct="1">
        <a:spcBef>
          <a:spcPct val="0"/>
        </a:spcBef>
        <a:spcAft>
          <a:spcPct val="0"/>
        </a:spcAft>
        <a:defRPr sz="3200">
          <a:solidFill>
            <a:schemeClr val="tx1"/>
          </a:solidFill>
          <a:latin typeface="Arial" charset="0"/>
          <a:ea typeface="宋体" pitchFamily="2" charset="-122"/>
        </a:defRPr>
      </a:lvl6pPr>
      <a:lvl7pPr marL="914400" algn="ctr" rtl="0" eaLnBrk="1" fontAlgn="base" hangingPunct="1">
        <a:spcBef>
          <a:spcPct val="0"/>
        </a:spcBef>
        <a:spcAft>
          <a:spcPct val="0"/>
        </a:spcAft>
        <a:defRPr sz="3200">
          <a:solidFill>
            <a:schemeClr val="tx1"/>
          </a:solidFill>
          <a:latin typeface="Arial" charset="0"/>
          <a:ea typeface="宋体" pitchFamily="2" charset="-122"/>
        </a:defRPr>
      </a:lvl7pPr>
      <a:lvl8pPr marL="1371600" algn="ctr" rtl="0" eaLnBrk="1" fontAlgn="base" hangingPunct="1">
        <a:spcBef>
          <a:spcPct val="0"/>
        </a:spcBef>
        <a:spcAft>
          <a:spcPct val="0"/>
        </a:spcAft>
        <a:defRPr sz="3200">
          <a:solidFill>
            <a:schemeClr val="tx1"/>
          </a:solidFill>
          <a:latin typeface="Arial" charset="0"/>
          <a:ea typeface="宋体" pitchFamily="2" charset="-122"/>
        </a:defRPr>
      </a:lvl8pPr>
      <a:lvl9pPr marL="1828800" algn="ctr" rtl="0" eaLnBrk="1" fontAlgn="base" hangingPunct="1">
        <a:spcBef>
          <a:spcPct val="0"/>
        </a:spcBef>
        <a:spcAft>
          <a:spcPct val="0"/>
        </a:spcAft>
        <a:defRPr sz="3200">
          <a:solidFill>
            <a:schemeClr val="tx1"/>
          </a:solidFill>
          <a:latin typeface="Arial" charset="0"/>
          <a:ea typeface="宋体" pitchFamily="2" charset="-122"/>
        </a:defRPr>
      </a:lvl9pPr>
    </p:titleStyle>
    <p:bodyStyle>
      <a:lvl1pPr marL="447675" indent="-447675"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楷体" pitchFamily="49" charset="-122"/>
          <a:cs typeface="+mn-cs"/>
        </a:defRPr>
      </a:lvl1pPr>
      <a:lvl2pPr marL="889000" indent="-439738" algn="l" rtl="0" eaLnBrk="1" fontAlgn="base" hangingPunct="1">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楷体" pitchFamily="49" charset="-122"/>
        </a:defRPr>
      </a:lvl2pPr>
      <a:lvl3pPr marL="1293813" indent="-403225" algn="l" rtl="0" eaLnBrk="1" fontAlgn="base" hangingPunct="1">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楷体" pitchFamily="49" charset="-122"/>
        </a:defRPr>
      </a:lvl3pPr>
      <a:lvl4pPr marL="1681163" indent="-385763" algn="l" rtl="0" eaLnBrk="1" fontAlgn="base" hangingPunct="1">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楷体" pitchFamily="49" charset="-122"/>
        </a:defRPr>
      </a:lvl4pPr>
      <a:lvl5pPr marL="20701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楷体" pitchFamily="49" charset="-122"/>
        </a:defRPr>
      </a:lvl5pPr>
      <a:lvl6pPr marL="25273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stateofthedapps.com/zh/dapps/gole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ctrTitle"/>
          </p:nvPr>
        </p:nvSpPr>
        <p:spPr/>
        <p:txBody>
          <a:bodyPr/>
          <a:lstStyle/>
          <a:p>
            <a:r>
              <a:rPr lang="zh-CN" altLang="en-US" dirty="0" smtClean="0"/>
              <a:t>区</a:t>
            </a:r>
            <a:r>
              <a:rPr lang="zh-CN" altLang="en-US" dirty="0"/>
              <a:t>块链技术的</a:t>
            </a:r>
            <a:r>
              <a:rPr lang="zh-CN" altLang="en-US" dirty="0" smtClean="0"/>
              <a:t>行业应用</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a:t>
            </a:r>
            <a:r>
              <a:rPr lang="zh-CN" altLang="en-US" dirty="0" smtClean="0"/>
              <a:t>块链应用的三</a:t>
            </a:r>
            <a:r>
              <a:rPr lang="zh-CN" altLang="en-US" dirty="0"/>
              <a:t>个层级</a:t>
            </a:r>
          </a:p>
        </p:txBody>
      </p:sp>
      <p:sp>
        <p:nvSpPr>
          <p:cNvPr id="3" name="内容占位符 2"/>
          <p:cNvSpPr>
            <a:spLocks noGrp="1"/>
          </p:cNvSpPr>
          <p:nvPr>
            <p:ph idx="1"/>
          </p:nvPr>
        </p:nvSpPr>
        <p:spPr/>
        <p:txBody>
          <a:bodyPr/>
          <a:lstStyle/>
          <a:p>
            <a:r>
              <a:rPr lang="zh-CN" altLang="en-US" dirty="0"/>
              <a:t>区</a:t>
            </a:r>
            <a:r>
              <a:rPr lang="zh-CN" altLang="en-US" dirty="0" smtClean="0"/>
              <a:t>块链</a:t>
            </a:r>
            <a:r>
              <a:rPr lang="en-US" altLang="zh-CN" dirty="0" smtClean="0"/>
              <a:t>1.0</a:t>
            </a:r>
            <a:r>
              <a:rPr lang="zh-CN" altLang="en-US" dirty="0" smtClean="0"/>
              <a:t>：</a:t>
            </a:r>
            <a:r>
              <a:rPr lang="en-US" altLang="zh-CN" dirty="0" smtClean="0"/>
              <a:t> </a:t>
            </a:r>
            <a:r>
              <a:rPr lang="zh-CN" altLang="en-US" dirty="0"/>
              <a:t>对应的经济形态是以比特币为代表的虚拟</a:t>
            </a:r>
            <a:r>
              <a:rPr lang="zh-CN" altLang="en-US" dirty="0" smtClean="0"/>
              <a:t>货币</a:t>
            </a:r>
            <a:r>
              <a:rPr lang="zh-CN" altLang="en-US" dirty="0"/>
              <a:t>，应用和货币相关，例如货币转移、汇兑和支付</a:t>
            </a:r>
            <a:r>
              <a:rPr lang="zh-CN" altLang="en-US" dirty="0" smtClean="0"/>
              <a:t>系统</a:t>
            </a:r>
            <a:r>
              <a:rPr lang="zh-CN" altLang="en-US" dirty="0"/>
              <a:t>等</a:t>
            </a:r>
            <a:r>
              <a:rPr lang="zh-CN" altLang="en-US" dirty="0" smtClean="0"/>
              <a:t>。</a:t>
            </a:r>
            <a:endParaRPr lang="en-US" altLang="zh-CN" dirty="0" smtClean="0"/>
          </a:p>
          <a:p>
            <a:r>
              <a:rPr lang="zh-CN" altLang="en-US" dirty="0" smtClean="0"/>
              <a:t>区</a:t>
            </a:r>
            <a:r>
              <a:rPr lang="zh-CN" altLang="en-US" dirty="0"/>
              <a:t>块链</a:t>
            </a:r>
            <a:r>
              <a:rPr lang="en-US" altLang="zh-CN" dirty="0" smtClean="0"/>
              <a:t>2.0</a:t>
            </a:r>
            <a:r>
              <a:rPr lang="zh-CN" altLang="en-US" dirty="0" smtClean="0"/>
              <a:t>：</a:t>
            </a:r>
            <a:r>
              <a:rPr lang="en-US" altLang="zh-CN" dirty="0" smtClean="0"/>
              <a:t> </a:t>
            </a:r>
            <a:r>
              <a:rPr lang="zh-CN" altLang="en-US" dirty="0"/>
              <a:t>对应的经济</a:t>
            </a:r>
            <a:r>
              <a:rPr lang="zh-CN" altLang="en-US" dirty="0" smtClean="0"/>
              <a:t>形态是</a:t>
            </a:r>
            <a:r>
              <a:rPr lang="zh-CN" altLang="en-US" dirty="0"/>
              <a:t>智能</a:t>
            </a:r>
            <a:r>
              <a:rPr lang="zh-CN" altLang="en-US" dirty="0" smtClean="0"/>
              <a:t>合约主导</a:t>
            </a:r>
            <a:r>
              <a:rPr lang="zh-CN" altLang="en-US" dirty="0"/>
              <a:t>的去中心化应用，其应用场景更加丰富，但仍</a:t>
            </a:r>
            <a:r>
              <a:rPr lang="zh-CN" altLang="en-US" dirty="0" smtClean="0"/>
              <a:t>偏向</a:t>
            </a:r>
            <a:r>
              <a:rPr lang="zh-CN" altLang="en-US" dirty="0"/>
              <a:t>经济领域，涵盖例如股权、债券、信贷等场景</a:t>
            </a:r>
            <a:r>
              <a:rPr lang="zh-CN" altLang="en-US" dirty="0" smtClean="0"/>
              <a:t>。</a:t>
            </a:r>
            <a:endParaRPr lang="en-US" altLang="zh-CN" dirty="0" smtClean="0"/>
          </a:p>
          <a:p>
            <a:r>
              <a:rPr lang="zh-CN" altLang="en-US" dirty="0" smtClean="0"/>
              <a:t>区块链</a:t>
            </a:r>
            <a:r>
              <a:rPr lang="en-US" altLang="zh-CN" dirty="0" smtClean="0"/>
              <a:t>3.0</a:t>
            </a:r>
            <a:r>
              <a:rPr lang="zh-CN" altLang="en-US" dirty="0" smtClean="0"/>
              <a:t>：</a:t>
            </a:r>
            <a:r>
              <a:rPr lang="en-US" altLang="zh-CN" dirty="0" smtClean="0"/>
              <a:t> </a:t>
            </a:r>
            <a:r>
              <a:rPr lang="zh-CN" altLang="en-US" dirty="0"/>
              <a:t>将区块链应用的领域扩展到现实场景中，</a:t>
            </a:r>
            <a:r>
              <a:rPr lang="zh-CN" altLang="en-US" dirty="0" smtClean="0"/>
              <a:t>与物</a:t>
            </a:r>
            <a:r>
              <a:rPr lang="zh-CN" altLang="en-US" dirty="0"/>
              <a:t>联网等其他技术相结合，覆盖人类社会生活的</a:t>
            </a:r>
            <a:r>
              <a:rPr lang="zh-CN" altLang="en-US" dirty="0" smtClean="0"/>
              <a:t>各个方面，例如</a:t>
            </a:r>
            <a:r>
              <a:rPr lang="zh-CN" altLang="en-US" dirty="0"/>
              <a:t>医疗健康、知识产权、</a:t>
            </a:r>
            <a:r>
              <a:rPr lang="zh-CN" altLang="en-US" dirty="0" smtClean="0"/>
              <a:t>物联网</a:t>
            </a:r>
            <a:r>
              <a:rPr lang="zh-CN" altLang="en-US" dirty="0"/>
              <a:t>、社会管理、慈善公益等。</a:t>
            </a:r>
          </a:p>
        </p:txBody>
      </p:sp>
    </p:spTree>
    <p:extLst>
      <p:ext uri="{BB962C8B-B14F-4D97-AF65-F5344CB8AC3E}">
        <p14:creationId xmlns:p14="http://schemas.microsoft.com/office/powerpoint/2010/main" val="11366496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a:t>
            </a:r>
            <a:r>
              <a:rPr lang="en-US" altLang="zh-CN" dirty="0"/>
              <a:t>1.0--</a:t>
            </a:r>
            <a:r>
              <a:rPr lang="zh-CN" altLang="en-US" dirty="0"/>
              <a:t>数字货币</a:t>
            </a:r>
          </a:p>
        </p:txBody>
      </p:sp>
      <p:sp>
        <p:nvSpPr>
          <p:cNvPr id="3" name="内容占位符 2"/>
          <p:cNvSpPr>
            <a:spLocks noGrp="1"/>
          </p:cNvSpPr>
          <p:nvPr>
            <p:ph idx="1"/>
          </p:nvPr>
        </p:nvSpPr>
        <p:spPr>
          <a:xfrm>
            <a:off x="467544" y="1484784"/>
            <a:ext cx="8142287" cy="4392612"/>
          </a:xfrm>
        </p:spPr>
        <p:txBody>
          <a:bodyPr/>
          <a:lstStyle/>
          <a:p>
            <a:r>
              <a:rPr lang="zh-CN" altLang="en-US" dirty="0"/>
              <a:t>在区块链</a:t>
            </a:r>
            <a:r>
              <a:rPr lang="en-US" altLang="zh-CN" dirty="0"/>
              <a:t>1.0 </a:t>
            </a:r>
            <a:r>
              <a:rPr lang="zh-CN" altLang="en-US" dirty="0"/>
              <a:t>时代，主要的应用对象为货币，</a:t>
            </a:r>
            <a:r>
              <a:rPr lang="zh-CN" altLang="en-US" dirty="0" smtClean="0"/>
              <a:t>实现</a:t>
            </a:r>
            <a:r>
              <a:rPr lang="zh-CN" altLang="en-US" dirty="0"/>
              <a:t>的常用功能为货币转移、汇兑和支付等。</a:t>
            </a:r>
          </a:p>
        </p:txBody>
      </p:sp>
      <p:pic>
        <p:nvPicPr>
          <p:cNvPr id="4" name="图片 3"/>
          <p:cNvPicPr>
            <a:picLocks noChangeAspect="1"/>
          </p:cNvPicPr>
          <p:nvPr/>
        </p:nvPicPr>
        <p:blipFill>
          <a:blip r:embed="rId2"/>
          <a:stretch>
            <a:fillRect/>
          </a:stretch>
        </p:blipFill>
        <p:spPr>
          <a:xfrm>
            <a:off x="1979712" y="2630928"/>
            <a:ext cx="4908702" cy="3749235"/>
          </a:xfrm>
          <a:prstGeom prst="rect">
            <a:avLst/>
          </a:prstGeom>
        </p:spPr>
      </p:pic>
    </p:spTree>
    <p:extLst>
      <p:ext uri="{BB962C8B-B14F-4D97-AF65-F5344CB8AC3E}">
        <p14:creationId xmlns:p14="http://schemas.microsoft.com/office/powerpoint/2010/main" val="25435406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区块链</a:t>
            </a:r>
            <a:r>
              <a:rPr lang="en-US" altLang="zh-CN" smtClean="0"/>
              <a:t>2.0—</a:t>
            </a:r>
            <a:r>
              <a:rPr lang="zh-CN" altLang="en-US" smtClean="0"/>
              <a:t>智能合约</a:t>
            </a:r>
            <a:endParaRPr lang="zh-CN" altLang="en-US" dirty="0"/>
          </a:p>
        </p:txBody>
      </p:sp>
      <p:sp>
        <p:nvSpPr>
          <p:cNvPr id="3" name="内容占位符 2"/>
          <p:cNvSpPr>
            <a:spLocks noGrp="1"/>
          </p:cNvSpPr>
          <p:nvPr>
            <p:ph idx="1"/>
          </p:nvPr>
        </p:nvSpPr>
        <p:spPr>
          <a:xfrm>
            <a:off x="251521" y="1124744"/>
            <a:ext cx="8359080" cy="4752181"/>
          </a:xfrm>
        </p:spPr>
        <p:txBody>
          <a:bodyPr/>
          <a:lstStyle/>
          <a:p>
            <a:r>
              <a:rPr lang="zh-CN" altLang="en-US" dirty="0" smtClean="0"/>
              <a:t>智能合约使得受复杂条件限制的价值转移成为可能。多方用户参与智能合约创建后，将合约发布到区块链中，触发预设条件后，合约代码自动执行，并将执行后合约状态打包进区块。</a:t>
            </a:r>
            <a:endParaRPr lang="zh-CN" altLang="en-US" dirty="0"/>
          </a:p>
        </p:txBody>
      </p:sp>
      <p:pic>
        <p:nvPicPr>
          <p:cNvPr id="4" name="图片 3"/>
          <p:cNvPicPr>
            <a:picLocks noChangeAspect="1"/>
          </p:cNvPicPr>
          <p:nvPr/>
        </p:nvPicPr>
        <p:blipFill>
          <a:blip r:embed="rId2"/>
          <a:stretch>
            <a:fillRect/>
          </a:stretch>
        </p:blipFill>
        <p:spPr>
          <a:xfrm>
            <a:off x="2267744" y="2996952"/>
            <a:ext cx="5054525" cy="3749949"/>
          </a:xfrm>
          <a:prstGeom prst="rect">
            <a:avLst/>
          </a:prstGeom>
        </p:spPr>
      </p:pic>
    </p:spTree>
    <p:extLst>
      <p:ext uri="{BB962C8B-B14F-4D97-AF65-F5344CB8AC3E}">
        <p14:creationId xmlns:p14="http://schemas.microsoft.com/office/powerpoint/2010/main" val="29500750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区块链分类总结</a:t>
            </a:r>
            <a:endParaRPr lang="zh-CN" altLang="en-US" dirty="0"/>
          </a:p>
        </p:txBody>
      </p:sp>
      <p:sp>
        <p:nvSpPr>
          <p:cNvPr id="3" name="内容占位符 2"/>
          <p:cNvSpPr>
            <a:spLocks noGrp="1"/>
          </p:cNvSpPr>
          <p:nvPr>
            <p:ph idx="1"/>
          </p:nvPr>
        </p:nvSpPr>
        <p:spPr/>
        <p:txBody>
          <a:bodyPr/>
          <a:lstStyle/>
          <a:p>
            <a:r>
              <a:rPr lang="zh-CN" altLang="en-US" dirty="0" smtClean="0"/>
              <a:t>三类区块链系统的总结</a:t>
            </a:r>
            <a:endParaRPr lang="zh-CN" altLang="en-US" dirty="0"/>
          </a:p>
        </p:txBody>
      </p:sp>
      <p:pic>
        <p:nvPicPr>
          <p:cNvPr id="4" name="图片 3"/>
          <p:cNvPicPr>
            <a:picLocks noChangeAspect="1"/>
          </p:cNvPicPr>
          <p:nvPr/>
        </p:nvPicPr>
        <p:blipFill>
          <a:blip r:embed="rId2"/>
          <a:stretch>
            <a:fillRect/>
          </a:stretch>
        </p:blipFill>
        <p:spPr>
          <a:xfrm>
            <a:off x="1331640" y="1970905"/>
            <a:ext cx="6264696" cy="4401262"/>
          </a:xfrm>
          <a:prstGeom prst="rect">
            <a:avLst/>
          </a:prstGeom>
        </p:spPr>
      </p:pic>
    </p:spTree>
    <p:extLst>
      <p:ext uri="{BB962C8B-B14F-4D97-AF65-F5344CB8AC3E}">
        <p14:creationId xmlns:p14="http://schemas.microsoft.com/office/powerpoint/2010/main" val="32609590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区块链典型运用</a:t>
            </a:r>
            <a:r>
              <a:rPr lang="zh-CN" altLang="en-US" dirty="0" smtClean="0"/>
              <a:t>场景</a:t>
            </a:r>
            <a:endParaRPr lang="zh-CN" altLang="en-US" dirty="0"/>
          </a:p>
        </p:txBody>
      </p:sp>
      <p:sp>
        <p:nvSpPr>
          <p:cNvPr id="3" name="内容占位符 2"/>
          <p:cNvSpPr>
            <a:spLocks noGrp="1"/>
          </p:cNvSpPr>
          <p:nvPr>
            <p:ph idx="1"/>
          </p:nvPr>
        </p:nvSpPr>
        <p:spPr>
          <a:xfrm>
            <a:off x="107504" y="1196752"/>
            <a:ext cx="8856983" cy="4968552"/>
          </a:xfrm>
        </p:spPr>
        <p:txBody>
          <a:bodyPr/>
          <a:lstStyle/>
          <a:p>
            <a:r>
              <a:rPr lang="zh-CN" altLang="en-US" sz="2400" dirty="0"/>
              <a:t>目前，区块链的应用已从单一的数字货币应用延伸到经济社会的各个领域，除了金融服务业的应用相对成熟外，其他行业还处于探索起步阶段。</a:t>
            </a:r>
          </a:p>
          <a:p>
            <a:endParaRPr lang="zh-CN" altLang="en-US" sz="2400" dirty="0"/>
          </a:p>
        </p:txBody>
      </p:sp>
      <p:pic>
        <p:nvPicPr>
          <p:cNvPr id="4" name="图片 3" descr="区块链应用"/>
          <p:cNvPicPr>
            <a:picLocks noChangeAspect="1"/>
          </p:cNvPicPr>
          <p:nvPr/>
        </p:nvPicPr>
        <p:blipFill>
          <a:blip r:embed="rId2"/>
          <a:stretch>
            <a:fillRect/>
          </a:stretch>
        </p:blipFill>
        <p:spPr>
          <a:xfrm>
            <a:off x="1331640" y="2492896"/>
            <a:ext cx="6837063" cy="4240165"/>
          </a:xfrm>
          <a:prstGeom prst="rect">
            <a:avLst/>
          </a:prstGeom>
        </p:spPr>
      </p:pic>
    </p:spTree>
    <p:extLst>
      <p:ext uri="{BB962C8B-B14F-4D97-AF65-F5344CB8AC3E}">
        <p14:creationId xmlns:p14="http://schemas.microsoft.com/office/powerpoint/2010/main" val="1872409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去中心化应用</a:t>
            </a:r>
            <a:endParaRPr lang="zh-CN" altLang="en-US" dirty="0"/>
          </a:p>
        </p:txBody>
      </p:sp>
      <p:sp>
        <p:nvSpPr>
          <p:cNvPr id="3" name="内容占位符 2"/>
          <p:cNvSpPr>
            <a:spLocks noGrp="1"/>
          </p:cNvSpPr>
          <p:nvPr>
            <p:ph idx="1"/>
          </p:nvPr>
        </p:nvSpPr>
        <p:spPr/>
        <p:txBody>
          <a:bodyPr/>
          <a:lstStyle/>
          <a:p>
            <a:r>
              <a:rPr lang="en-US" altLang="zh-CN" dirty="0" err="1" smtClean="0"/>
              <a:t>DApp</a:t>
            </a:r>
            <a:r>
              <a:rPr lang="zh-CN" altLang="en-US" dirty="0" smtClean="0"/>
              <a:t>（</a:t>
            </a:r>
            <a:r>
              <a:rPr lang="en-US" altLang="zh-CN" dirty="0" smtClean="0"/>
              <a:t>Decentralized Application</a:t>
            </a:r>
            <a:r>
              <a:rPr lang="zh-CN" altLang="en-US" dirty="0" smtClean="0"/>
              <a:t>）</a:t>
            </a:r>
            <a:endParaRPr lang="en-US" altLang="zh-CN" dirty="0" smtClean="0"/>
          </a:p>
          <a:p>
            <a:pPr lvl="1"/>
            <a:r>
              <a:rPr lang="zh-CN" altLang="en-US" dirty="0" smtClean="0"/>
              <a:t>运行在去中心化网络上的应用；</a:t>
            </a:r>
            <a:endParaRPr lang="en-US" altLang="zh-CN" dirty="0" smtClean="0"/>
          </a:p>
          <a:p>
            <a:pPr lvl="1"/>
            <a:endParaRPr lang="en-US" altLang="zh-CN" dirty="0" smtClean="0"/>
          </a:p>
          <a:p>
            <a:pPr lvl="1"/>
            <a:r>
              <a:rPr lang="zh-CN" altLang="en-US" dirty="0" smtClean="0"/>
              <a:t>后端以智能合约的形式运行在去中心化的区块链网络上；</a:t>
            </a:r>
            <a:endParaRPr lang="en-US" altLang="zh-CN" dirty="0" smtClean="0"/>
          </a:p>
          <a:p>
            <a:pPr lvl="1"/>
            <a:endParaRPr lang="en-US" altLang="zh-CN" dirty="0" smtClean="0"/>
          </a:p>
          <a:p>
            <a:pPr lvl="1"/>
            <a:r>
              <a:rPr lang="zh-CN" altLang="en-US" dirty="0" smtClean="0"/>
              <a:t>应用数据加密后存储在区块链账本中；</a:t>
            </a:r>
            <a:endParaRPr lang="en-US" altLang="zh-CN" dirty="0" smtClean="0"/>
          </a:p>
          <a:p>
            <a:pPr lvl="1"/>
            <a:endParaRPr lang="en-US" altLang="zh-CN" dirty="0" smtClean="0"/>
          </a:p>
          <a:p>
            <a:pPr lvl="1"/>
            <a:r>
              <a:rPr lang="zh-CN" altLang="en-US" dirty="0" smtClean="0"/>
              <a:t>一般应该是开源的。</a:t>
            </a:r>
            <a:endParaRPr lang="zh-CN" altLang="en-US" dirty="0"/>
          </a:p>
        </p:txBody>
      </p:sp>
    </p:spTree>
    <p:extLst>
      <p:ext uri="{BB962C8B-B14F-4D97-AF65-F5344CB8AC3E}">
        <p14:creationId xmlns:p14="http://schemas.microsoft.com/office/powerpoint/2010/main" val="3506896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去中心化应用</a:t>
            </a:r>
          </a:p>
        </p:txBody>
      </p:sp>
      <p:sp>
        <p:nvSpPr>
          <p:cNvPr id="3" name="内容占位符 2"/>
          <p:cNvSpPr>
            <a:spLocks noGrp="1"/>
          </p:cNvSpPr>
          <p:nvPr>
            <p:ph idx="1"/>
          </p:nvPr>
        </p:nvSpPr>
        <p:spPr/>
        <p:txBody>
          <a:bodyPr/>
          <a:lstStyle/>
          <a:p>
            <a:r>
              <a:rPr lang="en-US" altLang="zh-CN" dirty="0" smtClean="0"/>
              <a:t>DAPP</a:t>
            </a:r>
          </a:p>
          <a:p>
            <a:pPr lvl="1"/>
            <a:r>
              <a:rPr lang="zh-CN" altLang="en-US" dirty="0" smtClean="0"/>
              <a:t>前端  </a:t>
            </a:r>
            <a:r>
              <a:rPr lang="en-US" altLang="zh-CN" dirty="0" smtClean="0"/>
              <a:t>+   </a:t>
            </a:r>
            <a:r>
              <a:rPr lang="zh-CN" altLang="en-US" dirty="0" smtClean="0"/>
              <a:t>智能合约 </a:t>
            </a:r>
            <a:r>
              <a:rPr lang="en-US" altLang="zh-CN" dirty="0" smtClean="0"/>
              <a:t>+ TOKEN</a:t>
            </a:r>
            <a:r>
              <a:rPr lang="zh-CN" altLang="en-US" dirty="0" smtClean="0"/>
              <a:t>（通证）+ 分布式账本</a:t>
            </a:r>
            <a:endParaRPr lang="en-US" altLang="zh-CN" dirty="0" smtClean="0"/>
          </a:p>
          <a:p>
            <a:endParaRPr lang="en-US" altLang="zh-CN" dirty="0" smtClean="0"/>
          </a:p>
          <a:p>
            <a:endParaRPr lang="en-US" altLang="zh-CN" dirty="0"/>
          </a:p>
          <a:p>
            <a:r>
              <a:rPr lang="zh-CN" altLang="en-US" dirty="0" smtClean="0"/>
              <a:t>传统应用</a:t>
            </a:r>
            <a:endParaRPr lang="en-US" altLang="zh-CN" dirty="0" smtClean="0"/>
          </a:p>
          <a:p>
            <a:pPr lvl="1"/>
            <a:r>
              <a:rPr lang="zh-CN" altLang="en-US" dirty="0" smtClean="0"/>
              <a:t>前端 </a:t>
            </a:r>
            <a:r>
              <a:rPr lang="en-US" altLang="zh-CN" dirty="0" smtClean="0"/>
              <a:t>+ </a:t>
            </a:r>
            <a:r>
              <a:rPr lang="zh-CN" altLang="en-US" dirty="0" smtClean="0"/>
              <a:t>应用服务器 </a:t>
            </a:r>
            <a:r>
              <a:rPr lang="en-US" altLang="zh-CN" dirty="0" smtClean="0"/>
              <a:t>+ </a:t>
            </a:r>
            <a:r>
              <a:rPr lang="zh-CN" altLang="en-US" dirty="0" smtClean="0"/>
              <a:t>数据库服务器</a:t>
            </a:r>
            <a:endParaRPr lang="zh-CN" altLang="en-US" dirty="0"/>
          </a:p>
        </p:txBody>
      </p:sp>
    </p:spTree>
    <p:extLst>
      <p:ext uri="{BB962C8B-B14F-4D97-AF65-F5344CB8AC3E}">
        <p14:creationId xmlns:p14="http://schemas.microsoft.com/office/powerpoint/2010/main" val="3290253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DAPP</a:t>
            </a:r>
            <a:r>
              <a:rPr lang="zh-CN" altLang="en-US" dirty="0" smtClean="0"/>
              <a:t>的结构</a:t>
            </a:r>
            <a:endParaRPr lang="zh-CN" altLang="en-US" dirty="0"/>
          </a:p>
        </p:txBody>
      </p:sp>
      <p:grpSp>
        <p:nvGrpSpPr>
          <p:cNvPr id="47" name="组合 46"/>
          <p:cNvGrpSpPr/>
          <p:nvPr/>
        </p:nvGrpSpPr>
        <p:grpSpPr>
          <a:xfrm>
            <a:off x="899592" y="1412776"/>
            <a:ext cx="7056784" cy="4796828"/>
            <a:chOff x="1187624" y="1656508"/>
            <a:chExt cx="7056784" cy="4796828"/>
          </a:xfrm>
        </p:grpSpPr>
        <p:sp>
          <p:nvSpPr>
            <p:cNvPr id="4" name="矩形 3"/>
            <p:cNvSpPr/>
            <p:nvPr/>
          </p:nvSpPr>
          <p:spPr bwMode="auto">
            <a:xfrm>
              <a:off x="1187624" y="2852936"/>
              <a:ext cx="7056784" cy="3600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5" name="文本框 4"/>
            <p:cNvSpPr txBox="1"/>
            <p:nvPr/>
          </p:nvSpPr>
          <p:spPr>
            <a:xfrm>
              <a:off x="3491880" y="3068960"/>
              <a:ext cx="2232248" cy="646331"/>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dirty="0" smtClean="0"/>
                <a:t>HTML/JavaScript</a:t>
              </a:r>
            </a:p>
            <a:p>
              <a:pPr algn="ctr"/>
              <a:r>
                <a:rPr lang="en-US" altLang="zh-CN" dirty="0" smtClean="0"/>
                <a:t>Web3.js</a:t>
              </a:r>
              <a:endParaRPr lang="zh-CN" altLang="en-US" dirty="0"/>
            </a:p>
          </p:txBody>
        </p:sp>
        <p:sp>
          <p:nvSpPr>
            <p:cNvPr id="7" name="矩形 6"/>
            <p:cNvSpPr/>
            <p:nvPr/>
          </p:nvSpPr>
          <p:spPr bwMode="auto">
            <a:xfrm flipH="1">
              <a:off x="1619672" y="3909466"/>
              <a:ext cx="6192688" cy="223224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altLang="zh-CN" dirty="0" smtClean="0">
                  <a:latin typeface="Times New Roman" pitchFamily="18" charset="0"/>
                </a:rPr>
                <a:t>EVM</a:t>
              </a: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sp>
          <p:nvSpPr>
            <p:cNvPr id="34" name="矩形 33"/>
            <p:cNvSpPr/>
            <p:nvPr/>
          </p:nvSpPr>
          <p:spPr bwMode="auto">
            <a:xfrm>
              <a:off x="1944030" y="4293096"/>
              <a:ext cx="5580298" cy="1631420"/>
            </a:xfrm>
            <a:prstGeom prst="rect">
              <a:avLst/>
            </a:prstGeom>
            <a:solidFill>
              <a:schemeClr val="bg1"/>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zh-CN" dirty="0">
                <a:latin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zh-CN" dirty="0">
                <a:latin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区块链</a:t>
              </a:r>
            </a:p>
          </p:txBody>
        </p:sp>
        <p:grpSp>
          <p:nvGrpSpPr>
            <p:cNvPr id="12" name="组合 11"/>
            <p:cNvGrpSpPr/>
            <p:nvPr/>
          </p:nvGrpSpPr>
          <p:grpSpPr>
            <a:xfrm>
              <a:off x="2123728" y="4379784"/>
              <a:ext cx="1368152" cy="1150040"/>
              <a:chOff x="2123728" y="4437112"/>
              <a:chExt cx="1368152" cy="1150040"/>
            </a:xfrm>
          </p:grpSpPr>
          <p:sp>
            <p:nvSpPr>
              <p:cNvPr id="9" name="矩形 8"/>
              <p:cNvSpPr/>
              <p:nvPr/>
            </p:nvSpPr>
            <p:spPr bwMode="auto">
              <a:xfrm>
                <a:off x="2123728" y="4437112"/>
                <a:ext cx="1368152" cy="115004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r>
                  <a:rPr lang="zh-CN" altLang="en-US" dirty="0" smtClean="0">
                    <a:latin typeface="Times New Roman" pitchFamily="18" charset="0"/>
                  </a:rPr>
                  <a:t>区块</a:t>
                </a: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p:txBody>
          </p:sp>
          <p:sp>
            <p:nvSpPr>
              <p:cNvPr id="10" name="矩形 9"/>
              <p:cNvSpPr/>
              <p:nvPr/>
            </p:nvSpPr>
            <p:spPr bwMode="auto">
              <a:xfrm>
                <a:off x="2699792" y="4509120"/>
                <a:ext cx="720080" cy="576064"/>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智能</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合约</a:t>
                </a:r>
              </a:p>
            </p:txBody>
          </p:sp>
          <p:sp>
            <p:nvSpPr>
              <p:cNvPr id="11" name="矩形 10"/>
              <p:cNvSpPr/>
              <p:nvPr/>
            </p:nvSpPr>
            <p:spPr bwMode="auto">
              <a:xfrm>
                <a:off x="2339752" y="5229200"/>
                <a:ext cx="936104" cy="288032"/>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哈希值</a:t>
                </a:r>
              </a:p>
            </p:txBody>
          </p:sp>
        </p:grpSp>
        <p:grpSp>
          <p:nvGrpSpPr>
            <p:cNvPr id="13" name="组合 12"/>
            <p:cNvGrpSpPr/>
            <p:nvPr/>
          </p:nvGrpSpPr>
          <p:grpSpPr>
            <a:xfrm>
              <a:off x="3851920" y="4388911"/>
              <a:ext cx="1368152" cy="1150040"/>
              <a:chOff x="2123728" y="4437112"/>
              <a:chExt cx="1368152" cy="1150040"/>
            </a:xfrm>
          </p:grpSpPr>
          <p:sp>
            <p:nvSpPr>
              <p:cNvPr id="14" name="矩形 13"/>
              <p:cNvSpPr/>
              <p:nvPr/>
            </p:nvSpPr>
            <p:spPr bwMode="auto">
              <a:xfrm>
                <a:off x="2123728" y="4437112"/>
                <a:ext cx="1368152" cy="115004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r>
                  <a:rPr lang="zh-CN" altLang="en-US" dirty="0" smtClean="0">
                    <a:latin typeface="Times New Roman" pitchFamily="18" charset="0"/>
                  </a:rPr>
                  <a:t>区块</a:t>
                </a: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p:txBody>
          </p:sp>
          <p:sp>
            <p:nvSpPr>
              <p:cNvPr id="15" name="矩形 14"/>
              <p:cNvSpPr/>
              <p:nvPr/>
            </p:nvSpPr>
            <p:spPr bwMode="auto">
              <a:xfrm>
                <a:off x="2699792" y="4509120"/>
                <a:ext cx="720080" cy="576064"/>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智能</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合约</a:t>
                </a:r>
              </a:p>
            </p:txBody>
          </p:sp>
          <p:sp>
            <p:nvSpPr>
              <p:cNvPr id="16" name="矩形 15"/>
              <p:cNvSpPr/>
              <p:nvPr/>
            </p:nvSpPr>
            <p:spPr bwMode="auto">
              <a:xfrm>
                <a:off x="2339752" y="5229200"/>
                <a:ext cx="936104" cy="288032"/>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哈希值</a:t>
                </a:r>
              </a:p>
            </p:txBody>
          </p:sp>
        </p:grpSp>
        <p:grpSp>
          <p:nvGrpSpPr>
            <p:cNvPr id="17" name="组合 16"/>
            <p:cNvGrpSpPr/>
            <p:nvPr/>
          </p:nvGrpSpPr>
          <p:grpSpPr>
            <a:xfrm>
              <a:off x="5677948" y="4379540"/>
              <a:ext cx="1368152" cy="1150040"/>
              <a:chOff x="2123728" y="4437112"/>
              <a:chExt cx="1368152" cy="1150040"/>
            </a:xfrm>
          </p:grpSpPr>
          <p:sp>
            <p:nvSpPr>
              <p:cNvPr id="18" name="矩形 17"/>
              <p:cNvSpPr/>
              <p:nvPr/>
            </p:nvSpPr>
            <p:spPr bwMode="auto">
              <a:xfrm>
                <a:off x="2123728" y="4437112"/>
                <a:ext cx="1368152" cy="115004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r>
                  <a:rPr lang="zh-CN" altLang="en-US" dirty="0" smtClean="0">
                    <a:latin typeface="Times New Roman" pitchFamily="18" charset="0"/>
                  </a:rPr>
                  <a:t>区块</a:t>
                </a: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a:p>
                <a:pPr marL="0" marR="0" indent="0"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ndParaRPr>
              </a:p>
            </p:txBody>
          </p:sp>
          <p:sp>
            <p:nvSpPr>
              <p:cNvPr id="19" name="矩形 18"/>
              <p:cNvSpPr/>
              <p:nvPr/>
            </p:nvSpPr>
            <p:spPr bwMode="auto">
              <a:xfrm>
                <a:off x="2699792" y="4509120"/>
                <a:ext cx="720080" cy="576064"/>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智能</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合约</a:t>
                </a:r>
              </a:p>
            </p:txBody>
          </p:sp>
          <p:sp>
            <p:nvSpPr>
              <p:cNvPr id="20" name="矩形 19"/>
              <p:cNvSpPr/>
              <p:nvPr/>
            </p:nvSpPr>
            <p:spPr bwMode="auto">
              <a:xfrm>
                <a:off x="2339752" y="5229200"/>
                <a:ext cx="936104" cy="288032"/>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rPr>
                  <a:t>哈希值</a:t>
                </a:r>
              </a:p>
            </p:txBody>
          </p:sp>
        </p:grpSp>
        <p:cxnSp>
          <p:nvCxnSpPr>
            <p:cNvPr id="28" name="直接箭头连接符 27"/>
            <p:cNvCxnSpPr/>
            <p:nvPr/>
          </p:nvCxnSpPr>
          <p:spPr bwMode="auto">
            <a:xfrm flipH="1">
              <a:off x="3491881" y="5325015"/>
              <a:ext cx="511794"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29" name="直接箭头连接符 28"/>
            <p:cNvCxnSpPr/>
            <p:nvPr/>
          </p:nvCxnSpPr>
          <p:spPr bwMode="auto">
            <a:xfrm flipH="1">
              <a:off x="5220073" y="5315644"/>
              <a:ext cx="673899"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32" name="直接箭头连接符 31"/>
            <p:cNvCxnSpPr/>
            <p:nvPr/>
          </p:nvCxnSpPr>
          <p:spPr bwMode="auto">
            <a:xfrm flipH="1">
              <a:off x="1944030" y="5326255"/>
              <a:ext cx="359395"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cxnSp>
          <p:nvCxnSpPr>
            <p:cNvPr id="33" name="直接箭头连接符 32"/>
            <p:cNvCxnSpPr/>
            <p:nvPr/>
          </p:nvCxnSpPr>
          <p:spPr bwMode="auto">
            <a:xfrm flipH="1">
              <a:off x="6974092" y="5307899"/>
              <a:ext cx="359395" cy="0"/>
            </a:xfrm>
            <a:prstGeom prst="straightConnector1">
              <a:avLst/>
            </a:prstGeom>
            <a:solidFill>
              <a:schemeClr val="bg1"/>
            </a:solidFill>
            <a:ln w="9525" cap="flat" cmpd="sng" algn="ctr">
              <a:solidFill>
                <a:srgbClr val="FF0000"/>
              </a:solidFill>
              <a:prstDash val="solid"/>
              <a:round/>
              <a:headEnd type="none" w="med" len="med"/>
              <a:tailEnd type="triangle"/>
            </a:ln>
            <a:effectLst/>
          </p:spPr>
        </p:cxnSp>
        <p:sp>
          <p:nvSpPr>
            <p:cNvPr id="35" name="矩形 34"/>
            <p:cNvSpPr/>
            <p:nvPr/>
          </p:nvSpPr>
          <p:spPr bwMode="auto">
            <a:xfrm>
              <a:off x="7164288" y="3068960"/>
              <a:ext cx="648072" cy="432048"/>
            </a:xfrm>
            <a:prstGeom prst="rect">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rPr>
                <a:t>DAPP</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sp>
          <p:nvSpPr>
            <p:cNvPr id="36" name="矩形 35"/>
            <p:cNvSpPr/>
            <p:nvPr/>
          </p:nvSpPr>
          <p:spPr bwMode="auto">
            <a:xfrm>
              <a:off x="2123728" y="1675518"/>
              <a:ext cx="720080"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latin typeface="Times New Roman" pitchFamily="18" charset="0"/>
                </a:rPr>
                <a:t>Mist</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38" name="直接箭头连接符 37"/>
            <p:cNvCxnSpPr>
              <a:stCxn id="36" idx="2"/>
            </p:cNvCxnSpPr>
            <p:nvPr/>
          </p:nvCxnSpPr>
          <p:spPr bwMode="auto">
            <a:xfrm>
              <a:off x="2483768" y="2179574"/>
              <a:ext cx="0" cy="673362"/>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39" name="矩形 38"/>
            <p:cNvSpPr/>
            <p:nvPr/>
          </p:nvSpPr>
          <p:spPr bwMode="auto">
            <a:xfrm>
              <a:off x="3563888" y="1656508"/>
              <a:ext cx="720080"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latin typeface="Times New Roman" pitchFamily="18" charset="0"/>
                </a:rPr>
                <a:t>Parity</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40" name="直接箭头连接符 39"/>
            <p:cNvCxnSpPr>
              <a:stCxn id="39" idx="2"/>
            </p:cNvCxnSpPr>
            <p:nvPr/>
          </p:nvCxnSpPr>
          <p:spPr bwMode="auto">
            <a:xfrm>
              <a:off x="3923928" y="2160564"/>
              <a:ext cx="0" cy="673362"/>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1" name="矩形 40"/>
            <p:cNvSpPr/>
            <p:nvPr/>
          </p:nvSpPr>
          <p:spPr bwMode="auto">
            <a:xfrm>
              <a:off x="5004048" y="1656508"/>
              <a:ext cx="720080"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smtClean="0">
                  <a:latin typeface="Times New Roman" pitchFamily="18" charset="0"/>
                </a:rPr>
                <a:t>Status</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42" name="直接箭头连接符 41"/>
            <p:cNvCxnSpPr>
              <a:stCxn id="41" idx="2"/>
            </p:cNvCxnSpPr>
            <p:nvPr/>
          </p:nvCxnSpPr>
          <p:spPr bwMode="auto">
            <a:xfrm>
              <a:off x="5364088" y="2160564"/>
              <a:ext cx="0" cy="673362"/>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3" name="矩形 42"/>
            <p:cNvSpPr/>
            <p:nvPr/>
          </p:nvSpPr>
          <p:spPr bwMode="auto">
            <a:xfrm>
              <a:off x="6254012" y="1658388"/>
              <a:ext cx="982284"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err="1" smtClean="0">
                  <a:latin typeface="Times New Roman" pitchFamily="18" charset="0"/>
                </a:rPr>
                <a:t>MetaMask</a:t>
              </a:r>
              <a:endPar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endParaRPr>
            </a:p>
          </p:txBody>
        </p:sp>
        <p:cxnSp>
          <p:nvCxnSpPr>
            <p:cNvPr id="44" name="直接箭头连接符 43"/>
            <p:cNvCxnSpPr>
              <a:stCxn id="43" idx="2"/>
            </p:cNvCxnSpPr>
            <p:nvPr/>
          </p:nvCxnSpPr>
          <p:spPr bwMode="auto">
            <a:xfrm>
              <a:off x="6745154" y="2162444"/>
              <a:ext cx="14794" cy="673362"/>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1224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去中心化应用</a:t>
            </a:r>
          </a:p>
        </p:txBody>
      </p:sp>
      <p:sp>
        <p:nvSpPr>
          <p:cNvPr id="3" name="内容占位符 2"/>
          <p:cNvSpPr>
            <a:spLocks noGrp="1"/>
          </p:cNvSpPr>
          <p:nvPr>
            <p:ph idx="1"/>
          </p:nvPr>
        </p:nvSpPr>
        <p:spPr/>
        <p:txBody>
          <a:bodyPr/>
          <a:lstStyle/>
          <a:p>
            <a:r>
              <a:rPr lang="en-US" altLang="zh-CN" dirty="0" smtClean="0"/>
              <a:t>DAPP</a:t>
            </a:r>
            <a:r>
              <a:rPr lang="zh-CN" altLang="en-US" dirty="0" smtClean="0"/>
              <a:t>的特点</a:t>
            </a:r>
            <a:endParaRPr lang="en-US" altLang="zh-CN" dirty="0" smtClean="0"/>
          </a:p>
          <a:p>
            <a:pPr lvl="1"/>
            <a:r>
              <a:rPr lang="zh-CN" altLang="en-US" dirty="0" smtClean="0"/>
              <a:t>公开透明</a:t>
            </a:r>
            <a:endParaRPr lang="en-US" altLang="zh-CN" dirty="0" smtClean="0"/>
          </a:p>
          <a:p>
            <a:pPr lvl="1"/>
            <a:endParaRPr lang="en-US" altLang="zh-CN" dirty="0"/>
          </a:p>
          <a:p>
            <a:pPr lvl="1"/>
            <a:r>
              <a:rPr lang="zh-CN" altLang="en-US" dirty="0" smtClean="0"/>
              <a:t>无中心点故障</a:t>
            </a:r>
            <a:endParaRPr lang="en-US" altLang="zh-CN" dirty="0" smtClean="0"/>
          </a:p>
          <a:p>
            <a:pPr lvl="1"/>
            <a:endParaRPr lang="en-US" altLang="zh-CN" dirty="0"/>
          </a:p>
          <a:p>
            <a:pPr lvl="1"/>
            <a:r>
              <a:rPr lang="zh-CN" altLang="en-US" dirty="0" smtClean="0"/>
              <a:t>依赖共识机制</a:t>
            </a:r>
            <a:endParaRPr lang="en-US" altLang="zh-CN" dirty="0" smtClean="0"/>
          </a:p>
          <a:p>
            <a:pPr lvl="1"/>
            <a:endParaRPr lang="en-US" altLang="zh-CN" dirty="0"/>
          </a:p>
          <a:p>
            <a:pPr lvl="1"/>
            <a:r>
              <a:rPr lang="zh-CN" altLang="en-US" dirty="0" smtClean="0"/>
              <a:t>依赖奖励机制</a:t>
            </a:r>
            <a:endParaRPr lang="zh-CN" altLang="en-US" dirty="0"/>
          </a:p>
        </p:txBody>
      </p:sp>
    </p:spTree>
    <p:extLst>
      <p:ext uri="{BB962C8B-B14F-4D97-AF65-F5344CB8AC3E}">
        <p14:creationId xmlns:p14="http://schemas.microsoft.com/office/powerpoint/2010/main" val="824788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一个实际</a:t>
            </a:r>
            <a:r>
              <a:rPr lang="en-US" altLang="zh-CN" dirty="0" smtClean="0"/>
              <a:t>DAPP</a:t>
            </a:r>
            <a:r>
              <a:rPr lang="zh-CN" altLang="en-US" dirty="0" smtClean="0"/>
              <a:t>的案例</a:t>
            </a:r>
            <a:endParaRPr lang="zh-CN" altLang="en-US" dirty="0"/>
          </a:p>
        </p:txBody>
      </p:sp>
      <p:sp>
        <p:nvSpPr>
          <p:cNvPr id="3" name="内容占位符 2"/>
          <p:cNvSpPr>
            <a:spLocks noGrp="1"/>
          </p:cNvSpPr>
          <p:nvPr>
            <p:ph idx="1"/>
          </p:nvPr>
        </p:nvSpPr>
        <p:spPr/>
        <p:txBody>
          <a:bodyPr/>
          <a:lstStyle/>
          <a:p>
            <a:r>
              <a:rPr lang="en-US" altLang="zh-CN" dirty="0" smtClean="0"/>
              <a:t>golem</a:t>
            </a:r>
          </a:p>
          <a:p>
            <a:pPr lvl="1"/>
            <a:r>
              <a:rPr lang="zh-CN" altLang="en-US" dirty="0"/>
              <a:t>去中心算力市场，为闲置算力和算力需求方撮合交易</a:t>
            </a:r>
            <a:r>
              <a:rPr lang="zh-CN" altLang="en-US" dirty="0" smtClean="0"/>
              <a:t>。</a:t>
            </a:r>
            <a:endParaRPr lang="en-US" altLang="zh-CN" dirty="0" smtClean="0"/>
          </a:p>
          <a:p>
            <a:pPr lvl="1"/>
            <a:r>
              <a:rPr lang="en-US" altLang="zh-CN" dirty="0">
                <a:hlinkClick r:id="rId2"/>
              </a:rPr>
              <a:t>https://</a:t>
            </a:r>
            <a:r>
              <a:rPr lang="en-US" altLang="zh-CN" dirty="0" smtClean="0">
                <a:hlinkClick r:id="rId2"/>
              </a:rPr>
              <a:t>www.stateofthedapps.com/zh/dapps/golem</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3140968"/>
            <a:ext cx="5292080" cy="2876627"/>
          </a:xfrm>
          <a:prstGeom prst="rect">
            <a:avLst/>
          </a:prstGeom>
        </p:spPr>
      </p:pic>
    </p:spTree>
    <p:extLst>
      <p:ext uri="{BB962C8B-B14F-4D97-AF65-F5344CB8AC3E}">
        <p14:creationId xmlns:p14="http://schemas.microsoft.com/office/powerpoint/2010/main" val="1890373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区</a:t>
            </a:r>
            <a:r>
              <a:rPr lang="zh-CN" altLang="en-US" dirty="0"/>
              <a:t>块链特点与</a:t>
            </a:r>
            <a:r>
              <a:rPr lang="zh-CN" altLang="en-US" dirty="0" smtClean="0"/>
              <a:t>能力</a:t>
            </a:r>
            <a:endParaRPr lang="zh-CN" altLang="en-US" dirty="0"/>
          </a:p>
        </p:txBody>
      </p:sp>
      <p:sp>
        <p:nvSpPr>
          <p:cNvPr id="3" name="内容占位符 2"/>
          <p:cNvSpPr>
            <a:spLocks noGrp="1"/>
          </p:cNvSpPr>
          <p:nvPr>
            <p:ph idx="1"/>
          </p:nvPr>
        </p:nvSpPr>
        <p:spPr/>
        <p:txBody>
          <a:bodyPr/>
          <a:lstStyle/>
          <a:p>
            <a:r>
              <a:rPr lang="zh-CN" altLang="en-US" dirty="0" smtClean="0"/>
              <a:t>通过</a:t>
            </a:r>
            <a:r>
              <a:rPr lang="zh-CN" altLang="en-US" dirty="0"/>
              <a:t>技术手段解决信任问题，适用于互不信任的多 方进行协作的场景。安全，可追溯，不可篡改</a:t>
            </a:r>
          </a:p>
          <a:p>
            <a:r>
              <a:rPr lang="zh-CN" altLang="en-US" dirty="0"/>
              <a:t>去中心化及成本效率的权衡；安全性及经济模型内嵌；激励机制设计是关键</a:t>
            </a:r>
          </a:p>
          <a:p>
            <a:r>
              <a:rPr lang="zh-CN" altLang="en-US" dirty="0"/>
              <a:t>区块链可以实现的能力包括：一是资产数字化；二是为价值转移提供新方式；三是去除互动</a:t>
            </a:r>
            <a:r>
              <a:rPr lang="en-US" altLang="zh-CN" dirty="0"/>
              <a:t>/</a:t>
            </a:r>
            <a:r>
              <a:rPr lang="zh-CN" altLang="en-US" dirty="0"/>
              <a:t>交易中的中心授权步骤或中介；四是确保记录备份可追踪且不可更改。</a:t>
            </a:r>
          </a:p>
          <a:p>
            <a:endParaRPr lang="zh-CN" altLang="en-US" dirty="0"/>
          </a:p>
        </p:txBody>
      </p:sp>
    </p:spTree>
    <p:extLst>
      <p:ext uri="{BB962C8B-B14F-4D97-AF65-F5344CB8AC3E}">
        <p14:creationId xmlns:p14="http://schemas.microsoft.com/office/powerpoint/2010/main" val="129148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625356" cy="576262"/>
          </a:xfrm>
        </p:spPr>
        <p:txBody>
          <a:bodyPr/>
          <a:lstStyle/>
          <a:p>
            <a:r>
              <a:rPr lang="zh-CN" altLang="en-US" dirty="0" smtClean="0"/>
              <a:t>基于区块链技术的</a:t>
            </a:r>
            <a:r>
              <a:rPr lang="en-US" altLang="zh-CN" dirty="0" smtClean="0"/>
              <a:t>DAPP</a:t>
            </a:r>
            <a:r>
              <a:rPr lang="zh-CN" altLang="en-US" dirty="0" smtClean="0"/>
              <a:t>行业应用</a:t>
            </a:r>
            <a:endParaRPr lang="zh-CN" altLang="en-US" dirty="0"/>
          </a:p>
        </p:txBody>
      </p:sp>
      <p:sp>
        <p:nvSpPr>
          <p:cNvPr id="3" name="内容占位符 2"/>
          <p:cNvSpPr>
            <a:spLocks noGrp="1"/>
          </p:cNvSpPr>
          <p:nvPr>
            <p:ph idx="1"/>
          </p:nvPr>
        </p:nvSpPr>
        <p:spPr/>
        <p:txBody>
          <a:bodyPr/>
          <a:lstStyle/>
          <a:p>
            <a:r>
              <a:rPr lang="zh-CN" altLang="en-US" dirty="0" smtClean="0"/>
              <a:t>金融领域的应用</a:t>
            </a:r>
            <a:endParaRPr lang="en-US" altLang="zh-CN" dirty="0" smtClean="0"/>
          </a:p>
          <a:p>
            <a:endParaRPr lang="en-US" altLang="zh-CN" dirty="0" smtClean="0"/>
          </a:p>
          <a:p>
            <a:r>
              <a:rPr lang="zh-CN" altLang="en-US" dirty="0" smtClean="0"/>
              <a:t>能源领域的应用</a:t>
            </a:r>
            <a:endParaRPr lang="en-US" altLang="zh-CN" dirty="0"/>
          </a:p>
          <a:p>
            <a:endParaRPr lang="en-US" altLang="zh-CN" dirty="0"/>
          </a:p>
          <a:p>
            <a:r>
              <a:rPr lang="zh-CN" altLang="en-US" dirty="0" smtClean="0"/>
              <a:t>教育领域的应用</a:t>
            </a:r>
            <a:endParaRPr lang="zh-CN" altLang="en-US" dirty="0"/>
          </a:p>
        </p:txBody>
      </p:sp>
    </p:spTree>
    <p:extLst>
      <p:ext uri="{BB962C8B-B14F-4D97-AF65-F5344CB8AC3E}">
        <p14:creationId xmlns:p14="http://schemas.microsoft.com/office/powerpoint/2010/main" val="2494226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金融领域的</a:t>
            </a:r>
            <a:r>
              <a:rPr lang="zh-CN" altLang="en-US" dirty="0" smtClean="0"/>
              <a:t>应用</a:t>
            </a:r>
            <a:endParaRPr lang="zh-CN" altLang="en-US" dirty="0"/>
          </a:p>
        </p:txBody>
      </p:sp>
      <p:sp>
        <p:nvSpPr>
          <p:cNvPr id="3" name="内容占位符 2"/>
          <p:cNvSpPr>
            <a:spLocks noGrp="1"/>
          </p:cNvSpPr>
          <p:nvPr>
            <p:ph idx="1"/>
          </p:nvPr>
        </p:nvSpPr>
        <p:spPr/>
        <p:txBody>
          <a:bodyPr/>
          <a:lstStyle/>
          <a:p>
            <a:r>
              <a:rPr lang="zh-CN" altLang="en-US" dirty="0"/>
              <a:t>众筹平台在小微企业与民间资本的对接过程中</a:t>
            </a:r>
            <a:r>
              <a:rPr lang="zh-CN" altLang="en-US" dirty="0" smtClean="0"/>
              <a:t>扮演了</a:t>
            </a:r>
            <a:r>
              <a:rPr lang="zh-CN" altLang="en-US" dirty="0"/>
              <a:t>至关重要的角色</a:t>
            </a:r>
            <a:r>
              <a:rPr lang="zh-CN" altLang="en-US" dirty="0" smtClean="0"/>
              <a:t>，能够</a:t>
            </a:r>
            <a:r>
              <a:rPr lang="zh-CN" altLang="en-US" dirty="0"/>
              <a:t>将</a:t>
            </a:r>
            <a:r>
              <a:rPr lang="zh-CN" altLang="en-US" dirty="0" smtClean="0"/>
              <a:t>筹资</a:t>
            </a:r>
            <a:r>
              <a:rPr lang="zh-CN" altLang="en-US" dirty="0"/>
              <a:t>者的项目快速传播给潜在的社会公众，减少了投资中</a:t>
            </a:r>
            <a:r>
              <a:rPr lang="zh-CN" altLang="en-US" dirty="0" smtClean="0"/>
              <a:t>的信息</a:t>
            </a:r>
            <a:r>
              <a:rPr lang="zh-CN" altLang="en-US" dirty="0"/>
              <a:t>不对称，同时，也为参与者提供了相互交流的场地，</a:t>
            </a:r>
            <a:r>
              <a:rPr lang="zh-CN" altLang="en-US" dirty="0" smtClean="0"/>
              <a:t>成为</a:t>
            </a:r>
            <a:r>
              <a:rPr lang="zh-CN" altLang="en-US" dirty="0"/>
              <a:t>筹资双方的资金中介和信息桥梁</a:t>
            </a:r>
            <a:r>
              <a:rPr lang="zh-CN" altLang="en-US" dirty="0" smtClean="0"/>
              <a:t>。</a:t>
            </a:r>
            <a:endParaRPr lang="en-US" altLang="zh-CN" dirty="0" smtClean="0"/>
          </a:p>
          <a:p>
            <a:r>
              <a:rPr lang="zh-CN" altLang="en-US" dirty="0" smtClean="0"/>
              <a:t>传统中心化众筹平台的痛点在于无法</a:t>
            </a:r>
            <a:r>
              <a:rPr lang="zh-CN" altLang="en-US" dirty="0"/>
              <a:t>有效建立起人们</a:t>
            </a:r>
            <a:r>
              <a:rPr lang="zh-CN" altLang="en-US" dirty="0" smtClean="0"/>
              <a:t>之间</a:t>
            </a:r>
            <a:r>
              <a:rPr lang="zh-CN" altLang="en-US" dirty="0"/>
              <a:t>的</a:t>
            </a:r>
            <a:r>
              <a:rPr lang="zh-CN" altLang="en-US" dirty="0" smtClean="0"/>
              <a:t>信任感</a:t>
            </a:r>
            <a:endParaRPr lang="en-US" altLang="zh-CN" dirty="0" smtClean="0"/>
          </a:p>
          <a:p>
            <a:pPr lvl="1"/>
            <a:r>
              <a:rPr lang="zh-CN" altLang="en-US" dirty="0"/>
              <a:t>信息披露机制不</a:t>
            </a:r>
            <a:r>
              <a:rPr lang="zh-CN" altLang="en-US" dirty="0" smtClean="0"/>
              <a:t>完善</a:t>
            </a:r>
            <a:endParaRPr lang="en-US" altLang="zh-CN" dirty="0" smtClean="0"/>
          </a:p>
          <a:p>
            <a:pPr lvl="1"/>
            <a:r>
              <a:rPr lang="zh-CN" altLang="en-US" dirty="0"/>
              <a:t>资金风险无法得到有效</a:t>
            </a:r>
            <a:r>
              <a:rPr lang="zh-CN" altLang="en-US" dirty="0" smtClean="0"/>
              <a:t>保障</a:t>
            </a:r>
            <a:endParaRPr lang="en-US" altLang="zh-CN" dirty="0" smtClean="0"/>
          </a:p>
          <a:p>
            <a:pPr lvl="1"/>
            <a:r>
              <a:rPr lang="zh-CN" altLang="en-US" dirty="0"/>
              <a:t>退出机制设计有缺陷</a:t>
            </a:r>
            <a:endParaRPr lang="en-US" altLang="zh-CN" dirty="0" smtClean="0"/>
          </a:p>
          <a:p>
            <a:pPr lvl="1"/>
            <a:endParaRPr lang="zh-CN" altLang="en-US" dirty="0"/>
          </a:p>
        </p:txBody>
      </p:sp>
    </p:spTree>
    <p:extLst>
      <p:ext uri="{BB962C8B-B14F-4D97-AF65-F5344CB8AC3E}">
        <p14:creationId xmlns:p14="http://schemas.microsoft.com/office/powerpoint/2010/main" val="2831395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基于区块链技术的众筹平台</a:t>
            </a:r>
            <a:endParaRPr lang="zh-CN" altLang="en-US" dirty="0"/>
          </a:p>
        </p:txBody>
      </p:sp>
      <p:sp>
        <p:nvSpPr>
          <p:cNvPr id="3" name="内容占位符 2"/>
          <p:cNvSpPr>
            <a:spLocks noGrp="1"/>
          </p:cNvSpPr>
          <p:nvPr>
            <p:ph idx="1"/>
          </p:nvPr>
        </p:nvSpPr>
        <p:spPr/>
        <p:txBody>
          <a:bodyPr/>
          <a:lstStyle/>
          <a:p>
            <a:r>
              <a:rPr lang="zh-CN" altLang="en-US" dirty="0"/>
              <a:t>区块链技术</a:t>
            </a:r>
            <a:r>
              <a:rPr lang="zh-CN" altLang="en-US" dirty="0" smtClean="0"/>
              <a:t>在众</a:t>
            </a:r>
            <a:r>
              <a:rPr lang="zh-CN" altLang="en-US" dirty="0"/>
              <a:t>筹领域的</a:t>
            </a:r>
            <a:r>
              <a:rPr lang="zh-CN" altLang="en-US" dirty="0" smtClean="0"/>
              <a:t>应用场景</a:t>
            </a:r>
            <a:endParaRPr lang="en-US" altLang="zh-CN" dirty="0" smtClean="0"/>
          </a:p>
          <a:p>
            <a:pPr lvl="1"/>
            <a:r>
              <a:rPr lang="zh-CN" altLang="en-US" dirty="0"/>
              <a:t>信息</a:t>
            </a:r>
            <a:r>
              <a:rPr lang="zh-CN" altLang="en-US" dirty="0" smtClean="0"/>
              <a:t>追溯</a:t>
            </a:r>
            <a:endParaRPr lang="en-US" altLang="zh-CN" dirty="0" smtClean="0"/>
          </a:p>
          <a:p>
            <a:pPr lvl="2"/>
            <a:r>
              <a:rPr lang="zh-CN" altLang="en-US" dirty="0"/>
              <a:t>运用区块链技术的去中心化存储、实时信息</a:t>
            </a:r>
            <a:r>
              <a:rPr lang="zh-CN" altLang="en-US" dirty="0" smtClean="0"/>
              <a:t>追溯</a:t>
            </a:r>
            <a:r>
              <a:rPr lang="zh-CN" altLang="en-US" dirty="0"/>
              <a:t>、不可篡改的时间戳等特点</a:t>
            </a:r>
            <a:r>
              <a:rPr lang="zh-CN" altLang="en-US" dirty="0" smtClean="0"/>
              <a:t>，可以对众筹情况进行实时跟踪</a:t>
            </a:r>
            <a:r>
              <a:rPr lang="zh-CN" altLang="en-US" dirty="0"/>
              <a:t>和</a:t>
            </a:r>
            <a:r>
              <a:rPr lang="zh-CN" altLang="en-US" dirty="0" smtClean="0"/>
              <a:t>追溯；</a:t>
            </a:r>
            <a:endParaRPr lang="en-US" altLang="zh-CN" dirty="0" smtClean="0"/>
          </a:p>
          <a:p>
            <a:pPr lvl="1"/>
            <a:r>
              <a:rPr lang="zh-CN" altLang="en-US" dirty="0"/>
              <a:t>增信</a:t>
            </a:r>
            <a:r>
              <a:rPr lang="zh-CN" altLang="en-US" dirty="0" smtClean="0"/>
              <a:t>认证</a:t>
            </a:r>
            <a:endParaRPr lang="en-US" altLang="zh-CN" dirty="0" smtClean="0"/>
          </a:p>
          <a:p>
            <a:pPr lvl="2"/>
            <a:r>
              <a:rPr lang="zh-CN" altLang="en-US" dirty="0"/>
              <a:t>信息全部上链，整个筹款过程</a:t>
            </a:r>
            <a:r>
              <a:rPr lang="zh-CN" altLang="en-US" dirty="0" smtClean="0"/>
              <a:t>信息</a:t>
            </a:r>
            <a:r>
              <a:rPr lang="zh-CN" altLang="en-US" dirty="0"/>
              <a:t>不可篡改且永久保存实时跟踪，可用于解决</a:t>
            </a:r>
            <a:r>
              <a:rPr lang="zh-CN" altLang="en-US" dirty="0" smtClean="0"/>
              <a:t>互联网众</a:t>
            </a:r>
            <a:r>
              <a:rPr lang="zh-CN" altLang="en-US" dirty="0"/>
              <a:t>筹信息披露不完全、平台能力不健全等</a:t>
            </a:r>
            <a:r>
              <a:rPr lang="zh-CN" altLang="en-US" dirty="0" smtClean="0"/>
              <a:t>问题；</a:t>
            </a:r>
            <a:endParaRPr lang="en-US" altLang="zh-CN" dirty="0" smtClean="0"/>
          </a:p>
          <a:p>
            <a:pPr lvl="1"/>
            <a:r>
              <a:rPr lang="zh-CN" altLang="en-US" dirty="0"/>
              <a:t>审计</a:t>
            </a:r>
            <a:r>
              <a:rPr lang="zh-CN" altLang="en-US" dirty="0" smtClean="0"/>
              <a:t>结算</a:t>
            </a:r>
            <a:endParaRPr lang="en-US" altLang="zh-CN" dirty="0"/>
          </a:p>
          <a:p>
            <a:pPr lvl="2"/>
            <a:r>
              <a:rPr lang="zh-CN" altLang="en-US" dirty="0"/>
              <a:t>通过区块链中智能合约机制的</a:t>
            </a:r>
            <a:r>
              <a:rPr lang="zh-CN" altLang="en-US" dirty="0" smtClean="0"/>
              <a:t>建立</a:t>
            </a:r>
            <a:r>
              <a:rPr lang="zh-CN" altLang="en-US" dirty="0"/>
              <a:t>，可</a:t>
            </a:r>
            <a:r>
              <a:rPr lang="zh-CN" altLang="en-US" dirty="0" smtClean="0"/>
              <a:t>实现审计和结算工作</a:t>
            </a:r>
            <a:r>
              <a:rPr lang="zh-CN" altLang="en-US" dirty="0"/>
              <a:t>的自动化、</a:t>
            </a:r>
            <a:r>
              <a:rPr lang="zh-CN" altLang="en-US" dirty="0" smtClean="0"/>
              <a:t>智能化；</a:t>
            </a:r>
            <a:endParaRPr lang="zh-CN" altLang="en-US" dirty="0"/>
          </a:p>
        </p:txBody>
      </p:sp>
    </p:spTree>
    <p:extLst>
      <p:ext uri="{BB962C8B-B14F-4D97-AF65-F5344CB8AC3E}">
        <p14:creationId xmlns:p14="http://schemas.microsoft.com/office/powerpoint/2010/main" val="2420713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553348" cy="576262"/>
          </a:xfrm>
        </p:spPr>
        <p:txBody>
          <a:bodyPr/>
          <a:lstStyle/>
          <a:p>
            <a:r>
              <a:rPr lang="zh-CN" altLang="en-US" dirty="0"/>
              <a:t>基于区块链技术的众筹平台</a:t>
            </a:r>
          </a:p>
        </p:txBody>
      </p:sp>
      <p:sp>
        <p:nvSpPr>
          <p:cNvPr id="3" name="内容占位符 2"/>
          <p:cNvSpPr>
            <a:spLocks noGrp="1"/>
          </p:cNvSpPr>
          <p:nvPr>
            <p:ph idx="1"/>
          </p:nvPr>
        </p:nvSpPr>
        <p:spPr>
          <a:xfrm>
            <a:off x="251520" y="1268760"/>
            <a:ext cx="8640959" cy="4608165"/>
          </a:xfrm>
        </p:spPr>
        <p:txBody>
          <a:bodyPr/>
          <a:lstStyle/>
          <a:p>
            <a:r>
              <a:rPr lang="zh-CN" altLang="en-US" dirty="0"/>
              <a:t>利用区</a:t>
            </a:r>
            <a:r>
              <a:rPr lang="zh-CN" altLang="en-US" dirty="0" smtClean="0"/>
              <a:t>块链可以在</a:t>
            </a:r>
            <a:r>
              <a:rPr lang="zh-CN" altLang="en-US" dirty="0"/>
              <a:t>网络空间建立了一种</a:t>
            </a:r>
            <a:r>
              <a:rPr lang="zh-CN" altLang="en-US" dirty="0" smtClean="0"/>
              <a:t>分布式</a:t>
            </a:r>
            <a:r>
              <a:rPr lang="zh-CN" altLang="en-US" dirty="0"/>
              <a:t>的一致性标准，对所有的合约事件在链上创建确切</a:t>
            </a:r>
            <a:r>
              <a:rPr lang="zh-CN" altLang="en-US" dirty="0" smtClean="0"/>
              <a:t>的无法</a:t>
            </a:r>
            <a:r>
              <a:rPr lang="zh-CN" altLang="en-US" dirty="0"/>
              <a:t>篡改的记录</a:t>
            </a:r>
            <a:r>
              <a:rPr lang="zh-CN" altLang="en-US" dirty="0" smtClean="0"/>
              <a:t>。</a:t>
            </a:r>
            <a:endParaRPr lang="en-US" altLang="zh-CN" dirty="0" smtClean="0"/>
          </a:p>
          <a:p>
            <a:r>
              <a:rPr lang="zh-CN" altLang="en-US" dirty="0" smtClean="0"/>
              <a:t>通过</a:t>
            </a:r>
            <a:r>
              <a:rPr lang="zh-CN" altLang="en-US" dirty="0"/>
              <a:t>将区块链作为众筹合约的载体</a:t>
            </a:r>
            <a:r>
              <a:rPr lang="zh-CN" altLang="en-US" dirty="0" smtClean="0"/>
              <a:t>，使得</a:t>
            </a:r>
            <a:r>
              <a:rPr lang="zh-CN" altLang="en-US" dirty="0"/>
              <a:t>链上的所有参与方都能确切、可信地了解所发生</a:t>
            </a:r>
            <a:r>
              <a:rPr lang="zh-CN" altLang="en-US" dirty="0" smtClean="0"/>
              <a:t>的合约</a:t>
            </a:r>
            <a:r>
              <a:rPr lang="zh-CN" altLang="en-US" dirty="0"/>
              <a:t>事件，从而避免了人为干预，同时也保证了信息</a:t>
            </a:r>
            <a:r>
              <a:rPr lang="zh-CN" altLang="en-US" dirty="0" smtClean="0"/>
              <a:t>公开</a:t>
            </a:r>
            <a:r>
              <a:rPr lang="zh-CN" altLang="en-US" dirty="0"/>
              <a:t>透明</a:t>
            </a:r>
            <a:r>
              <a:rPr lang="zh-CN" altLang="en-US" dirty="0" smtClean="0"/>
              <a:t>。</a:t>
            </a:r>
            <a:endParaRPr lang="en-US" altLang="zh-CN" dirty="0" smtClean="0"/>
          </a:p>
          <a:p>
            <a:r>
              <a:rPr lang="zh-CN" altLang="en-US" dirty="0" smtClean="0"/>
              <a:t>众</a:t>
            </a:r>
            <a:r>
              <a:rPr lang="zh-CN" altLang="en-US" dirty="0"/>
              <a:t>筹智能合约采用合约协议发起、管理众筹</a:t>
            </a:r>
            <a:r>
              <a:rPr lang="zh-CN" altLang="en-US" dirty="0" smtClean="0"/>
              <a:t>项目</a:t>
            </a:r>
            <a:r>
              <a:rPr lang="zh-CN" altLang="en-US" dirty="0"/>
              <a:t>，不需第三方信用机构支持，减少了项目成本。其中</a:t>
            </a:r>
            <a:r>
              <a:rPr lang="zh-CN" altLang="en-US" dirty="0" smtClean="0"/>
              <a:t>，合约</a:t>
            </a:r>
            <a:r>
              <a:rPr lang="zh-CN" altLang="en-US" dirty="0"/>
              <a:t>协议由发起方和投资方协商制定，一旦执行，</a:t>
            </a:r>
            <a:r>
              <a:rPr lang="zh-CN" altLang="en-US" dirty="0" smtClean="0"/>
              <a:t>不可单方面</a:t>
            </a:r>
            <a:r>
              <a:rPr lang="zh-CN" altLang="en-US" dirty="0"/>
              <a:t>终止，进而保证了利益分配的公平性。</a:t>
            </a:r>
          </a:p>
        </p:txBody>
      </p:sp>
    </p:spTree>
    <p:extLst>
      <p:ext uri="{BB962C8B-B14F-4D97-AF65-F5344CB8AC3E}">
        <p14:creationId xmlns:p14="http://schemas.microsoft.com/office/powerpoint/2010/main" val="709961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553348" cy="576262"/>
          </a:xfrm>
        </p:spPr>
        <p:txBody>
          <a:bodyPr/>
          <a:lstStyle/>
          <a:p>
            <a:r>
              <a:rPr lang="zh-CN" altLang="en-US" dirty="0"/>
              <a:t>基于区块链技术的众筹平台</a:t>
            </a:r>
          </a:p>
        </p:txBody>
      </p:sp>
      <p:sp>
        <p:nvSpPr>
          <p:cNvPr id="3" name="内容占位符 2"/>
          <p:cNvSpPr>
            <a:spLocks noGrp="1"/>
          </p:cNvSpPr>
          <p:nvPr>
            <p:ph idx="1"/>
          </p:nvPr>
        </p:nvSpPr>
        <p:spPr/>
        <p:txBody>
          <a:bodyPr/>
          <a:lstStyle/>
          <a:p>
            <a:r>
              <a:rPr lang="zh-CN" altLang="en-US" dirty="0"/>
              <a:t>众筹智能合约系统组织架构</a:t>
            </a:r>
          </a:p>
        </p:txBody>
      </p:sp>
      <p:pic>
        <p:nvPicPr>
          <p:cNvPr id="4" name="图片 3"/>
          <p:cNvPicPr>
            <a:picLocks noChangeAspect="1"/>
          </p:cNvPicPr>
          <p:nvPr/>
        </p:nvPicPr>
        <p:blipFill>
          <a:blip r:embed="rId2"/>
          <a:stretch>
            <a:fillRect/>
          </a:stretch>
        </p:blipFill>
        <p:spPr>
          <a:xfrm>
            <a:off x="1691680" y="2060848"/>
            <a:ext cx="5468094" cy="4569229"/>
          </a:xfrm>
          <a:prstGeom prst="rect">
            <a:avLst/>
          </a:prstGeom>
        </p:spPr>
      </p:pic>
    </p:spTree>
    <p:extLst>
      <p:ext uri="{BB962C8B-B14F-4D97-AF65-F5344CB8AC3E}">
        <p14:creationId xmlns:p14="http://schemas.microsoft.com/office/powerpoint/2010/main" val="3665451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553348" cy="576262"/>
          </a:xfrm>
        </p:spPr>
        <p:txBody>
          <a:bodyPr/>
          <a:lstStyle/>
          <a:p>
            <a:r>
              <a:rPr lang="zh-CN" altLang="en-US" dirty="0"/>
              <a:t>典型案例</a:t>
            </a:r>
            <a:r>
              <a:rPr lang="en-US" altLang="zh-CN" dirty="0"/>
              <a:t>——</a:t>
            </a:r>
            <a:r>
              <a:rPr lang="zh-CN" altLang="en-US" dirty="0"/>
              <a:t>众筹智能合约设计</a:t>
            </a:r>
          </a:p>
        </p:txBody>
      </p:sp>
      <p:sp>
        <p:nvSpPr>
          <p:cNvPr id="3" name="内容占位符 2"/>
          <p:cNvSpPr>
            <a:spLocks noGrp="1"/>
          </p:cNvSpPr>
          <p:nvPr>
            <p:ph idx="1"/>
          </p:nvPr>
        </p:nvSpPr>
        <p:spPr>
          <a:xfrm>
            <a:off x="251521" y="1484784"/>
            <a:ext cx="8359080" cy="4392141"/>
          </a:xfrm>
        </p:spPr>
        <p:txBody>
          <a:bodyPr/>
          <a:lstStyle/>
          <a:p>
            <a:r>
              <a:rPr lang="zh-CN" altLang="en-US" dirty="0" smtClean="0"/>
              <a:t>众筹</a:t>
            </a:r>
            <a:r>
              <a:rPr lang="zh-CN" altLang="en-US" dirty="0"/>
              <a:t>合约</a:t>
            </a:r>
            <a:r>
              <a:rPr lang="zh-CN" altLang="en-US" dirty="0" smtClean="0"/>
              <a:t>算法</a:t>
            </a:r>
            <a:endParaRPr lang="en-US" altLang="zh-CN" dirty="0" smtClean="0"/>
          </a:p>
          <a:p>
            <a:pPr lvl="1"/>
            <a:r>
              <a:rPr lang="zh-CN" altLang="en-US" dirty="0" smtClean="0"/>
              <a:t>输入</a:t>
            </a:r>
            <a:r>
              <a:rPr lang="zh-CN" altLang="en-US" dirty="0"/>
              <a:t>：众筹时间（</a:t>
            </a:r>
            <a:r>
              <a:rPr lang="en-US" altLang="zh-CN" dirty="0" err="1"/>
              <a:t>timeCS</a:t>
            </a:r>
            <a:r>
              <a:rPr lang="zh-CN" altLang="en-US" dirty="0"/>
              <a:t>），最大众筹金额（</a:t>
            </a:r>
            <a:r>
              <a:rPr lang="en-US" altLang="zh-CN" dirty="0" err="1"/>
              <a:t>maxCS</a:t>
            </a:r>
            <a:r>
              <a:rPr lang="zh-CN" altLang="en-US" dirty="0"/>
              <a:t>），最小众筹金额（</a:t>
            </a:r>
            <a:r>
              <a:rPr lang="en-US" altLang="zh-CN" dirty="0" err="1"/>
              <a:t>minCS</a:t>
            </a:r>
            <a:r>
              <a:rPr lang="zh-CN" altLang="en-US" dirty="0"/>
              <a:t>）。</a:t>
            </a:r>
          </a:p>
          <a:p>
            <a:pPr lvl="1"/>
            <a:r>
              <a:rPr lang="zh-CN" altLang="en-US" dirty="0"/>
              <a:t>输出：如果众筹成功，根据合约细则返还数字代币；如果众筹失败，依据投资记录退回所有资金</a:t>
            </a:r>
            <a:r>
              <a:rPr lang="zh-CN" altLang="en-US" dirty="0" smtClean="0"/>
              <a:t>。</a:t>
            </a:r>
            <a:endParaRPr lang="en-US" altLang="zh-CN" dirty="0" smtClean="0"/>
          </a:p>
          <a:p>
            <a:pPr lvl="1"/>
            <a:endParaRPr lang="en-US" altLang="zh-CN" dirty="0"/>
          </a:p>
          <a:p>
            <a:r>
              <a:rPr lang="zh-CN" altLang="en-US" dirty="0"/>
              <a:t>众筹合约的投资过程算法</a:t>
            </a:r>
          </a:p>
          <a:p>
            <a:pPr lvl="1"/>
            <a:r>
              <a:rPr lang="zh-CN" altLang="en-US" dirty="0"/>
              <a:t>输入：投资金额（</a:t>
            </a:r>
            <a:r>
              <a:rPr lang="en-US" altLang="zh-CN" dirty="0"/>
              <a:t>gap</a:t>
            </a:r>
            <a:r>
              <a:rPr lang="zh-CN" altLang="en-US" dirty="0"/>
              <a:t>）</a:t>
            </a:r>
          </a:p>
          <a:p>
            <a:pPr lvl="1"/>
            <a:r>
              <a:rPr lang="zh-CN" altLang="en-US" dirty="0"/>
              <a:t>输出：如果投资成功，向智能合约发送投资请求；如果投资失败，结束对智能合约的访问。</a:t>
            </a:r>
          </a:p>
        </p:txBody>
      </p:sp>
    </p:spTree>
    <p:extLst>
      <p:ext uri="{BB962C8B-B14F-4D97-AF65-F5344CB8AC3E}">
        <p14:creationId xmlns:p14="http://schemas.microsoft.com/office/powerpoint/2010/main" val="4097588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5" y="44624"/>
            <a:ext cx="6553348" cy="576262"/>
          </a:xfrm>
        </p:spPr>
        <p:txBody>
          <a:bodyPr/>
          <a:lstStyle/>
          <a:p>
            <a:r>
              <a:rPr lang="zh-CN" altLang="en-US" dirty="0"/>
              <a:t>众筹合约算法</a:t>
            </a:r>
            <a:endParaRPr lang="en-US" altLang="zh-CN" dirty="0"/>
          </a:p>
        </p:txBody>
      </p:sp>
      <p:sp>
        <p:nvSpPr>
          <p:cNvPr id="3" name="内容占位符 2"/>
          <p:cNvSpPr>
            <a:spLocks noGrp="1"/>
          </p:cNvSpPr>
          <p:nvPr>
            <p:ph idx="1"/>
          </p:nvPr>
        </p:nvSpPr>
        <p:spPr>
          <a:xfrm>
            <a:off x="321146" y="692696"/>
            <a:ext cx="8571334" cy="5976664"/>
          </a:xfrm>
        </p:spPr>
        <p:txBody>
          <a:bodyPr/>
          <a:lstStyle/>
          <a:p>
            <a:pPr marL="0" indent="0">
              <a:buNone/>
            </a:pPr>
            <a:r>
              <a:rPr lang="en-US" altLang="zh-CN" sz="1400" dirty="0"/>
              <a:t>1. </a:t>
            </a:r>
            <a:r>
              <a:rPr lang="zh-CN" altLang="en-US" sz="1400" dirty="0"/>
              <a:t>部署智能合约并调用</a:t>
            </a:r>
            <a:r>
              <a:rPr lang="en-US" altLang="zh-CN" sz="1400" dirty="0"/>
              <a:t>start</a:t>
            </a:r>
            <a:r>
              <a:rPr lang="zh-CN" altLang="en-US" sz="1400" dirty="0"/>
              <a:t>（）</a:t>
            </a:r>
          </a:p>
          <a:p>
            <a:pPr marL="0" indent="0">
              <a:buNone/>
            </a:pPr>
            <a:r>
              <a:rPr lang="en-US" altLang="zh-CN" sz="1400" dirty="0"/>
              <a:t>2. </a:t>
            </a:r>
            <a:r>
              <a:rPr lang="zh-CN" altLang="en-US" sz="1400" dirty="0"/>
              <a:t>设置</a:t>
            </a:r>
            <a:r>
              <a:rPr lang="en-US" altLang="zh-CN" sz="1400" dirty="0" err="1"/>
              <a:t>crowdsaleClosed</a:t>
            </a:r>
            <a:r>
              <a:rPr lang="en-US" altLang="zh-CN" sz="1400" dirty="0"/>
              <a:t>=false</a:t>
            </a:r>
            <a:r>
              <a:rPr lang="zh-CN" altLang="en-US" sz="1400" dirty="0"/>
              <a:t>；</a:t>
            </a:r>
          </a:p>
          <a:p>
            <a:pPr marL="0" indent="0">
              <a:buNone/>
            </a:pPr>
            <a:r>
              <a:rPr lang="en-US" altLang="zh-CN" sz="1400" dirty="0"/>
              <a:t>3. WHILE </a:t>
            </a:r>
            <a:r>
              <a:rPr lang="en-US" altLang="zh-CN" sz="1400" dirty="0" err="1"/>
              <a:t>crowdsaleClosed</a:t>
            </a:r>
            <a:r>
              <a:rPr lang="en-US" altLang="zh-CN" sz="1400" dirty="0"/>
              <a:t>=False DO</a:t>
            </a:r>
          </a:p>
          <a:p>
            <a:pPr marL="0" indent="0">
              <a:buNone/>
            </a:pPr>
            <a:r>
              <a:rPr lang="en-US" altLang="zh-CN" sz="1400" dirty="0"/>
              <a:t>4. IF </a:t>
            </a:r>
            <a:r>
              <a:rPr lang="zh-CN" altLang="en-US" sz="1400" dirty="0"/>
              <a:t>未收到投资请求</a:t>
            </a:r>
            <a:r>
              <a:rPr lang="en-US" altLang="zh-CN" sz="1400" dirty="0"/>
              <a:t>THEN</a:t>
            </a:r>
          </a:p>
          <a:p>
            <a:pPr marL="0" indent="0">
              <a:buNone/>
            </a:pPr>
            <a:r>
              <a:rPr lang="en-US" altLang="zh-CN" sz="1400" dirty="0"/>
              <a:t>5. 	continue</a:t>
            </a:r>
            <a:r>
              <a:rPr lang="zh-CN" altLang="en-US" sz="1400" dirty="0"/>
              <a:t>；</a:t>
            </a:r>
          </a:p>
          <a:p>
            <a:pPr marL="0" indent="0">
              <a:buNone/>
            </a:pPr>
            <a:r>
              <a:rPr lang="en-US" altLang="zh-CN" sz="1400" dirty="0"/>
              <a:t>6. ELSE IF </a:t>
            </a:r>
            <a:r>
              <a:rPr lang="en-US" altLang="zh-CN" sz="1400" dirty="0" err="1"/>
              <a:t>timeCS</a:t>
            </a:r>
            <a:r>
              <a:rPr lang="en-US" altLang="zh-CN" sz="1400" dirty="0"/>
              <a:t>&lt;deadline THEN</a:t>
            </a:r>
          </a:p>
          <a:p>
            <a:pPr marL="0" indent="0">
              <a:buNone/>
            </a:pPr>
            <a:r>
              <a:rPr lang="en-US" altLang="zh-CN" sz="1400" dirty="0"/>
              <a:t>7. 	IF </a:t>
            </a:r>
            <a:r>
              <a:rPr lang="zh-CN" altLang="en-US" sz="1400" dirty="0"/>
              <a:t>当前</a:t>
            </a:r>
            <a:r>
              <a:rPr lang="en-US" altLang="zh-CN" sz="1400" dirty="0"/>
              <a:t>TTC</a:t>
            </a:r>
            <a:r>
              <a:rPr lang="zh-CN" altLang="en-US" sz="1400" dirty="0"/>
              <a:t>总额</a:t>
            </a:r>
            <a:r>
              <a:rPr lang="en-US" altLang="zh-CN" sz="1400" dirty="0"/>
              <a:t>&lt;</a:t>
            </a:r>
            <a:r>
              <a:rPr lang="en-US" altLang="zh-CN" sz="1400" dirty="0" err="1"/>
              <a:t>maxCS</a:t>
            </a:r>
            <a:r>
              <a:rPr lang="en-US" altLang="zh-CN" sz="1400" dirty="0"/>
              <a:t> then</a:t>
            </a:r>
          </a:p>
          <a:p>
            <a:pPr marL="0" indent="0">
              <a:buNone/>
            </a:pPr>
            <a:r>
              <a:rPr lang="en-US" altLang="zh-CN" sz="1400" dirty="0"/>
              <a:t>8. 		</a:t>
            </a:r>
            <a:r>
              <a:rPr lang="zh-CN" altLang="en-US" sz="1400" dirty="0"/>
              <a:t>接受投资请求；</a:t>
            </a:r>
          </a:p>
          <a:p>
            <a:pPr marL="0" indent="0">
              <a:buNone/>
            </a:pPr>
            <a:r>
              <a:rPr lang="en-US" altLang="zh-CN" sz="1400" dirty="0"/>
              <a:t>9. 		</a:t>
            </a:r>
            <a:r>
              <a:rPr lang="zh-CN" altLang="en-US" sz="1400" dirty="0"/>
              <a:t>按预设条件返还数字代币给投资者；</a:t>
            </a:r>
          </a:p>
          <a:p>
            <a:pPr marL="0" indent="0">
              <a:buNone/>
            </a:pPr>
            <a:r>
              <a:rPr lang="en-US" altLang="zh-CN" sz="1400" dirty="0"/>
              <a:t>10. 	ELSE</a:t>
            </a:r>
          </a:p>
          <a:p>
            <a:pPr marL="0" indent="0">
              <a:buNone/>
            </a:pPr>
            <a:r>
              <a:rPr lang="en-US" altLang="zh-CN" sz="1400" dirty="0"/>
              <a:t>11. 		</a:t>
            </a:r>
            <a:r>
              <a:rPr lang="en-US" altLang="zh-CN" sz="1400" dirty="0" err="1"/>
              <a:t>crowdsaleClosed</a:t>
            </a:r>
            <a:r>
              <a:rPr lang="en-US" altLang="zh-CN" sz="1400" dirty="0"/>
              <a:t>=True</a:t>
            </a:r>
            <a:r>
              <a:rPr lang="zh-CN" altLang="en-US" sz="1400" dirty="0"/>
              <a:t>；</a:t>
            </a:r>
          </a:p>
          <a:p>
            <a:pPr marL="0" indent="0">
              <a:buNone/>
            </a:pPr>
            <a:r>
              <a:rPr lang="en-US" altLang="zh-CN" sz="1400" dirty="0"/>
              <a:t>12. 		</a:t>
            </a:r>
            <a:r>
              <a:rPr lang="zh-CN" altLang="en-US" sz="1400" dirty="0"/>
              <a:t>根据投资金额，计算管理资金，应急储备金，团队分红；</a:t>
            </a:r>
          </a:p>
          <a:p>
            <a:pPr marL="0" indent="0">
              <a:buNone/>
            </a:pPr>
            <a:r>
              <a:rPr lang="en-US" altLang="zh-CN" sz="1400" dirty="0"/>
              <a:t>13. 		</a:t>
            </a:r>
            <a:r>
              <a:rPr lang="zh-CN" altLang="en-US" sz="1400" dirty="0"/>
              <a:t>锁定众筹合约；</a:t>
            </a:r>
          </a:p>
          <a:p>
            <a:pPr marL="0" indent="0">
              <a:buNone/>
            </a:pPr>
            <a:r>
              <a:rPr lang="en-US" altLang="zh-CN" sz="1400" dirty="0"/>
              <a:t>14. 	END IF</a:t>
            </a:r>
          </a:p>
          <a:p>
            <a:pPr marL="0" indent="0">
              <a:buNone/>
            </a:pPr>
            <a:r>
              <a:rPr lang="en-US" altLang="zh-CN" sz="1400" dirty="0"/>
              <a:t>15. 	IF </a:t>
            </a:r>
            <a:r>
              <a:rPr lang="zh-CN" altLang="en-US" sz="1400" dirty="0"/>
              <a:t>当前</a:t>
            </a:r>
            <a:r>
              <a:rPr lang="en-US" altLang="zh-CN" sz="1400" dirty="0"/>
              <a:t>TTC</a:t>
            </a:r>
            <a:r>
              <a:rPr lang="zh-CN" altLang="en-US" sz="1400" dirty="0"/>
              <a:t>总额</a:t>
            </a:r>
            <a:r>
              <a:rPr lang="en-US" altLang="zh-CN" sz="1400" dirty="0"/>
              <a:t>&lt;</a:t>
            </a:r>
            <a:r>
              <a:rPr lang="en-US" altLang="zh-CN" sz="1400" dirty="0" err="1"/>
              <a:t>minCS</a:t>
            </a:r>
            <a:r>
              <a:rPr lang="en-US" altLang="zh-CN" sz="1400" dirty="0"/>
              <a:t> THEN</a:t>
            </a:r>
          </a:p>
          <a:p>
            <a:pPr marL="0" indent="0">
              <a:buNone/>
            </a:pPr>
            <a:r>
              <a:rPr lang="en-US" altLang="zh-CN" sz="1400" dirty="0"/>
              <a:t>16. 		</a:t>
            </a:r>
            <a:r>
              <a:rPr lang="zh-CN" altLang="en-US" sz="1400" dirty="0"/>
              <a:t>接受投资；</a:t>
            </a:r>
          </a:p>
          <a:p>
            <a:pPr marL="0" indent="0">
              <a:buNone/>
            </a:pPr>
            <a:r>
              <a:rPr lang="en-US" altLang="zh-CN" sz="1400" dirty="0"/>
              <a:t>17. 	ELSE</a:t>
            </a:r>
          </a:p>
          <a:p>
            <a:pPr marL="0" indent="0">
              <a:buNone/>
            </a:pPr>
            <a:r>
              <a:rPr lang="en-US" altLang="zh-CN" sz="1400" dirty="0"/>
              <a:t>18. 		</a:t>
            </a:r>
            <a:r>
              <a:rPr lang="en-US" altLang="zh-CN" sz="1400" dirty="0" err="1"/>
              <a:t>crowdsaleClosed</a:t>
            </a:r>
            <a:r>
              <a:rPr lang="en-US" altLang="zh-CN" sz="1400" dirty="0"/>
              <a:t>=True</a:t>
            </a:r>
            <a:r>
              <a:rPr lang="zh-CN" altLang="en-US" sz="1400" dirty="0"/>
              <a:t>；</a:t>
            </a:r>
          </a:p>
          <a:p>
            <a:pPr marL="0" indent="0">
              <a:buNone/>
            </a:pPr>
            <a:r>
              <a:rPr lang="en-US" altLang="zh-CN" sz="1400" dirty="0"/>
              <a:t>19. 		</a:t>
            </a:r>
            <a:r>
              <a:rPr lang="zh-CN" altLang="en-US" sz="1400" dirty="0"/>
              <a:t>根据投资金额，计算管理资金，应急储备金，团队分红；</a:t>
            </a:r>
          </a:p>
          <a:p>
            <a:pPr marL="0" indent="0">
              <a:buNone/>
            </a:pPr>
            <a:r>
              <a:rPr lang="en-US" altLang="zh-CN" sz="1400" dirty="0"/>
              <a:t>20. 		</a:t>
            </a:r>
            <a:r>
              <a:rPr lang="zh-CN" altLang="en-US" sz="1400" dirty="0"/>
              <a:t>锁定众筹合约；</a:t>
            </a:r>
          </a:p>
          <a:p>
            <a:pPr marL="0" indent="0">
              <a:buNone/>
            </a:pPr>
            <a:r>
              <a:rPr lang="en-US" altLang="zh-CN" sz="1400" dirty="0"/>
              <a:t>21. 	END IF</a:t>
            </a:r>
          </a:p>
          <a:p>
            <a:pPr marL="0" indent="0">
              <a:buNone/>
            </a:pPr>
            <a:r>
              <a:rPr lang="en-US" altLang="zh-CN" sz="1400" dirty="0"/>
              <a:t>22.        END IF</a:t>
            </a:r>
          </a:p>
          <a:p>
            <a:pPr marL="0" indent="0">
              <a:buNone/>
            </a:pPr>
            <a:r>
              <a:rPr lang="en-US" altLang="zh-CN" sz="1400" dirty="0"/>
              <a:t>23. END IF</a:t>
            </a:r>
          </a:p>
          <a:p>
            <a:pPr marL="0" indent="0">
              <a:buNone/>
            </a:pPr>
            <a:r>
              <a:rPr lang="en-US" altLang="zh-CN" sz="1400" dirty="0"/>
              <a:t>24. END WHILE</a:t>
            </a:r>
            <a:endParaRPr lang="zh-CN" altLang="en-US" sz="1400" dirty="0"/>
          </a:p>
        </p:txBody>
      </p:sp>
    </p:spTree>
    <p:extLst>
      <p:ext uri="{BB962C8B-B14F-4D97-AF65-F5344CB8AC3E}">
        <p14:creationId xmlns:p14="http://schemas.microsoft.com/office/powerpoint/2010/main" val="4166649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553348" cy="576262"/>
          </a:xfrm>
        </p:spPr>
        <p:txBody>
          <a:bodyPr/>
          <a:lstStyle/>
          <a:p>
            <a:r>
              <a:rPr lang="zh-CN" altLang="en-US" dirty="0"/>
              <a:t>众筹合约的投资过程算法</a:t>
            </a:r>
          </a:p>
        </p:txBody>
      </p:sp>
      <p:sp>
        <p:nvSpPr>
          <p:cNvPr id="3" name="内容占位符 2"/>
          <p:cNvSpPr>
            <a:spLocks noGrp="1"/>
          </p:cNvSpPr>
          <p:nvPr>
            <p:ph idx="1"/>
          </p:nvPr>
        </p:nvSpPr>
        <p:spPr>
          <a:xfrm>
            <a:off x="251521" y="1484313"/>
            <a:ext cx="8568952" cy="4392612"/>
          </a:xfrm>
        </p:spPr>
        <p:txBody>
          <a:bodyPr/>
          <a:lstStyle/>
          <a:p>
            <a:pPr marL="0" indent="0">
              <a:buNone/>
            </a:pPr>
            <a:r>
              <a:rPr lang="en-US" altLang="zh-CN" sz="2000" dirty="0"/>
              <a:t>1. </a:t>
            </a:r>
            <a:r>
              <a:rPr lang="zh-CN" altLang="en-US" sz="2000" dirty="0"/>
              <a:t>访问智能合约并开始投资；</a:t>
            </a:r>
          </a:p>
          <a:p>
            <a:pPr marL="0" indent="0">
              <a:buNone/>
            </a:pPr>
            <a:r>
              <a:rPr lang="en-US" altLang="zh-CN" sz="2000" dirty="0"/>
              <a:t>2. </a:t>
            </a:r>
            <a:r>
              <a:rPr lang="zh-CN" altLang="en-US" sz="2000" dirty="0"/>
              <a:t>输入投资额度</a:t>
            </a:r>
            <a:r>
              <a:rPr lang="en-US" altLang="zh-CN" sz="2000" dirty="0"/>
              <a:t>gap</a:t>
            </a:r>
            <a:r>
              <a:rPr lang="zh-CN" altLang="en-US" sz="2000" dirty="0"/>
              <a:t>；</a:t>
            </a:r>
          </a:p>
          <a:p>
            <a:pPr marL="0" indent="0">
              <a:buNone/>
            </a:pPr>
            <a:r>
              <a:rPr lang="en-US" altLang="zh-CN" sz="2000" dirty="0"/>
              <a:t>3. IF </a:t>
            </a:r>
            <a:r>
              <a:rPr lang="en-US" altLang="zh-CN" sz="2000" dirty="0" err="1"/>
              <a:t>crowdsaleClosed</a:t>
            </a:r>
            <a:r>
              <a:rPr lang="en-US" altLang="zh-CN" sz="2000" dirty="0"/>
              <a:t>=True THEN</a:t>
            </a:r>
          </a:p>
          <a:p>
            <a:pPr marL="0" indent="0">
              <a:buNone/>
            </a:pPr>
            <a:r>
              <a:rPr lang="en-US" altLang="zh-CN" sz="2000" dirty="0"/>
              <a:t>4. 	break</a:t>
            </a:r>
            <a:r>
              <a:rPr lang="zh-CN" altLang="en-US" sz="2000" dirty="0"/>
              <a:t>；</a:t>
            </a:r>
          </a:p>
          <a:p>
            <a:pPr marL="0" indent="0">
              <a:buNone/>
            </a:pPr>
            <a:r>
              <a:rPr lang="en-US" altLang="zh-CN" sz="2000" dirty="0"/>
              <a:t>5. ELSE 	</a:t>
            </a:r>
            <a:endParaRPr lang="en-US" altLang="zh-CN" sz="2000" dirty="0" smtClean="0"/>
          </a:p>
          <a:p>
            <a:pPr marL="0" indent="0">
              <a:buNone/>
            </a:pPr>
            <a:r>
              <a:rPr lang="en-US" altLang="zh-CN" sz="2000" dirty="0"/>
              <a:t>	</a:t>
            </a:r>
            <a:r>
              <a:rPr lang="en-US" altLang="zh-CN" sz="2000" dirty="0" smtClean="0"/>
              <a:t>	</a:t>
            </a:r>
            <a:r>
              <a:rPr lang="en-US" altLang="zh-CN" sz="2000" dirty="0" smtClean="0"/>
              <a:t>IF </a:t>
            </a:r>
            <a:r>
              <a:rPr lang="zh-CN" altLang="en-US" sz="2000" dirty="0"/>
              <a:t>当前时间</a:t>
            </a:r>
            <a:r>
              <a:rPr lang="en-US" altLang="zh-CN" sz="2000" dirty="0"/>
              <a:t>&lt;</a:t>
            </a:r>
            <a:r>
              <a:rPr lang="zh-CN" altLang="en-US" sz="2000" dirty="0"/>
              <a:t>众筹截止时间 </a:t>
            </a:r>
            <a:r>
              <a:rPr lang="en-US" altLang="zh-CN" sz="2000" dirty="0"/>
              <a:t>AND gap&gt;</a:t>
            </a:r>
            <a:r>
              <a:rPr lang="zh-CN" altLang="en-US" sz="2000" dirty="0"/>
              <a:t>最小投资</a:t>
            </a:r>
            <a:r>
              <a:rPr lang="zh-CN" altLang="en-US" sz="2000" dirty="0" smtClean="0"/>
              <a:t>额度</a:t>
            </a:r>
            <a:endParaRPr lang="en-US" altLang="zh-CN" sz="2000" dirty="0" smtClean="0"/>
          </a:p>
          <a:p>
            <a:pPr marL="0" indent="0">
              <a:buNone/>
            </a:pPr>
            <a:r>
              <a:rPr lang="zh-CN" altLang="en-US" sz="2000" dirty="0"/>
              <a:t>	</a:t>
            </a:r>
            <a:r>
              <a:rPr lang="en-US" altLang="zh-CN" sz="2000" dirty="0" smtClean="0"/>
              <a:t>	AND </a:t>
            </a:r>
            <a:r>
              <a:rPr lang="zh-CN" altLang="en-US" sz="2000" dirty="0"/>
              <a:t>当前</a:t>
            </a:r>
            <a:r>
              <a:rPr lang="en-US" altLang="zh-CN" sz="2000" dirty="0"/>
              <a:t>TTC </a:t>
            </a:r>
            <a:r>
              <a:rPr lang="zh-CN" altLang="en-US" sz="2000" dirty="0"/>
              <a:t>总额</a:t>
            </a:r>
            <a:r>
              <a:rPr lang="en-US" altLang="zh-CN" sz="2000" dirty="0"/>
              <a:t>+gap ≤ </a:t>
            </a:r>
            <a:r>
              <a:rPr lang="zh-CN" altLang="en-US" sz="2000" dirty="0"/>
              <a:t>最大众筹</a:t>
            </a:r>
            <a:r>
              <a:rPr lang="zh-CN" altLang="en-US" sz="2000" dirty="0" smtClean="0"/>
              <a:t>额度</a:t>
            </a:r>
            <a:endParaRPr lang="en-US" altLang="zh-CN" sz="2000" dirty="0" smtClean="0"/>
          </a:p>
          <a:p>
            <a:pPr marL="0" indent="0">
              <a:buNone/>
            </a:pPr>
            <a:r>
              <a:rPr lang="en-US" altLang="zh-CN" sz="2000" dirty="0"/>
              <a:t>	</a:t>
            </a:r>
            <a:r>
              <a:rPr lang="en-US" altLang="zh-CN" sz="2000" dirty="0" smtClean="0"/>
              <a:t>	</a:t>
            </a:r>
            <a:r>
              <a:rPr lang="zh-CN" altLang="en-US" sz="2000" dirty="0" smtClean="0"/>
              <a:t> </a:t>
            </a:r>
            <a:r>
              <a:rPr lang="en-US" altLang="zh-CN" sz="2000" dirty="0"/>
              <a:t>AND </a:t>
            </a:r>
            <a:r>
              <a:rPr lang="zh-CN" altLang="en-US" sz="2000" dirty="0"/>
              <a:t>投资者账户余额</a:t>
            </a:r>
            <a:r>
              <a:rPr lang="en-US" altLang="zh-CN" sz="2000" dirty="0"/>
              <a:t>&gt;gap THEN</a:t>
            </a:r>
          </a:p>
          <a:p>
            <a:pPr marL="0" indent="0">
              <a:buNone/>
            </a:pPr>
            <a:r>
              <a:rPr lang="en-US" altLang="zh-CN" sz="2000" dirty="0"/>
              <a:t>6. 		</a:t>
            </a:r>
            <a:r>
              <a:rPr lang="en-US" altLang="zh-CN" sz="2000" dirty="0" smtClean="0"/>
              <a:t>	</a:t>
            </a:r>
            <a:r>
              <a:rPr lang="zh-CN" altLang="en-US" sz="2000" dirty="0" smtClean="0"/>
              <a:t>输入</a:t>
            </a:r>
            <a:r>
              <a:rPr lang="zh-CN" altLang="en-US" sz="2000" dirty="0"/>
              <a:t>支付密码；</a:t>
            </a:r>
          </a:p>
          <a:p>
            <a:pPr marL="0" indent="0">
              <a:buNone/>
            </a:pPr>
            <a:r>
              <a:rPr lang="en-US" altLang="zh-CN" sz="2000" dirty="0"/>
              <a:t>7. 		</a:t>
            </a:r>
            <a:r>
              <a:rPr lang="en-US" altLang="zh-CN" sz="2000" dirty="0" smtClean="0"/>
              <a:t>	</a:t>
            </a:r>
            <a:r>
              <a:rPr lang="zh-CN" altLang="en-US" sz="2000" dirty="0" smtClean="0"/>
              <a:t>发送</a:t>
            </a:r>
            <a:r>
              <a:rPr lang="zh-CN" altLang="en-US" sz="2000" dirty="0"/>
              <a:t>投资请求；</a:t>
            </a:r>
          </a:p>
          <a:p>
            <a:pPr marL="0" indent="0">
              <a:buNone/>
            </a:pPr>
            <a:r>
              <a:rPr lang="en-US" altLang="zh-CN" sz="2000" dirty="0"/>
              <a:t>8 	</a:t>
            </a:r>
            <a:r>
              <a:rPr lang="en-US" altLang="zh-CN" sz="2000" dirty="0" smtClean="0"/>
              <a:t>	END </a:t>
            </a:r>
            <a:r>
              <a:rPr lang="en-US" altLang="zh-CN" sz="2000" dirty="0"/>
              <a:t>IF</a:t>
            </a:r>
          </a:p>
          <a:p>
            <a:pPr marL="0" indent="0">
              <a:buNone/>
            </a:pPr>
            <a:r>
              <a:rPr lang="en-US" altLang="zh-CN" sz="2000" dirty="0"/>
              <a:t>9.END IF</a:t>
            </a:r>
            <a:endParaRPr lang="zh-CN" altLang="en-US" sz="2000" dirty="0"/>
          </a:p>
        </p:txBody>
      </p:sp>
    </p:spTree>
    <p:extLst>
      <p:ext uri="{BB962C8B-B14F-4D97-AF65-F5344CB8AC3E}">
        <p14:creationId xmlns:p14="http://schemas.microsoft.com/office/powerpoint/2010/main" val="501466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能源领域的应用</a:t>
            </a:r>
          </a:p>
        </p:txBody>
      </p:sp>
      <p:sp>
        <p:nvSpPr>
          <p:cNvPr id="3" name="内容占位符 2"/>
          <p:cNvSpPr>
            <a:spLocks noGrp="1"/>
          </p:cNvSpPr>
          <p:nvPr>
            <p:ph idx="1"/>
          </p:nvPr>
        </p:nvSpPr>
        <p:spPr/>
        <p:txBody>
          <a:bodyPr/>
          <a:lstStyle/>
          <a:p>
            <a:r>
              <a:rPr lang="zh-CN" altLang="en-US" dirty="0"/>
              <a:t>能源领域的应用痛点</a:t>
            </a:r>
            <a:r>
              <a:rPr lang="zh-CN" altLang="en-US" dirty="0" smtClean="0"/>
              <a:t>：</a:t>
            </a:r>
            <a:endParaRPr lang="en-US" altLang="zh-CN" dirty="0" smtClean="0"/>
          </a:p>
          <a:p>
            <a:pPr lvl="1"/>
            <a:r>
              <a:rPr lang="zh-CN" altLang="en-US" dirty="0"/>
              <a:t>能源孤岛，缺乏中介（交易所）</a:t>
            </a:r>
          </a:p>
          <a:p>
            <a:pPr lvl="1"/>
            <a:r>
              <a:rPr lang="zh-CN" altLang="en-US" dirty="0"/>
              <a:t>能源交易：信任问题</a:t>
            </a:r>
          </a:p>
          <a:p>
            <a:pPr lvl="1"/>
            <a:r>
              <a:rPr lang="zh-CN" altLang="en-US" dirty="0"/>
              <a:t>精准计费</a:t>
            </a:r>
          </a:p>
          <a:p>
            <a:pPr lvl="1"/>
            <a:endParaRPr lang="zh-CN" altLang="en-US" dirty="0"/>
          </a:p>
        </p:txBody>
      </p:sp>
      <p:sp>
        <p:nvSpPr>
          <p:cNvPr id="4" name="object 5"/>
          <p:cNvSpPr/>
          <p:nvPr/>
        </p:nvSpPr>
        <p:spPr>
          <a:xfrm>
            <a:off x="3491880" y="3235943"/>
            <a:ext cx="4651052" cy="314422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86863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能源领域的应用</a:t>
            </a:r>
            <a:endParaRPr lang="zh-CN" altLang="en-US" dirty="0"/>
          </a:p>
        </p:txBody>
      </p:sp>
      <p:sp>
        <p:nvSpPr>
          <p:cNvPr id="3" name="内容占位符 2"/>
          <p:cNvSpPr>
            <a:spLocks noGrp="1"/>
          </p:cNvSpPr>
          <p:nvPr>
            <p:ph idx="1"/>
          </p:nvPr>
        </p:nvSpPr>
        <p:spPr>
          <a:xfrm>
            <a:off x="468313" y="1484313"/>
            <a:ext cx="8352159" cy="4392612"/>
          </a:xfrm>
        </p:spPr>
        <p:txBody>
          <a:bodyPr/>
          <a:lstStyle/>
          <a:p>
            <a:r>
              <a:rPr lang="zh-CN" altLang="en-US" dirty="0"/>
              <a:t>能源互联是当前能源发展的一个重要趋势，倡</a:t>
            </a:r>
          </a:p>
          <a:p>
            <a:pPr marL="0" indent="0">
              <a:buNone/>
            </a:pPr>
            <a:r>
              <a:rPr lang="zh-CN" altLang="en-US" dirty="0"/>
              <a:t>导冷、热、电、气等多种能源的协调互补与</a:t>
            </a:r>
            <a:r>
              <a:rPr lang="zh-CN" altLang="en-US" dirty="0" smtClean="0"/>
              <a:t>综合利用。</a:t>
            </a:r>
            <a:endParaRPr lang="en-US" altLang="zh-CN" dirty="0" smtClean="0"/>
          </a:p>
          <a:p>
            <a:r>
              <a:rPr lang="zh-CN" altLang="en-US" dirty="0" smtClean="0"/>
              <a:t>多种</a:t>
            </a:r>
            <a:r>
              <a:rPr lang="zh-CN" altLang="en-US" dirty="0"/>
              <a:t>能源间的耦合互补，不可避免</a:t>
            </a:r>
            <a:r>
              <a:rPr lang="zh-CN" altLang="en-US" dirty="0" smtClean="0"/>
              <a:t>地会</a:t>
            </a:r>
            <a:r>
              <a:rPr lang="zh-CN" altLang="en-US" dirty="0"/>
              <a:t>增加能量管理的难度，故在能源互联网中对</a:t>
            </a:r>
            <a:r>
              <a:rPr lang="zh-CN" altLang="en-US" dirty="0" smtClean="0"/>
              <a:t>能源管理</a:t>
            </a:r>
            <a:r>
              <a:rPr lang="zh-CN" altLang="en-US" dirty="0"/>
              <a:t>通常采用“分布自治，集中协调”的</a:t>
            </a:r>
            <a:r>
              <a:rPr lang="zh-CN" altLang="en-US" dirty="0" smtClean="0"/>
              <a:t>思路，强调</a:t>
            </a:r>
            <a:r>
              <a:rPr lang="zh-CN" altLang="en-US" dirty="0"/>
              <a:t>开放共享、多元用户参与等</a:t>
            </a:r>
            <a:r>
              <a:rPr lang="zh-CN" altLang="en-US" dirty="0" smtClean="0"/>
              <a:t>理念</a:t>
            </a:r>
            <a:endParaRPr lang="en-US" altLang="zh-CN" dirty="0" smtClean="0"/>
          </a:p>
          <a:p>
            <a:r>
              <a:rPr lang="zh-CN" altLang="en-US" dirty="0" smtClean="0"/>
              <a:t>能源</a:t>
            </a:r>
            <a:r>
              <a:rPr lang="zh-CN" altLang="en-US" dirty="0"/>
              <a:t>互联网</a:t>
            </a:r>
            <a:r>
              <a:rPr lang="zh-CN" altLang="en-US" dirty="0" smtClean="0"/>
              <a:t>的一些</a:t>
            </a:r>
            <a:r>
              <a:rPr lang="zh-CN" altLang="en-US" dirty="0"/>
              <a:t>相关理念、思路与区块链技术相</a:t>
            </a:r>
            <a:r>
              <a:rPr lang="zh-CN" altLang="en-US" dirty="0" smtClean="0"/>
              <a:t>吻合。</a:t>
            </a:r>
            <a:endParaRPr lang="zh-CN" altLang="en-US" dirty="0"/>
          </a:p>
        </p:txBody>
      </p:sp>
    </p:spTree>
    <p:extLst>
      <p:ext uri="{BB962C8B-B14F-4D97-AF65-F5344CB8AC3E}">
        <p14:creationId xmlns:p14="http://schemas.microsoft.com/office/powerpoint/2010/main" val="20661788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能源领域的应用</a:t>
            </a:r>
          </a:p>
        </p:txBody>
      </p:sp>
      <p:sp>
        <p:nvSpPr>
          <p:cNvPr id="3" name="内容占位符 2"/>
          <p:cNvSpPr>
            <a:spLocks noGrp="1"/>
          </p:cNvSpPr>
          <p:nvPr>
            <p:ph idx="1"/>
          </p:nvPr>
        </p:nvSpPr>
        <p:spPr/>
        <p:txBody>
          <a:bodyPr/>
          <a:lstStyle/>
          <a:p>
            <a:r>
              <a:rPr lang="zh-CN" altLang="en-US" dirty="0" smtClean="0"/>
              <a:t>能</a:t>
            </a:r>
            <a:r>
              <a:rPr lang="zh-CN" altLang="en-US" dirty="0"/>
              <a:t>源区</a:t>
            </a:r>
            <a:r>
              <a:rPr lang="zh-CN" altLang="en-US" dirty="0" smtClean="0"/>
              <a:t>块链是</a:t>
            </a:r>
            <a:r>
              <a:rPr lang="zh-CN" altLang="en-US" dirty="0"/>
              <a:t>指区块链技术在</a:t>
            </a:r>
            <a:r>
              <a:rPr lang="zh-CN" altLang="en-US" dirty="0" smtClean="0"/>
              <a:t>能源</a:t>
            </a:r>
            <a:r>
              <a:rPr lang="zh-CN" altLang="en-US" dirty="0"/>
              <a:t>领域的应用</a:t>
            </a:r>
            <a:r>
              <a:rPr lang="zh-CN" altLang="en-US" dirty="0" smtClean="0"/>
              <a:t>。</a:t>
            </a:r>
            <a:endParaRPr lang="en-US" altLang="zh-CN" dirty="0" smtClean="0"/>
          </a:p>
          <a:p>
            <a:pPr lvl="1"/>
            <a:endParaRPr lang="en-US" altLang="zh-CN" dirty="0" smtClean="0"/>
          </a:p>
          <a:p>
            <a:pPr lvl="1"/>
            <a:r>
              <a:rPr lang="zh-CN" altLang="en-US" dirty="0" smtClean="0"/>
              <a:t>电力</a:t>
            </a:r>
            <a:r>
              <a:rPr lang="zh-CN" altLang="en-US" dirty="0"/>
              <a:t>、石油、天然气、供</a:t>
            </a:r>
            <a:r>
              <a:rPr lang="zh-CN" altLang="en-US" dirty="0" smtClean="0"/>
              <a:t>冷以及</a:t>
            </a:r>
            <a:r>
              <a:rPr lang="zh-CN" altLang="en-US" dirty="0"/>
              <a:t>供热等各能源子系统节点，利用有序链接的</a:t>
            </a:r>
            <a:r>
              <a:rPr lang="zh-CN" altLang="en-US" dirty="0" smtClean="0"/>
              <a:t>加密</a:t>
            </a:r>
            <a:r>
              <a:rPr lang="zh-CN" altLang="en-US" dirty="0"/>
              <a:t>区块来验证并存储相关能源交易数据</a:t>
            </a:r>
            <a:r>
              <a:rPr lang="zh-CN" altLang="en-US" dirty="0" smtClean="0"/>
              <a:t>信息；</a:t>
            </a:r>
            <a:endParaRPr lang="en-US" altLang="zh-CN" dirty="0" smtClean="0"/>
          </a:p>
          <a:p>
            <a:pPr lvl="1"/>
            <a:endParaRPr lang="en-US" altLang="zh-CN" dirty="0" smtClean="0"/>
          </a:p>
          <a:p>
            <a:pPr lvl="1"/>
            <a:r>
              <a:rPr lang="zh-CN" altLang="en-US" dirty="0" smtClean="0"/>
              <a:t>使用共识</a:t>
            </a:r>
            <a:r>
              <a:rPr lang="zh-CN" altLang="en-US" dirty="0"/>
              <a:t>机制进行分布决策及维护全网数据的</a:t>
            </a:r>
            <a:r>
              <a:rPr lang="zh-CN" altLang="en-US" dirty="0" smtClean="0"/>
              <a:t>一致性；</a:t>
            </a:r>
            <a:endParaRPr lang="en-US" altLang="zh-CN" dirty="0" smtClean="0"/>
          </a:p>
          <a:p>
            <a:pPr lvl="1"/>
            <a:endParaRPr lang="en-US" altLang="zh-CN" dirty="0" smtClean="0"/>
          </a:p>
          <a:p>
            <a:pPr lvl="1"/>
            <a:r>
              <a:rPr lang="zh-CN" altLang="en-US" dirty="0" smtClean="0"/>
              <a:t>利用</a:t>
            </a:r>
            <a:r>
              <a:rPr lang="zh-CN" altLang="en-US" dirty="0"/>
              <a:t>智能合约自动完成有关数据信息的传递、</a:t>
            </a:r>
            <a:r>
              <a:rPr lang="zh-CN" altLang="en-US" dirty="0" smtClean="0"/>
              <a:t>相互验证</a:t>
            </a:r>
            <a:r>
              <a:rPr lang="zh-CN" altLang="en-US" dirty="0"/>
              <a:t>或</a:t>
            </a:r>
            <a:r>
              <a:rPr lang="zh-CN" altLang="en-US" dirty="0" smtClean="0"/>
              <a:t>执行</a:t>
            </a:r>
            <a:r>
              <a:rPr lang="zh-CN" altLang="en-US" dirty="0"/>
              <a:t>。</a:t>
            </a:r>
          </a:p>
        </p:txBody>
      </p:sp>
    </p:spTree>
    <p:extLst>
      <p:ext uri="{BB962C8B-B14F-4D97-AF65-F5344CB8AC3E}">
        <p14:creationId xmlns:p14="http://schemas.microsoft.com/office/powerpoint/2010/main" val="23808721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能源领域的应用</a:t>
            </a:r>
          </a:p>
        </p:txBody>
      </p:sp>
      <p:sp>
        <p:nvSpPr>
          <p:cNvPr id="3" name="内容占位符 2"/>
          <p:cNvSpPr>
            <a:spLocks noGrp="1"/>
          </p:cNvSpPr>
          <p:nvPr>
            <p:ph idx="1"/>
          </p:nvPr>
        </p:nvSpPr>
        <p:spPr>
          <a:xfrm>
            <a:off x="251520" y="1268760"/>
            <a:ext cx="8424935" cy="4608165"/>
          </a:xfrm>
        </p:spPr>
        <p:txBody>
          <a:bodyPr/>
          <a:lstStyle/>
          <a:p>
            <a:r>
              <a:rPr lang="zh-CN" altLang="en-US" sz="2400" dirty="0"/>
              <a:t>美国纽约布鲁克林微网</a:t>
            </a:r>
            <a:r>
              <a:rPr lang="zh-CN" altLang="en-US" sz="2400" dirty="0" smtClean="0"/>
              <a:t>项目（实验性质）</a:t>
            </a:r>
            <a:endParaRPr lang="en-US" altLang="zh-CN" sz="2400" dirty="0" smtClean="0"/>
          </a:p>
          <a:p>
            <a:pPr lvl="1"/>
            <a:r>
              <a:rPr lang="en-US" altLang="zh-CN" sz="2000" dirty="0" err="1"/>
              <a:t>TransActive</a:t>
            </a:r>
            <a:r>
              <a:rPr lang="en-US" altLang="zh-CN" sz="2000" dirty="0"/>
              <a:t> Grid</a:t>
            </a:r>
            <a:r>
              <a:rPr lang="zh-CN" altLang="en-US" sz="2000" dirty="0"/>
              <a:t>项目是基于以太坊开发的区块链系统，通过用户节点和节点之间的交互，形成了具有智能合约功能的微电网智能系统</a:t>
            </a:r>
            <a:r>
              <a:rPr lang="zh-CN" altLang="en-US" sz="2000" dirty="0" smtClean="0"/>
              <a:t>。</a:t>
            </a:r>
            <a:endParaRPr lang="en-US" altLang="zh-CN" sz="2000" dirty="0" smtClean="0"/>
          </a:p>
          <a:p>
            <a:pPr lvl="1"/>
            <a:r>
              <a:rPr lang="zh-CN" altLang="en-US" sz="2000" dirty="0" smtClean="0"/>
              <a:t>智能</a:t>
            </a:r>
            <a:r>
              <a:rPr lang="zh-CN" altLang="en-US" sz="2000" dirty="0"/>
              <a:t>电表底层应用</a:t>
            </a:r>
            <a:r>
              <a:rPr lang="zh-CN" altLang="en-US" sz="2000" dirty="0" smtClean="0"/>
              <a:t>集成</a:t>
            </a:r>
            <a:r>
              <a:rPr lang="zh-CN" altLang="en-US" sz="2000" dirty="0"/>
              <a:t>了基于以太坊区块链智能合约功能，可对用户</a:t>
            </a:r>
            <a:r>
              <a:rPr lang="zh-CN" altLang="en-US" sz="2000" dirty="0" smtClean="0"/>
              <a:t>的发电</a:t>
            </a:r>
            <a:r>
              <a:rPr lang="zh-CN" altLang="en-US" sz="2000" dirty="0"/>
              <a:t>、用电以及交易电量等信息进行采集，并将</a:t>
            </a:r>
            <a:r>
              <a:rPr lang="zh-CN" altLang="en-US" sz="2000" dirty="0" smtClean="0"/>
              <a:t>数据同步</a:t>
            </a:r>
            <a:r>
              <a:rPr lang="zh-CN" altLang="en-US" sz="2000" dirty="0"/>
              <a:t>上传至公共区块链网络平台上。</a:t>
            </a:r>
          </a:p>
        </p:txBody>
      </p:sp>
      <p:pic>
        <p:nvPicPr>
          <p:cNvPr id="4" name="图片 3"/>
          <p:cNvPicPr>
            <a:picLocks noChangeAspect="1"/>
          </p:cNvPicPr>
          <p:nvPr/>
        </p:nvPicPr>
        <p:blipFill>
          <a:blip r:embed="rId2"/>
          <a:stretch>
            <a:fillRect/>
          </a:stretch>
        </p:blipFill>
        <p:spPr>
          <a:xfrm>
            <a:off x="179512" y="3789040"/>
            <a:ext cx="4956224" cy="2815900"/>
          </a:xfrm>
          <a:prstGeom prst="rect">
            <a:avLst/>
          </a:prstGeom>
        </p:spPr>
      </p:pic>
      <p:pic>
        <p:nvPicPr>
          <p:cNvPr id="5" name="图片 4"/>
          <p:cNvPicPr>
            <a:picLocks noChangeAspect="1"/>
          </p:cNvPicPr>
          <p:nvPr/>
        </p:nvPicPr>
        <p:blipFill>
          <a:blip r:embed="rId3"/>
          <a:stretch>
            <a:fillRect/>
          </a:stretch>
        </p:blipFill>
        <p:spPr>
          <a:xfrm>
            <a:off x="5480230" y="3738714"/>
            <a:ext cx="2868778" cy="2834643"/>
          </a:xfrm>
          <a:prstGeom prst="rect">
            <a:avLst/>
          </a:prstGeom>
        </p:spPr>
      </p:pic>
    </p:spTree>
    <p:extLst>
      <p:ext uri="{BB962C8B-B14F-4D97-AF65-F5344CB8AC3E}">
        <p14:creationId xmlns:p14="http://schemas.microsoft.com/office/powerpoint/2010/main" val="41071020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697364" cy="576262"/>
          </a:xfrm>
        </p:spPr>
        <p:txBody>
          <a:bodyPr/>
          <a:lstStyle/>
          <a:p>
            <a:r>
              <a:rPr lang="zh-CN" altLang="en-US" dirty="0"/>
              <a:t>基于联盟链的去中心化能源交易系统</a:t>
            </a:r>
          </a:p>
        </p:txBody>
      </p:sp>
      <p:sp>
        <p:nvSpPr>
          <p:cNvPr id="3" name="内容占位符 2"/>
          <p:cNvSpPr>
            <a:spLocks noGrp="1"/>
          </p:cNvSpPr>
          <p:nvPr>
            <p:ph idx="1"/>
          </p:nvPr>
        </p:nvSpPr>
        <p:spPr/>
        <p:txBody>
          <a:bodyPr/>
          <a:lstStyle/>
          <a:p>
            <a:r>
              <a:rPr lang="zh-CN" altLang="en-US" sz="2400" dirty="0"/>
              <a:t>传统的电力市场交易采用集中式模式，发电商</a:t>
            </a:r>
            <a:r>
              <a:rPr lang="zh-CN" altLang="en-US" sz="2400" dirty="0" smtClean="0"/>
              <a:t>和用户</a:t>
            </a:r>
            <a:r>
              <a:rPr lang="zh-CN" altLang="en-US" sz="2400" dirty="0"/>
              <a:t>将报价数据传递给中心化交易系统，然后再通</a:t>
            </a:r>
            <a:r>
              <a:rPr lang="zh-CN" altLang="en-US" sz="2400" dirty="0" smtClean="0"/>
              <a:t>过集中</a:t>
            </a:r>
            <a:r>
              <a:rPr lang="zh-CN" altLang="en-US" sz="2400" dirty="0"/>
              <a:t>撮合或者优化的方式进行</a:t>
            </a:r>
            <a:r>
              <a:rPr lang="zh-CN" altLang="en-US" sz="2400" dirty="0" smtClean="0"/>
              <a:t>匹配。</a:t>
            </a:r>
            <a:endParaRPr lang="en-US" altLang="zh-CN" sz="2400" dirty="0" smtClean="0"/>
          </a:p>
          <a:p>
            <a:pPr lvl="1"/>
            <a:r>
              <a:rPr lang="zh-CN" altLang="en-US" sz="2000" dirty="0" smtClean="0"/>
              <a:t>交易</a:t>
            </a:r>
            <a:r>
              <a:rPr lang="zh-CN" altLang="en-US" sz="2000" dirty="0"/>
              <a:t>中心信息安全程度不高，容易受到</a:t>
            </a:r>
            <a:r>
              <a:rPr lang="zh-CN" altLang="en-US" sz="2000" dirty="0" smtClean="0"/>
              <a:t>恶意</a:t>
            </a:r>
            <a:r>
              <a:rPr lang="zh-CN" altLang="en-US" sz="2000" dirty="0"/>
              <a:t>攻击，数据被篡改后会造成严重</a:t>
            </a:r>
            <a:r>
              <a:rPr lang="zh-CN" altLang="en-US" sz="2000" dirty="0" smtClean="0"/>
              <a:t>后果；</a:t>
            </a:r>
            <a:endParaRPr lang="en-US" altLang="zh-CN" sz="2000" dirty="0" smtClean="0"/>
          </a:p>
          <a:p>
            <a:pPr lvl="1"/>
            <a:r>
              <a:rPr lang="zh-CN" altLang="en-US" sz="2000" dirty="0"/>
              <a:t>中心化交易系统难以保障用户</a:t>
            </a:r>
            <a:r>
              <a:rPr lang="zh-CN" altLang="en-US" sz="2000" dirty="0" smtClean="0"/>
              <a:t>隐私。</a:t>
            </a:r>
            <a:endParaRPr lang="en-US" altLang="zh-CN" sz="2000" dirty="0"/>
          </a:p>
          <a:p>
            <a:r>
              <a:rPr lang="en-US" altLang="zh-CN" sz="2400" dirty="0" smtClean="0"/>
              <a:t>2017</a:t>
            </a:r>
            <a:r>
              <a:rPr lang="zh-CN" altLang="en-US" sz="2400" dirty="0"/>
              <a:t>年，国家发改委和国家能源局出台</a:t>
            </a:r>
            <a:r>
              <a:rPr lang="zh-CN" altLang="en-US" sz="2400" dirty="0" smtClean="0"/>
              <a:t>了</a:t>
            </a:r>
            <a:r>
              <a:rPr lang="en-US" altLang="zh-CN" sz="2400" dirty="0" smtClean="0"/>
              <a:t>《</a:t>
            </a:r>
            <a:r>
              <a:rPr lang="zh-CN" altLang="en-US" sz="2400" dirty="0"/>
              <a:t>关于开展分布式发电市场化交易试点的通知</a:t>
            </a:r>
            <a:r>
              <a:rPr lang="en-US" altLang="zh-CN" sz="2400" dirty="0"/>
              <a:t>》</a:t>
            </a:r>
            <a:r>
              <a:rPr lang="zh-CN" altLang="en-US" sz="2400" dirty="0"/>
              <a:t>，</a:t>
            </a:r>
            <a:r>
              <a:rPr lang="zh-CN" altLang="en-US" sz="2400" dirty="0" smtClean="0"/>
              <a:t>鼓励分布式</a:t>
            </a:r>
            <a:r>
              <a:rPr lang="zh-CN" altLang="en-US" sz="2400" dirty="0"/>
              <a:t>能源参与到电力市场中，提出建立分布式</a:t>
            </a:r>
            <a:r>
              <a:rPr lang="zh-CN" altLang="en-US" sz="2400" dirty="0" smtClean="0"/>
              <a:t>发电市场化</a:t>
            </a:r>
            <a:r>
              <a:rPr lang="zh-CN" altLang="en-US" sz="2400" dirty="0"/>
              <a:t>交易平台。</a:t>
            </a:r>
          </a:p>
        </p:txBody>
      </p:sp>
    </p:spTree>
    <p:extLst>
      <p:ext uri="{BB962C8B-B14F-4D97-AF65-F5344CB8AC3E}">
        <p14:creationId xmlns:p14="http://schemas.microsoft.com/office/powerpoint/2010/main" val="1088986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273428" cy="576262"/>
          </a:xfrm>
        </p:spPr>
        <p:txBody>
          <a:bodyPr/>
          <a:lstStyle/>
          <a:p>
            <a:r>
              <a:rPr lang="zh-CN" altLang="en-US" dirty="0"/>
              <a:t>基于联盟链的去中心化能源交易系统</a:t>
            </a:r>
          </a:p>
        </p:txBody>
      </p:sp>
      <p:sp>
        <p:nvSpPr>
          <p:cNvPr id="3" name="内容占位符 2"/>
          <p:cNvSpPr>
            <a:spLocks noGrp="1"/>
          </p:cNvSpPr>
          <p:nvPr>
            <p:ph idx="1"/>
          </p:nvPr>
        </p:nvSpPr>
        <p:spPr/>
        <p:txBody>
          <a:bodyPr/>
          <a:lstStyle/>
          <a:p>
            <a:r>
              <a:rPr lang="zh-CN" altLang="en-US" dirty="0"/>
              <a:t>能源交易系统架构</a:t>
            </a:r>
          </a:p>
        </p:txBody>
      </p:sp>
      <p:pic>
        <p:nvPicPr>
          <p:cNvPr id="4" name="图片 3"/>
          <p:cNvPicPr>
            <a:picLocks noChangeAspect="1"/>
          </p:cNvPicPr>
          <p:nvPr/>
        </p:nvPicPr>
        <p:blipFill>
          <a:blip r:embed="rId2"/>
          <a:stretch>
            <a:fillRect/>
          </a:stretch>
        </p:blipFill>
        <p:spPr>
          <a:xfrm>
            <a:off x="611560" y="2204864"/>
            <a:ext cx="8232388" cy="4103291"/>
          </a:xfrm>
          <a:prstGeom prst="rect">
            <a:avLst/>
          </a:prstGeom>
        </p:spPr>
      </p:pic>
    </p:spTree>
    <p:extLst>
      <p:ext uri="{BB962C8B-B14F-4D97-AF65-F5344CB8AC3E}">
        <p14:creationId xmlns:p14="http://schemas.microsoft.com/office/powerpoint/2010/main" val="2598414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129412" cy="576262"/>
          </a:xfrm>
        </p:spPr>
        <p:txBody>
          <a:bodyPr/>
          <a:lstStyle/>
          <a:p>
            <a:r>
              <a:rPr lang="zh-CN" altLang="en-US" dirty="0"/>
              <a:t>基于联盟链的去中心化能源交易系统</a:t>
            </a:r>
          </a:p>
        </p:txBody>
      </p:sp>
      <p:sp>
        <p:nvSpPr>
          <p:cNvPr id="3" name="内容占位符 2"/>
          <p:cNvSpPr>
            <a:spLocks noGrp="1"/>
          </p:cNvSpPr>
          <p:nvPr>
            <p:ph idx="1"/>
          </p:nvPr>
        </p:nvSpPr>
        <p:spPr>
          <a:xfrm>
            <a:off x="468313" y="1484313"/>
            <a:ext cx="4535735" cy="4392612"/>
          </a:xfrm>
        </p:spPr>
        <p:txBody>
          <a:bodyPr/>
          <a:lstStyle/>
          <a:p>
            <a:r>
              <a:rPr lang="zh-CN" altLang="en-US" dirty="0" smtClean="0"/>
              <a:t>能源</a:t>
            </a:r>
            <a:r>
              <a:rPr lang="zh-CN" altLang="en-US" dirty="0"/>
              <a:t>交易系统的交易</a:t>
            </a:r>
            <a:r>
              <a:rPr lang="zh-CN" altLang="en-US" dirty="0" smtClean="0"/>
              <a:t>流程</a:t>
            </a:r>
            <a:endParaRPr lang="en-US" altLang="zh-CN" dirty="0" smtClean="0"/>
          </a:p>
          <a:p>
            <a:pPr lvl="1"/>
            <a:r>
              <a:rPr lang="zh-CN" altLang="en-US" dirty="0" smtClean="0"/>
              <a:t>各个</a:t>
            </a:r>
            <a:r>
              <a:rPr lang="zh-CN" altLang="en-US" dirty="0"/>
              <a:t>组织机构会以网站或</a:t>
            </a:r>
            <a:r>
              <a:rPr lang="en-US" altLang="zh-CN" dirty="0"/>
              <a:t>APP</a:t>
            </a:r>
            <a:r>
              <a:rPr lang="zh-CN" altLang="en-US" dirty="0"/>
              <a:t>的形式为用户</a:t>
            </a:r>
            <a:r>
              <a:rPr lang="zh-CN" altLang="en-US" dirty="0" smtClean="0"/>
              <a:t>提供一</a:t>
            </a:r>
            <a:r>
              <a:rPr lang="zh-CN" altLang="en-US" dirty="0"/>
              <a:t>个注册的接口，当用户提交注册申请后</a:t>
            </a:r>
            <a:r>
              <a:rPr lang="zh-CN" altLang="en-US" dirty="0" smtClean="0"/>
              <a:t>，由管理员</a:t>
            </a:r>
            <a:r>
              <a:rPr lang="zh-CN" altLang="en-US" dirty="0"/>
              <a:t>的审核</a:t>
            </a:r>
            <a:r>
              <a:rPr lang="zh-CN" altLang="en-US" dirty="0" smtClean="0"/>
              <a:t>。</a:t>
            </a:r>
            <a:endParaRPr lang="en-US" altLang="zh-CN" dirty="0" smtClean="0"/>
          </a:p>
          <a:p>
            <a:pPr lvl="1"/>
            <a:r>
              <a:rPr lang="zh-CN" altLang="en-US" dirty="0" smtClean="0"/>
              <a:t>管理员</a:t>
            </a:r>
            <a:r>
              <a:rPr lang="zh-CN" altLang="en-US" dirty="0"/>
              <a:t>本身</a:t>
            </a:r>
            <a:r>
              <a:rPr lang="zh-CN" altLang="en-US" dirty="0" smtClean="0"/>
              <a:t>并不</a:t>
            </a:r>
            <a:r>
              <a:rPr lang="zh-CN" altLang="en-US" dirty="0"/>
              <a:t>会参与到能源交易中，而是作为政府监管功能</a:t>
            </a:r>
            <a:r>
              <a:rPr lang="zh-CN" altLang="en-US" dirty="0" smtClean="0"/>
              <a:t>的实际</a:t>
            </a:r>
            <a:r>
              <a:rPr lang="zh-CN" altLang="en-US" dirty="0"/>
              <a:t>执行者，对参与到能源交易中的用户进行</a:t>
            </a:r>
            <a:r>
              <a:rPr lang="zh-CN" altLang="en-US" dirty="0" smtClean="0"/>
              <a:t>资格审核</a:t>
            </a:r>
            <a:r>
              <a:rPr lang="zh-CN" altLang="en-US" dirty="0"/>
              <a:t>。</a:t>
            </a:r>
          </a:p>
        </p:txBody>
      </p:sp>
      <p:pic>
        <p:nvPicPr>
          <p:cNvPr id="4" name="图片 3"/>
          <p:cNvPicPr>
            <a:picLocks noChangeAspect="1"/>
          </p:cNvPicPr>
          <p:nvPr/>
        </p:nvPicPr>
        <p:blipFill>
          <a:blip r:embed="rId2"/>
          <a:stretch>
            <a:fillRect/>
          </a:stretch>
        </p:blipFill>
        <p:spPr>
          <a:xfrm>
            <a:off x="5508104" y="1484313"/>
            <a:ext cx="3096344" cy="5114925"/>
          </a:xfrm>
          <a:prstGeom prst="rect">
            <a:avLst/>
          </a:prstGeom>
        </p:spPr>
      </p:pic>
    </p:spTree>
    <p:extLst>
      <p:ext uri="{BB962C8B-B14F-4D97-AF65-F5344CB8AC3E}">
        <p14:creationId xmlns:p14="http://schemas.microsoft.com/office/powerpoint/2010/main" val="3920310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129412" cy="576262"/>
          </a:xfrm>
        </p:spPr>
        <p:txBody>
          <a:bodyPr/>
          <a:lstStyle/>
          <a:p>
            <a:r>
              <a:rPr lang="zh-CN" altLang="en-US" dirty="0"/>
              <a:t>基于联盟链的去中心化能源交易系统</a:t>
            </a:r>
          </a:p>
        </p:txBody>
      </p:sp>
      <p:sp>
        <p:nvSpPr>
          <p:cNvPr id="3" name="内容占位符 2"/>
          <p:cNvSpPr>
            <a:spLocks noGrp="1"/>
          </p:cNvSpPr>
          <p:nvPr>
            <p:ph idx="1"/>
          </p:nvPr>
        </p:nvSpPr>
        <p:spPr>
          <a:xfrm>
            <a:off x="395536" y="1412776"/>
            <a:ext cx="8640960" cy="5184576"/>
          </a:xfrm>
        </p:spPr>
        <p:txBody>
          <a:bodyPr/>
          <a:lstStyle/>
          <a:p>
            <a:r>
              <a:rPr lang="zh-CN" altLang="en-US" dirty="0"/>
              <a:t>基于区块链</a:t>
            </a:r>
            <a:r>
              <a:rPr lang="zh-CN" altLang="en-US" dirty="0" smtClean="0"/>
              <a:t>的</a:t>
            </a:r>
            <a:r>
              <a:rPr lang="en-US" altLang="zh-CN" dirty="0"/>
              <a:t>P2P</a:t>
            </a:r>
            <a:r>
              <a:rPr lang="zh-CN" altLang="en-US" dirty="0"/>
              <a:t>模式</a:t>
            </a:r>
            <a:r>
              <a:rPr lang="zh-CN" altLang="en-US" dirty="0" smtClean="0"/>
              <a:t>能源</a:t>
            </a:r>
            <a:r>
              <a:rPr lang="zh-CN" altLang="en-US" dirty="0"/>
              <a:t>交易</a:t>
            </a:r>
            <a:r>
              <a:rPr lang="zh-CN" altLang="en-US" dirty="0" smtClean="0"/>
              <a:t>系统</a:t>
            </a:r>
            <a:endParaRPr lang="en-US" altLang="zh-CN" dirty="0" smtClean="0"/>
          </a:p>
          <a:p>
            <a:pPr lvl="1"/>
            <a:r>
              <a:rPr lang="en-US" altLang="zh-CN" dirty="0" smtClean="0"/>
              <a:t>P2P</a:t>
            </a:r>
            <a:r>
              <a:rPr lang="zh-CN" altLang="en-US" dirty="0"/>
              <a:t>模式下各个用户之间直接</a:t>
            </a:r>
            <a:r>
              <a:rPr lang="zh-CN" altLang="en-US" dirty="0" smtClean="0"/>
              <a:t>达成交易</a:t>
            </a:r>
            <a:r>
              <a:rPr lang="zh-CN" altLang="en-US" dirty="0"/>
              <a:t>意向，不要通过智能合约进行撮合</a:t>
            </a:r>
            <a:r>
              <a:rPr lang="zh-CN" altLang="en-US" dirty="0" smtClean="0"/>
              <a:t>。</a:t>
            </a:r>
            <a:endParaRPr lang="en-US" altLang="zh-CN" dirty="0" smtClean="0"/>
          </a:p>
          <a:p>
            <a:r>
              <a:rPr lang="zh-CN" altLang="en-US" dirty="0"/>
              <a:t>基于区块链的</a:t>
            </a:r>
            <a:r>
              <a:rPr lang="zh-CN" altLang="en-US" dirty="0" smtClean="0"/>
              <a:t>集中</a:t>
            </a:r>
            <a:r>
              <a:rPr lang="zh-CN" altLang="en-US" dirty="0"/>
              <a:t>出清</a:t>
            </a:r>
            <a:r>
              <a:rPr lang="zh-CN" altLang="en-US" dirty="0" smtClean="0"/>
              <a:t>模式</a:t>
            </a:r>
            <a:r>
              <a:rPr lang="zh-CN" altLang="en-US" dirty="0"/>
              <a:t>能源交易系统</a:t>
            </a:r>
            <a:endParaRPr lang="en-US" altLang="zh-CN" dirty="0"/>
          </a:p>
          <a:p>
            <a:pPr lvl="1"/>
            <a:r>
              <a:rPr lang="zh-CN" altLang="en-US" dirty="0" smtClean="0"/>
              <a:t>通过</a:t>
            </a:r>
            <a:r>
              <a:rPr lang="zh-CN" altLang="en-US" dirty="0"/>
              <a:t>智能合约对用户的报价</a:t>
            </a:r>
            <a:r>
              <a:rPr lang="zh-CN" altLang="en-US" dirty="0" smtClean="0"/>
              <a:t>进行撮合；</a:t>
            </a:r>
            <a:endParaRPr lang="en-US" altLang="zh-CN" dirty="0" smtClean="0"/>
          </a:p>
          <a:p>
            <a:pPr lvl="1"/>
            <a:r>
              <a:rPr lang="zh-CN" altLang="en-US" dirty="0"/>
              <a:t>集中出清模式下的分布式撮合算法需要大量</a:t>
            </a:r>
            <a:r>
              <a:rPr lang="zh-CN" altLang="en-US" dirty="0" smtClean="0"/>
              <a:t>的迭代</a:t>
            </a:r>
            <a:r>
              <a:rPr lang="zh-CN" altLang="en-US" dirty="0"/>
              <a:t>操作，更新大量的中间数据，如果这些数据</a:t>
            </a:r>
            <a:r>
              <a:rPr lang="zh-CN" altLang="en-US" dirty="0" smtClean="0"/>
              <a:t>全部</a:t>
            </a:r>
            <a:r>
              <a:rPr lang="zh-CN" altLang="en-US" dirty="0"/>
              <a:t>记录在联盟链账本中，会花费大量时间，严重</a:t>
            </a:r>
            <a:r>
              <a:rPr lang="zh-CN" altLang="en-US" dirty="0" smtClean="0"/>
              <a:t>降低</a:t>
            </a:r>
            <a:r>
              <a:rPr lang="zh-CN" altLang="en-US" dirty="0"/>
              <a:t>交易</a:t>
            </a:r>
            <a:r>
              <a:rPr lang="zh-CN" altLang="en-US" dirty="0" smtClean="0"/>
              <a:t>速度；</a:t>
            </a:r>
            <a:endParaRPr lang="en-US" altLang="zh-CN" dirty="0" smtClean="0"/>
          </a:p>
          <a:p>
            <a:pPr lvl="1"/>
            <a:r>
              <a:rPr lang="zh-CN" altLang="en-US" dirty="0"/>
              <a:t>使用链上、链下协同架构，链上只记录用户</a:t>
            </a:r>
            <a:r>
              <a:rPr lang="zh-CN" altLang="en-US" dirty="0" smtClean="0"/>
              <a:t>的报价和</a:t>
            </a:r>
            <a:r>
              <a:rPr lang="zh-CN" altLang="en-US" dirty="0"/>
              <a:t>交易信息，在链下执行分布式撮合算法的迭代</a:t>
            </a:r>
            <a:r>
              <a:rPr lang="zh-CN" altLang="en-US" dirty="0" smtClean="0"/>
              <a:t>过程</a:t>
            </a:r>
            <a:r>
              <a:rPr lang="zh-CN" altLang="en-US" dirty="0"/>
              <a:t>，中间数据也在链下存储，能够极大提高交易</a:t>
            </a:r>
            <a:r>
              <a:rPr lang="zh-CN" altLang="en-US" dirty="0" smtClean="0"/>
              <a:t>撮合</a:t>
            </a:r>
            <a:r>
              <a:rPr lang="zh-CN" altLang="en-US" dirty="0"/>
              <a:t>的速度。</a:t>
            </a:r>
          </a:p>
        </p:txBody>
      </p:sp>
    </p:spTree>
    <p:extLst>
      <p:ext uri="{BB962C8B-B14F-4D97-AF65-F5344CB8AC3E}">
        <p14:creationId xmlns:p14="http://schemas.microsoft.com/office/powerpoint/2010/main" val="1123313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841380" cy="576262"/>
          </a:xfrm>
        </p:spPr>
        <p:txBody>
          <a:bodyPr/>
          <a:lstStyle/>
          <a:p>
            <a:r>
              <a:rPr lang="zh-CN" altLang="en-US" dirty="0"/>
              <a:t>基于联盟链的去中心化能源交易系统</a:t>
            </a:r>
          </a:p>
        </p:txBody>
      </p:sp>
      <p:sp>
        <p:nvSpPr>
          <p:cNvPr id="3" name="内容占位符 2"/>
          <p:cNvSpPr>
            <a:spLocks noGrp="1"/>
          </p:cNvSpPr>
          <p:nvPr>
            <p:ph idx="1"/>
          </p:nvPr>
        </p:nvSpPr>
        <p:spPr/>
        <p:txBody>
          <a:bodyPr/>
          <a:lstStyle/>
          <a:p>
            <a:r>
              <a:rPr lang="zh-CN" altLang="en-US" dirty="0"/>
              <a:t>智能合约定义联盟链数据库记录的</a:t>
            </a:r>
            <a:r>
              <a:rPr lang="zh-CN" altLang="en-US" dirty="0" smtClean="0"/>
              <a:t>内容</a:t>
            </a:r>
            <a:endParaRPr lang="zh-CN" altLang="en-US" dirty="0"/>
          </a:p>
          <a:p>
            <a:pPr lvl="1"/>
            <a:r>
              <a:rPr lang="en-US" altLang="zh-CN" dirty="0" smtClean="0"/>
              <a:t>Transaction</a:t>
            </a:r>
            <a:r>
              <a:rPr lang="zh-CN" altLang="en-US" dirty="0"/>
              <a:t>（交易</a:t>
            </a:r>
            <a:r>
              <a:rPr lang="zh-CN" altLang="en-US" dirty="0" smtClean="0"/>
              <a:t>）和</a:t>
            </a:r>
            <a:r>
              <a:rPr lang="en-US" altLang="zh-CN" dirty="0" smtClean="0"/>
              <a:t>Offer</a:t>
            </a:r>
            <a:r>
              <a:rPr lang="zh-CN" altLang="en-US" dirty="0"/>
              <a:t>（报价</a:t>
            </a:r>
            <a:r>
              <a:rPr lang="zh-CN" altLang="en-US" dirty="0" smtClean="0"/>
              <a:t>）</a:t>
            </a:r>
            <a:endParaRPr lang="en-US" altLang="zh-CN" dirty="0" smtClean="0"/>
          </a:p>
          <a:p>
            <a:r>
              <a:rPr lang="zh-CN" altLang="en-US" dirty="0"/>
              <a:t>智能</a:t>
            </a:r>
            <a:r>
              <a:rPr lang="zh-CN" altLang="en-US" dirty="0" smtClean="0"/>
              <a:t>合约执行的操作</a:t>
            </a:r>
            <a:endParaRPr lang="en-US" altLang="zh-CN" dirty="0" smtClean="0"/>
          </a:p>
          <a:p>
            <a:pPr lvl="1"/>
            <a:r>
              <a:rPr lang="zh-CN" altLang="en-US" dirty="0"/>
              <a:t>初始化、创建交易、交易付款</a:t>
            </a:r>
            <a:r>
              <a:rPr lang="zh-CN" altLang="en-US" dirty="0" smtClean="0"/>
              <a:t>、查询</a:t>
            </a:r>
            <a:r>
              <a:rPr lang="zh-CN" altLang="en-US" dirty="0"/>
              <a:t>数据和写入</a:t>
            </a:r>
            <a:r>
              <a:rPr lang="zh-CN" altLang="en-US" dirty="0" smtClean="0"/>
              <a:t>报价</a:t>
            </a:r>
            <a:endParaRPr lang="en-US" altLang="zh-CN" dirty="0" smtClean="0"/>
          </a:p>
          <a:p>
            <a:r>
              <a:rPr lang="zh-CN" altLang="en-US" dirty="0" smtClean="0"/>
              <a:t>使用智能合约进行撮合的过程</a:t>
            </a:r>
            <a:endParaRPr lang="en-US" altLang="zh-CN" dirty="0" smtClean="0"/>
          </a:p>
          <a:p>
            <a:pPr lvl="1"/>
            <a:r>
              <a:rPr lang="en-US" altLang="zh-CN" dirty="0" smtClean="0"/>
              <a:t>wallet</a:t>
            </a:r>
            <a:r>
              <a:rPr lang="zh-CN" altLang="en-US" dirty="0"/>
              <a:t>中的电网管理员利用</a:t>
            </a:r>
            <a:r>
              <a:rPr lang="en-US" altLang="zh-CN" dirty="0"/>
              <a:t>gateway</a:t>
            </a:r>
            <a:r>
              <a:rPr lang="zh-CN" altLang="en-US" dirty="0"/>
              <a:t>调用智能合约中</a:t>
            </a:r>
            <a:r>
              <a:rPr lang="zh-CN" altLang="en-US" dirty="0" smtClean="0"/>
              <a:t>的</a:t>
            </a:r>
            <a:r>
              <a:rPr lang="en-US" altLang="zh-CN" dirty="0" err="1" smtClean="0"/>
              <a:t>queryDatabase</a:t>
            </a:r>
            <a:r>
              <a:rPr lang="zh-CN" altLang="en-US" dirty="0"/>
              <a:t>函数，得到用户提交的报价</a:t>
            </a:r>
            <a:r>
              <a:rPr lang="zh-CN" altLang="en-US" dirty="0" smtClean="0"/>
              <a:t>信息；</a:t>
            </a:r>
            <a:endParaRPr lang="en-US" altLang="zh-CN" dirty="0" smtClean="0"/>
          </a:p>
          <a:p>
            <a:pPr lvl="1"/>
            <a:r>
              <a:rPr lang="zh-CN" altLang="en-US" dirty="0" smtClean="0"/>
              <a:t>利用</a:t>
            </a:r>
            <a:r>
              <a:rPr lang="zh-CN" altLang="en-US" dirty="0"/>
              <a:t>链下撮合代码进行分布式的交易撮合，并得到</a:t>
            </a:r>
            <a:r>
              <a:rPr lang="zh-CN" altLang="en-US" dirty="0" smtClean="0"/>
              <a:t>交易</a:t>
            </a:r>
            <a:r>
              <a:rPr lang="zh-CN" altLang="en-US" dirty="0"/>
              <a:t>结果</a:t>
            </a:r>
            <a:r>
              <a:rPr lang="zh-CN" altLang="en-US" dirty="0" smtClean="0"/>
              <a:t>。</a:t>
            </a:r>
            <a:endParaRPr lang="en-US" altLang="zh-CN" dirty="0" smtClean="0"/>
          </a:p>
          <a:p>
            <a:pPr lvl="1"/>
            <a:r>
              <a:rPr lang="zh-CN" altLang="en-US" dirty="0"/>
              <a:t>利用</a:t>
            </a:r>
            <a:r>
              <a:rPr lang="en-US" altLang="zh-CN" dirty="0"/>
              <a:t>gateway</a:t>
            </a:r>
            <a:r>
              <a:rPr lang="zh-CN" altLang="en-US" dirty="0"/>
              <a:t>调用智能</a:t>
            </a:r>
            <a:r>
              <a:rPr lang="zh-CN" altLang="en-US" dirty="0" smtClean="0"/>
              <a:t>合约</a:t>
            </a:r>
            <a:r>
              <a:rPr lang="zh-CN" altLang="en-US" dirty="0"/>
              <a:t>中的</a:t>
            </a:r>
            <a:r>
              <a:rPr lang="en-US" altLang="zh-CN" dirty="0" err="1"/>
              <a:t>createTransaction</a:t>
            </a:r>
            <a:r>
              <a:rPr lang="zh-CN" altLang="en-US" dirty="0"/>
              <a:t>函数，将撮合结果写入到</a:t>
            </a:r>
            <a:r>
              <a:rPr lang="zh-CN" altLang="en-US" dirty="0" smtClean="0"/>
              <a:t>联盟链</a:t>
            </a:r>
            <a:r>
              <a:rPr lang="zh-CN" altLang="en-US" dirty="0"/>
              <a:t>账本中。</a:t>
            </a:r>
          </a:p>
        </p:txBody>
      </p:sp>
    </p:spTree>
    <p:extLst>
      <p:ext uri="{BB962C8B-B14F-4D97-AF65-F5344CB8AC3E}">
        <p14:creationId xmlns:p14="http://schemas.microsoft.com/office/powerpoint/2010/main" val="146705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教育</a:t>
            </a:r>
            <a:r>
              <a:rPr lang="zh-CN" altLang="en-US" dirty="0" smtClean="0"/>
              <a:t>领域</a:t>
            </a:r>
            <a:r>
              <a:rPr lang="zh-CN" altLang="en-US" dirty="0"/>
              <a:t>的应用</a:t>
            </a:r>
          </a:p>
        </p:txBody>
      </p:sp>
      <p:sp>
        <p:nvSpPr>
          <p:cNvPr id="3" name="内容占位符 2"/>
          <p:cNvSpPr>
            <a:spLocks noGrp="1"/>
          </p:cNvSpPr>
          <p:nvPr>
            <p:ph idx="1"/>
          </p:nvPr>
        </p:nvSpPr>
        <p:spPr/>
        <p:txBody>
          <a:bodyPr/>
          <a:lstStyle/>
          <a:p>
            <a:r>
              <a:rPr lang="zh-CN" altLang="en-US" dirty="0"/>
              <a:t>传统的数字化教育系统通常采用中心化的结构，所有的教育相关数据以及处理代码通常都存储在中心化的服务器</a:t>
            </a:r>
            <a:r>
              <a:rPr lang="zh-CN" altLang="en-US" dirty="0" smtClean="0"/>
              <a:t>上。</a:t>
            </a:r>
            <a:endParaRPr lang="en-US" altLang="zh-CN" dirty="0" smtClean="0"/>
          </a:p>
          <a:p>
            <a:r>
              <a:rPr lang="zh-CN" altLang="en-US" dirty="0"/>
              <a:t>随着教育全球化和个人成长学习的终生化趋势，每个人在人生的不同阶段可能会在不同类型、不同地区乃至不同国家的教育结构接受教育，中心化数字化教育</a:t>
            </a:r>
            <a:r>
              <a:rPr lang="zh-CN" altLang="en-US" dirty="0" smtClean="0"/>
              <a:t>系统将</a:t>
            </a:r>
            <a:r>
              <a:rPr lang="zh-CN" altLang="en-US" dirty="0"/>
              <a:t>会遇到很大困难</a:t>
            </a:r>
            <a:r>
              <a:rPr lang="zh-CN" altLang="en-US" dirty="0" smtClean="0"/>
              <a:t>。</a:t>
            </a:r>
            <a:endParaRPr lang="en-US" altLang="zh-CN" dirty="0" smtClean="0"/>
          </a:p>
          <a:p>
            <a:r>
              <a:rPr lang="zh-CN" altLang="en-US" dirty="0"/>
              <a:t>这样的困难无法通过构建一个更大的包括相关教育机构的中心化的数字教育系统来解决。</a:t>
            </a:r>
          </a:p>
        </p:txBody>
      </p:sp>
    </p:spTree>
    <p:extLst>
      <p:ext uri="{BB962C8B-B14F-4D97-AF65-F5344CB8AC3E}">
        <p14:creationId xmlns:p14="http://schemas.microsoft.com/office/powerpoint/2010/main" val="17894063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47664" y="188640"/>
            <a:ext cx="5616575" cy="576262"/>
          </a:xfrm>
        </p:spPr>
        <p:txBody>
          <a:bodyPr/>
          <a:lstStyle/>
          <a:p>
            <a:r>
              <a:rPr lang="zh-CN" altLang="en-US" dirty="0"/>
              <a:t>教育领域的应用</a:t>
            </a:r>
          </a:p>
        </p:txBody>
      </p:sp>
      <p:sp>
        <p:nvSpPr>
          <p:cNvPr id="3" name="内容占位符 2"/>
          <p:cNvSpPr>
            <a:spLocks noGrp="1"/>
          </p:cNvSpPr>
          <p:nvPr>
            <p:ph idx="1"/>
          </p:nvPr>
        </p:nvSpPr>
        <p:spPr>
          <a:xfrm>
            <a:off x="179512" y="908720"/>
            <a:ext cx="8784976" cy="4824189"/>
          </a:xfrm>
        </p:spPr>
        <p:txBody>
          <a:bodyPr/>
          <a:lstStyle/>
          <a:p>
            <a:r>
              <a:rPr lang="zh-CN" altLang="en-US" sz="2400" dirty="0"/>
              <a:t>基于区块链的数字化教育系统用户包括学习者、教育结构的教师、管理者以及其他的利益相关方例如公司、雇主等，其主要作用包括以下几点</a:t>
            </a:r>
            <a:r>
              <a:rPr lang="zh-CN" altLang="en-US" sz="2400" dirty="0" smtClean="0"/>
              <a:t>：</a:t>
            </a:r>
            <a:endParaRPr lang="en-US" altLang="zh-CN" sz="2400" dirty="0" smtClean="0"/>
          </a:p>
          <a:p>
            <a:pPr lvl="1"/>
            <a:r>
              <a:rPr lang="zh-CN" altLang="en-US" sz="2000" dirty="0"/>
              <a:t>存储学习者学习资质和证书</a:t>
            </a:r>
          </a:p>
          <a:p>
            <a:pPr lvl="1"/>
            <a:r>
              <a:rPr lang="zh-CN" altLang="en-US" sz="2000" dirty="0" smtClean="0"/>
              <a:t>存储</a:t>
            </a:r>
            <a:r>
              <a:rPr lang="zh-CN" altLang="en-US" sz="2000" dirty="0"/>
              <a:t>学习者课程成绩、学分和课程修习结果</a:t>
            </a:r>
          </a:p>
          <a:p>
            <a:pPr lvl="1"/>
            <a:r>
              <a:rPr lang="zh-CN" altLang="en-US" sz="2000" dirty="0" smtClean="0"/>
              <a:t>存储</a:t>
            </a:r>
            <a:r>
              <a:rPr lang="zh-CN" altLang="en-US" sz="2000" dirty="0"/>
              <a:t>学习者的学习过程日志</a:t>
            </a:r>
          </a:p>
          <a:p>
            <a:pPr lvl="1"/>
            <a:r>
              <a:rPr lang="zh-CN" altLang="en-US" sz="2000" dirty="0" smtClean="0"/>
              <a:t>存储</a:t>
            </a:r>
            <a:r>
              <a:rPr lang="zh-CN" altLang="en-US" sz="2000" dirty="0"/>
              <a:t>学习者的学习奖励</a:t>
            </a:r>
          </a:p>
          <a:p>
            <a:pPr lvl="1"/>
            <a:r>
              <a:rPr lang="zh-CN" altLang="en-US" sz="2000" dirty="0" smtClean="0"/>
              <a:t>提供</a:t>
            </a:r>
            <a:r>
              <a:rPr lang="zh-CN" altLang="en-US" sz="2000" dirty="0"/>
              <a:t>对学习者学习结果、资质和证书的共享和验证</a:t>
            </a:r>
          </a:p>
          <a:p>
            <a:pPr lvl="1"/>
            <a:r>
              <a:rPr lang="zh-CN" altLang="en-US" sz="2000" dirty="0" smtClean="0"/>
              <a:t>存储</a:t>
            </a:r>
            <a:r>
              <a:rPr lang="zh-CN" altLang="en-US" sz="2000" dirty="0"/>
              <a:t>课程相关信息</a:t>
            </a:r>
          </a:p>
          <a:p>
            <a:pPr lvl="1"/>
            <a:r>
              <a:rPr lang="zh-CN" altLang="en-US" sz="2000" dirty="0" smtClean="0"/>
              <a:t>支持</a:t>
            </a:r>
            <a:r>
              <a:rPr lang="zh-CN" altLang="en-US" sz="2000" dirty="0"/>
              <a:t>对学习效果的评估以改进课程</a:t>
            </a:r>
            <a:r>
              <a:rPr lang="en-US" altLang="zh-CN" sz="2000" dirty="0"/>
              <a:t>/</a:t>
            </a:r>
            <a:r>
              <a:rPr lang="zh-CN" altLang="en-US" sz="2000" dirty="0"/>
              <a:t>课程</a:t>
            </a:r>
            <a:r>
              <a:rPr lang="zh-CN" altLang="en-US" sz="2000" dirty="0" smtClean="0"/>
              <a:t>体系</a:t>
            </a:r>
            <a:endParaRPr lang="en-US" altLang="zh-CN" sz="2000" dirty="0" smtClean="0"/>
          </a:p>
          <a:p>
            <a:pPr lvl="1"/>
            <a:r>
              <a:rPr lang="zh-CN" altLang="en-US" sz="2000" dirty="0"/>
              <a:t>存储教师相关信息</a:t>
            </a:r>
          </a:p>
          <a:p>
            <a:pPr lvl="1"/>
            <a:r>
              <a:rPr lang="zh-CN" altLang="en-US" sz="2000" dirty="0" smtClean="0"/>
              <a:t>提供</a:t>
            </a:r>
            <a:r>
              <a:rPr lang="zh-CN" altLang="en-US" sz="2000" dirty="0"/>
              <a:t>对教师</a:t>
            </a:r>
            <a:r>
              <a:rPr lang="en-US" altLang="zh-CN" sz="2000" dirty="0"/>
              <a:t>/</a:t>
            </a:r>
            <a:r>
              <a:rPr lang="zh-CN" altLang="en-US" sz="2000" dirty="0"/>
              <a:t>课程的评估</a:t>
            </a:r>
          </a:p>
          <a:p>
            <a:pPr lvl="1"/>
            <a:r>
              <a:rPr lang="zh-CN" altLang="en-US" sz="2000" dirty="0" smtClean="0"/>
              <a:t>存储</a:t>
            </a:r>
            <a:r>
              <a:rPr lang="zh-CN" altLang="en-US" sz="2000" dirty="0"/>
              <a:t>学校资产和设置信息</a:t>
            </a:r>
          </a:p>
          <a:p>
            <a:pPr lvl="1"/>
            <a:r>
              <a:rPr lang="zh-CN" altLang="en-US" sz="2000" dirty="0" smtClean="0"/>
              <a:t>完成</a:t>
            </a:r>
            <a:r>
              <a:rPr lang="zh-CN" altLang="en-US" sz="2000" dirty="0"/>
              <a:t>教育部门高层次的</a:t>
            </a:r>
            <a:r>
              <a:rPr lang="zh-CN" altLang="en-US" sz="2000" dirty="0" smtClean="0"/>
              <a:t>决策分析</a:t>
            </a:r>
            <a:endParaRPr lang="en-US" altLang="zh-CN" sz="2000" dirty="0" smtClean="0"/>
          </a:p>
          <a:p>
            <a:pPr lvl="1"/>
            <a:r>
              <a:rPr lang="zh-CN" altLang="en-US" sz="2000" dirty="0" smtClean="0"/>
              <a:t>为</a:t>
            </a:r>
            <a:r>
              <a:rPr lang="zh-CN" altLang="en-US" sz="2000" dirty="0"/>
              <a:t>其他利益相关方提供接口，例如工业界、潜在的雇主公司、合作教育机构、后续教育机构等</a:t>
            </a:r>
          </a:p>
        </p:txBody>
      </p:sp>
    </p:spTree>
    <p:extLst>
      <p:ext uri="{BB962C8B-B14F-4D97-AF65-F5344CB8AC3E}">
        <p14:creationId xmlns:p14="http://schemas.microsoft.com/office/powerpoint/2010/main" val="34591458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121300" cy="576262"/>
          </a:xfrm>
        </p:spPr>
        <p:txBody>
          <a:bodyPr/>
          <a:lstStyle/>
          <a:p>
            <a:r>
              <a:rPr lang="zh-CN" altLang="en-US" dirty="0" smtClean="0"/>
              <a:t>基于区块链的高等教育学分平台</a:t>
            </a:r>
            <a:endParaRPr lang="zh-CN" altLang="en-US" dirty="0"/>
          </a:p>
        </p:txBody>
      </p:sp>
      <p:sp>
        <p:nvSpPr>
          <p:cNvPr id="3" name="内容占位符 2"/>
          <p:cNvSpPr>
            <a:spLocks noGrp="1"/>
          </p:cNvSpPr>
          <p:nvPr>
            <p:ph idx="1"/>
          </p:nvPr>
        </p:nvSpPr>
        <p:spPr/>
        <p:txBody>
          <a:bodyPr/>
          <a:lstStyle/>
          <a:p>
            <a:r>
              <a:rPr lang="zh-CN" altLang="en-US" dirty="0"/>
              <a:t>具有跨国家不同管理域全球化需求的教育网区块链应用，往往采用联盟链类型的区块链网络，这是因为全球化情况下，不可能建立由一个机构管理的私有链网络，而教育网应用背景下，教育机构和学习者、雇主等其他用户地位并不相同，因此联盟链比较合适</a:t>
            </a:r>
            <a:r>
              <a:rPr lang="zh-CN" altLang="en-US" dirty="0" smtClean="0"/>
              <a:t>。</a:t>
            </a:r>
            <a:endParaRPr lang="en-US" altLang="zh-CN" dirty="0" smtClean="0"/>
          </a:p>
          <a:p>
            <a:endParaRPr lang="zh-CN" altLang="en-US" dirty="0"/>
          </a:p>
          <a:p>
            <a:r>
              <a:rPr lang="zh-CN" altLang="en-US" dirty="0"/>
              <a:t>欧洲学分转换和累积系统</a:t>
            </a:r>
            <a:r>
              <a:rPr lang="en-US" altLang="zh-CN" dirty="0"/>
              <a:t>EDUCTX</a:t>
            </a:r>
            <a:r>
              <a:rPr lang="zh-CN" altLang="en-US" dirty="0"/>
              <a:t>平台是这方面</a:t>
            </a:r>
            <a:r>
              <a:rPr lang="zh-CN" altLang="en-US" dirty="0" smtClean="0"/>
              <a:t>目前较为</a:t>
            </a:r>
            <a:r>
              <a:rPr lang="zh-CN" altLang="en-US" dirty="0"/>
              <a:t>典型和成功的案例</a:t>
            </a:r>
          </a:p>
          <a:p>
            <a:endParaRPr lang="zh-CN" altLang="en-US" dirty="0"/>
          </a:p>
        </p:txBody>
      </p:sp>
    </p:spTree>
    <p:extLst>
      <p:ext uri="{BB962C8B-B14F-4D97-AF65-F5344CB8AC3E}">
        <p14:creationId xmlns:p14="http://schemas.microsoft.com/office/powerpoint/2010/main" val="1125089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841380" cy="576262"/>
          </a:xfrm>
        </p:spPr>
        <p:txBody>
          <a:bodyPr/>
          <a:lstStyle/>
          <a:p>
            <a:r>
              <a:rPr lang="zh-CN" altLang="en-US" dirty="0"/>
              <a:t>基于区块链的高等教育学分平台</a:t>
            </a:r>
          </a:p>
        </p:txBody>
      </p:sp>
      <p:sp>
        <p:nvSpPr>
          <p:cNvPr id="3" name="内容占位符 2"/>
          <p:cNvSpPr>
            <a:spLocks noGrp="1"/>
          </p:cNvSpPr>
          <p:nvPr>
            <p:ph idx="1"/>
          </p:nvPr>
        </p:nvSpPr>
        <p:spPr/>
        <p:txBody>
          <a:bodyPr/>
          <a:lstStyle/>
          <a:p>
            <a:r>
              <a:rPr lang="zh-CN" altLang="en-US" dirty="0" smtClean="0"/>
              <a:t>系统结构</a:t>
            </a:r>
            <a:endParaRPr lang="zh-CN" altLang="en-US" dirty="0"/>
          </a:p>
        </p:txBody>
      </p:sp>
      <p:pic>
        <p:nvPicPr>
          <p:cNvPr id="5" name="图片 4"/>
          <p:cNvPicPr>
            <a:picLocks noChangeAspect="1"/>
          </p:cNvPicPr>
          <p:nvPr/>
        </p:nvPicPr>
        <p:blipFill>
          <a:blip r:embed="rId2"/>
          <a:stretch>
            <a:fillRect/>
          </a:stretch>
        </p:blipFill>
        <p:spPr>
          <a:xfrm>
            <a:off x="3131840" y="1485274"/>
            <a:ext cx="4343400" cy="5095875"/>
          </a:xfrm>
          <a:prstGeom prst="rect">
            <a:avLst/>
          </a:prstGeom>
        </p:spPr>
      </p:pic>
    </p:spTree>
    <p:extLst>
      <p:ext uri="{BB962C8B-B14F-4D97-AF65-F5344CB8AC3E}">
        <p14:creationId xmlns:p14="http://schemas.microsoft.com/office/powerpoint/2010/main" val="3776765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409332" cy="576262"/>
          </a:xfrm>
        </p:spPr>
        <p:txBody>
          <a:bodyPr/>
          <a:lstStyle/>
          <a:p>
            <a:r>
              <a:rPr lang="zh-CN" altLang="en-US" dirty="0" smtClean="0"/>
              <a:t>基于区块链的学生电子档案管理</a:t>
            </a:r>
            <a:endParaRPr lang="zh-CN" altLang="en-US" dirty="0"/>
          </a:p>
        </p:txBody>
      </p:sp>
      <p:sp>
        <p:nvSpPr>
          <p:cNvPr id="3" name="内容占位符 2"/>
          <p:cNvSpPr>
            <a:spLocks noGrp="1"/>
          </p:cNvSpPr>
          <p:nvPr>
            <p:ph idx="1"/>
          </p:nvPr>
        </p:nvSpPr>
        <p:spPr/>
        <p:txBody>
          <a:bodyPr/>
          <a:lstStyle/>
          <a:p>
            <a:r>
              <a:rPr lang="zh-CN" altLang="en-US" dirty="0" smtClean="0"/>
              <a:t>系统结构</a:t>
            </a:r>
            <a:endParaRPr lang="zh-CN" altLang="en-US" dirty="0"/>
          </a:p>
        </p:txBody>
      </p:sp>
      <p:pic>
        <p:nvPicPr>
          <p:cNvPr id="4" name="图片 3"/>
          <p:cNvPicPr>
            <a:picLocks noChangeAspect="1"/>
          </p:cNvPicPr>
          <p:nvPr/>
        </p:nvPicPr>
        <p:blipFill>
          <a:blip r:embed="rId2"/>
          <a:stretch>
            <a:fillRect/>
          </a:stretch>
        </p:blipFill>
        <p:spPr>
          <a:xfrm>
            <a:off x="2627784" y="2070096"/>
            <a:ext cx="4417810" cy="4306906"/>
          </a:xfrm>
          <a:prstGeom prst="rect">
            <a:avLst/>
          </a:prstGeom>
        </p:spPr>
      </p:pic>
    </p:spTree>
    <p:extLst>
      <p:ext uri="{BB962C8B-B14F-4D97-AF65-F5344CB8AC3E}">
        <p14:creationId xmlns:p14="http://schemas.microsoft.com/office/powerpoint/2010/main" val="2106638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337324" cy="576262"/>
          </a:xfrm>
        </p:spPr>
        <p:txBody>
          <a:bodyPr/>
          <a:lstStyle/>
          <a:p>
            <a:r>
              <a:rPr lang="zh-CN" altLang="en-US" dirty="0"/>
              <a:t>基于区块链的学生电子档案管理</a:t>
            </a:r>
          </a:p>
        </p:txBody>
      </p:sp>
      <p:sp>
        <p:nvSpPr>
          <p:cNvPr id="3" name="内容占位符 2"/>
          <p:cNvSpPr>
            <a:spLocks noGrp="1"/>
          </p:cNvSpPr>
          <p:nvPr>
            <p:ph idx="1"/>
          </p:nvPr>
        </p:nvSpPr>
        <p:spPr/>
        <p:txBody>
          <a:bodyPr/>
          <a:lstStyle/>
          <a:p>
            <a:r>
              <a:rPr lang="zh-CN" altLang="en-US" dirty="0" smtClean="0"/>
              <a:t>数据层对学生的学习和成长过程建模；</a:t>
            </a:r>
            <a:endParaRPr lang="en-US" altLang="zh-CN" dirty="0" smtClean="0"/>
          </a:p>
          <a:p>
            <a:endParaRPr lang="en-US" altLang="zh-CN" dirty="0" smtClean="0"/>
          </a:p>
          <a:p>
            <a:r>
              <a:rPr lang="zh-CN" altLang="en-US" dirty="0"/>
              <a:t>区</a:t>
            </a:r>
            <a:r>
              <a:rPr lang="zh-CN" altLang="en-US" dirty="0" smtClean="0"/>
              <a:t>块链网络层实现接受交易、保存和提取数据；</a:t>
            </a:r>
            <a:endParaRPr lang="en-US" altLang="zh-CN" dirty="0"/>
          </a:p>
          <a:p>
            <a:endParaRPr lang="en-US" altLang="zh-CN" dirty="0" smtClean="0"/>
          </a:p>
          <a:p>
            <a:r>
              <a:rPr lang="zh-CN" altLang="en-US" dirty="0" smtClean="0"/>
              <a:t>链码层基于</a:t>
            </a:r>
            <a:r>
              <a:rPr lang="en-US" altLang="zh-CN" dirty="0" err="1" smtClean="0"/>
              <a:t>Hyperledger</a:t>
            </a:r>
            <a:r>
              <a:rPr lang="en-US" altLang="zh-CN" dirty="0" smtClean="0"/>
              <a:t> Composer</a:t>
            </a:r>
            <a:r>
              <a:rPr lang="zh-CN" altLang="en-US" dirty="0" smtClean="0"/>
              <a:t>框架开发实现电子档案管理的业务逻辑的智能合约；</a:t>
            </a:r>
            <a:endParaRPr lang="en-US" altLang="zh-CN" dirty="0" smtClean="0"/>
          </a:p>
          <a:p>
            <a:endParaRPr lang="en-US" altLang="zh-CN" dirty="0"/>
          </a:p>
          <a:p>
            <a:r>
              <a:rPr lang="zh-CN" altLang="en-US" dirty="0" smtClean="0"/>
              <a:t>应用层为学生和教室提供友好的使用接口；</a:t>
            </a:r>
            <a:endParaRPr lang="zh-CN" altLang="en-US" dirty="0"/>
          </a:p>
        </p:txBody>
      </p:sp>
    </p:spTree>
    <p:extLst>
      <p:ext uri="{BB962C8B-B14F-4D97-AF65-F5344CB8AC3E}">
        <p14:creationId xmlns:p14="http://schemas.microsoft.com/office/powerpoint/2010/main" val="2856316510"/>
      </p:ext>
    </p:extLst>
  </p:cSld>
  <p:clrMapOvr>
    <a:masterClrMapping/>
  </p:clrMapOvr>
</p:sld>
</file>

<file path=ppt/theme/theme1.xml><?xml version="1.0" encoding="utf-8"?>
<a:theme xmlns:a="http://schemas.openxmlformats.org/drawingml/2006/main" name="nju">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2章 信息安全体系结构.pptx" id="{2A91B836-FFFD-4C9D-ACEB-12964C45F731}" vid="{3FEFB23B-0341-4517-8F01-752859B552F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朴素模板</Template>
  <TotalTime>2413</TotalTime>
  <Words>2249</Words>
  <Application>Microsoft Office PowerPoint</Application>
  <PresentationFormat>全屏显示(4:3)</PresentationFormat>
  <Paragraphs>234</Paragraphs>
  <Slides>35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35</vt:i4>
      </vt:variant>
    </vt:vector>
  </HeadingPairs>
  <TitlesOfParts>
    <vt:vector size="42" baseType="lpstr">
      <vt:lpstr>楷体</vt:lpstr>
      <vt:lpstr>宋体</vt:lpstr>
      <vt:lpstr>Arial</vt:lpstr>
      <vt:lpstr>Calibri</vt:lpstr>
      <vt:lpstr>Times New Roman</vt:lpstr>
      <vt:lpstr>Wingdings</vt:lpstr>
      <vt:lpstr>nju</vt:lpstr>
      <vt:lpstr>区块链技术的行业应用</vt:lpstr>
      <vt:lpstr>区块链应用的三个层级</vt:lpstr>
      <vt:lpstr>区块链1.0--数字货币</vt:lpstr>
      <vt:lpstr>区块链2.0—智能合约</vt:lpstr>
      <vt:lpstr>区块链分类总结</vt:lpstr>
      <vt:lpstr>区块链典型运用场景</vt:lpstr>
      <vt:lpstr>去中心化应用</vt:lpstr>
      <vt:lpstr>去中心化应用</vt:lpstr>
      <vt:lpstr>DAPP的结构</vt:lpstr>
      <vt:lpstr>去中心化应用</vt:lpstr>
      <vt:lpstr>一个实际DAPP的案例</vt:lpstr>
      <vt:lpstr>区块链特点与能力</vt:lpstr>
      <vt:lpstr>基于区块链技术的DAPP行业应用</vt:lpstr>
      <vt:lpstr>金融领域的应用</vt:lpstr>
      <vt:lpstr>基于区块链技术的众筹平台</vt:lpstr>
      <vt:lpstr>基于区块链技术的众筹平台</vt:lpstr>
      <vt:lpstr>基于区块链技术的众筹平台</vt:lpstr>
      <vt:lpstr>典型案例——众筹智能合约设计</vt:lpstr>
      <vt:lpstr>众筹合约算法</vt:lpstr>
      <vt:lpstr>众筹合约的投资过程算法</vt:lpstr>
      <vt:lpstr>能源领域的应用</vt:lpstr>
      <vt:lpstr>能源领域的应用</vt:lpstr>
      <vt:lpstr>能源领域的应用</vt:lpstr>
      <vt:lpstr>能源领域的应用</vt:lpstr>
      <vt:lpstr>基于联盟链的去中心化能源交易系统</vt:lpstr>
      <vt:lpstr>基于联盟链的去中心化能源交易系统</vt:lpstr>
      <vt:lpstr>基于联盟链的去中心化能源交易系统</vt:lpstr>
      <vt:lpstr>基于联盟链的去中心化能源交易系统</vt:lpstr>
      <vt:lpstr>基于联盟链的去中心化能源交易系统</vt:lpstr>
      <vt:lpstr>教育领域的应用</vt:lpstr>
      <vt:lpstr>教育领域的应用</vt:lpstr>
      <vt:lpstr>基于区块链的高等教育学分平台</vt:lpstr>
      <vt:lpstr>基于区块链的高等教育学分平台</vt:lpstr>
      <vt:lpstr>基于区块链的学生电子档案管理</vt:lpstr>
      <vt:lpstr>基于区块链的学生电子档案管理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大学计算机信息技术</dc:title>
  <dc:creator>Hp</dc:creator>
  <cp:lastModifiedBy>dell</cp:lastModifiedBy>
  <cp:revision>463</cp:revision>
  <dcterms:created xsi:type="dcterms:W3CDTF">2013-09-23T10:22:11Z</dcterms:created>
  <dcterms:modified xsi:type="dcterms:W3CDTF">2021-04-29T07:38:32Z</dcterms:modified>
</cp:coreProperties>
</file>