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</p:sldMasterIdLst>
  <p:notesMasterIdLst>
    <p:notesMasterId r:id="rId39"/>
  </p:notesMasterIdLst>
  <p:sldIdLst>
    <p:sldId id="395" r:id="rId2"/>
    <p:sldId id="403" r:id="rId3"/>
    <p:sldId id="408" r:id="rId4"/>
    <p:sldId id="429" r:id="rId5"/>
    <p:sldId id="435" r:id="rId6"/>
    <p:sldId id="436" r:id="rId7"/>
    <p:sldId id="437" r:id="rId8"/>
    <p:sldId id="407" r:id="rId9"/>
    <p:sldId id="411" r:id="rId10"/>
    <p:sldId id="440" r:id="rId11"/>
    <p:sldId id="405" r:id="rId12"/>
    <p:sldId id="406" r:id="rId13"/>
    <p:sldId id="412" r:id="rId14"/>
    <p:sldId id="413" r:id="rId15"/>
    <p:sldId id="414" r:id="rId16"/>
    <p:sldId id="415" r:id="rId17"/>
    <p:sldId id="416" r:id="rId18"/>
    <p:sldId id="418" r:id="rId19"/>
    <p:sldId id="419" r:id="rId20"/>
    <p:sldId id="420" r:id="rId21"/>
    <p:sldId id="421" r:id="rId22"/>
    <p:sldId id="422" r:id="rId23"/>
    <p:sldId id="423" r:id="rId24"/>
    <p:sldId id="417" r:id="rId25"/>
    <p:sldId id="424" r:id="rId26"/>
    <p:sldId id="425" r:id="rId27"/>
    <p:sldId id="426" r:id="rId28"/>
    <p:sldId id="427" r:id="rId29"/>
    <p:sldId id="428" r:id="rId30"/>
    <p:sldId id="430" r:id="rId31"/>
    <p:sldId id="431" r:id="rId32"/>
    <p:sldId id="432" r:id="rId33"/>
    <p:sldId id="433" r:id="rId34"/>
    <p:sldId id="434" r:id="rId35"/>
    <p:sldId id="438" r:id="rId36"/>
    <p:sldId id="439" r:id="rId37"/>
    <p:sldId id="410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3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977AA7-57E9-4A56-AFE1-34A5A5DC790A}" type="datetimeFigureOut">
              <a:rPr lang="zh-CN" altLang="en-US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4121CE6-E712-413E-ACD8-955771AA458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70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84913"/>
            <a:ext cx="129381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38E57-93F9-4D16-9D65-7B0414EDCF8F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202363"/>
            <a:ext cx="5113337" cy="539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48130-33E5-4651-8CB0-053FFE4C99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4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36114-4B0D-48F2-AFFD-DD492E28E8B1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9C164-7C40-4743-A1D0-60CDBD9780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1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F954-ED4F-4BB5-81E4-369170938DD6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6FC0A-5A87-4514-96BC-E02BA09E53F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1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B7F95-78A0-4EB8-A841-36370DAECFC3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25C4B-1503-4E05-91D6-4EAE80571F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1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30273-FB3F-4409-B68D-27AC6E41ADBA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D7FE8-9F4A-4FCC-9904-F8AD160DF5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66980-E121-4D27-8E64-7E45764D8807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2B6336-A0FB-4BAE-AFC2-E4641F2915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5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D6303-86B8-435D-9CDF-1D9D86A9AD6C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C6FD49-9006-4ACC-B270-EC04A2D917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EF59-9DF9-4BC2-9D2C-8C5C0BAE01A8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6C489-D1FB-4028-9879-44C39A67CF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70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582AB-7697-423A-8094-EDFC4FB6F069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00C18-A1A9-4C03-9462-5B70A010C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35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01C4D-A13F-4CBF-A93F-917A0BB25796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D0368-030E-4470-9CC0-A8539E28CC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60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5B808-DAE2-490F-9DA8-6B1F02696318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6C2C6C-AFC8-4EC7-BA35-3E0EA0828F2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91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486B6-4D75-475D-A2BA-381A4D02304A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680A7-0A96-4F61-9ECD-6D8EEA3CDDB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275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4863" y="1484313"/>
            <a:ext cx="3995737" cy="2119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4863" y="3756025"/>
            <a:ext cx="3995737" cy="21209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121C5-8A82-461F-9C43-B895C2BB9631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7A25D-A7AB-4FD5-BCD7-8D09FECE40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86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484313"/>
            <a:ext cx="8142287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47007-5084-4A4B-96D7-4CA561231CE2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8F181F-B538-4183-9F44-79237E3859D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6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8C693853-0C9D-41EA-8BCF-EF3ACA4223C9}" type="datetimeFigureOut">
              <a:rPr lang="zh-CN" altLang="en-US" smtClean="0"/>
              <a:pPr>
                <a:defRPr/>
              </a:pPr>
              <a:t>2021/5/13</a:t>
            </a:fld>
            <a:endParaRPr lang="zh-CN" altLang="en-US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/>
            </a:lvl1pPr>
          </a:lstStyle>
          <a:p>
            <a:fld id="{40102EC4-04E9-4BDC-BD4F-A88C8CF733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22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楷体" pitchFamily="49" charset="-122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400">
          <a:solidFill>
            <a:schemeClr val="tx1"/>
          </a:solidFill>
          <a:latin typeface="+mn-lt"/>
          <a:ea typeface="楷体" pitchFamily="49" charset="-122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楷体" pitchFamily="49" charset="-122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楷体" pitchFamily="49" charset="-122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楷体" pitchFamily="49" charset="-122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SOLIDITY</a:t>
            </a:r>
            <a:r>
              <a:rPr lang="zh-CN" altLang="en-US" dirty="0"/>
              <a:t>语言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SOLIDITY</a:t>
            </a:r>
            <a:r>
              <a:rPr lang="zh-CN" altLang="en-US" dirty="0"/>
              <a:t>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编译版本控制</a:t>
            </a:r>
            <a:endParaRPr lang="en-US" altLang="zh-CN" dirty="0" smtClean="0"/>
          </a:p>
          <a:p>
            <a:pPr lvl="1"/>
            <a:r>
              <a:rPr lang="zh-CN" altLang="en-US" dirty="0"/>
              <a:t>为了避免未来被可能引入不兼容变更的编译器所编译，所有的 </a:t>
            </a:r>
            <a:r>
              <a:rPr lang="en-US" altLang="zh-CN" dirty="0"/>
              <a:t>solidity </a:t>
            </a:r>
            <a:r>
              <a:rPr lang="zh-CN" altLang="en-US" dirty="0"/>
              <a:t>源码前面必须标明编译器</a:t>
            </a:r>
            <a:r>
              <a:rPr lang="zh-CN" altLang="en-US" dirty="0" smtClean="0"/>
              <a:t>版本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pragma </a:t>
            </a:r>
            <a:r>
              <a:rPr lang="en-US" altLang="zh-CN" dirty="0"/>
              <a:t>solidity </a:t>
            </a:r>
            <a:r>
              <a:rPr lang="en-US" altLang="zh-CN" dirty="0" smtClean="0"/>
              <a:t>^</a:t>
            </a:r>
            <a:r>
              <a:rPr lang="zh-CN" altLang="en-US" dirty="0" smtClean="0"/>
              <a:t>版本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lvl="2"/>
            <a:r>
              <a:rPr lang="en-US" altLang="zh-CN" dirty="0" smtClean="0"/>
              <a:t>pragma </a:t>
            </a:r>
            <a:r>
              <a:rPr lang="en-US" altLang="zh-CN" dirty="0"/>
              <a:t>solidity ^</a:t>
            </a:r>
            <a:r>
              <a:rPr lang="en-US" altLang="zh-CN" dirty="0" smtClean="0"/>
              <a:t>0.4.16</a:t>
            </a:r>
            <a:r>
              <a:rPr lang="zh-CN" altLang="en-US" dirty="0"/>
              <a:t>表示源文件不允许被</a:t>
            </a:r>
            <a:r>
              <a:rPr lang="en-US" altLang="zh-CN" dirty="0"/>
              <a:t>0.4.16</a:t>
            </a:r>
            <a:r>
              <a:rPr lang="zh-CN" altLang="en-US" dirty="0"/>
              <a:t>以下，以及大于等于</a:t>
            </a:r>
            <a:r>
              <a:rPr lang="en-US" altLang="zh-CN" dirty="0"/>
              <a:t>0.5.0</a:t>
            </a:r>
            <a:r>
              <a:rPr lang="zh-CN" altLang="en-US" dirty="0"/>
              <a:t>版本的编译器所</a:t>
            </a:r>
            <a:r>
              <a:rPr lang="zh-CN" altLang="en-US" dirty="0" smtClean="0"/>
              <a:t>编译；</a:t>
            </a:r>
            <a:endParaRPr lang="en-US" altLang="zh-CN" dirty="0" smtClean="0"/>
          </a:p>
          <a:p>
            <a:r>
              <a:rPr lang="zh-CN" altLang="en-US" dirty="0" smtClean="0"/>
              <a:t>注释</a:t>
            </a:r>
            <a:endParaRPr lang="en-US" altLang="zh-CN" dirty="0" smtClean="0"/>
          </a:p>
          <a:p>
            <a:pPr lvl="1"/>
            <a:r>
              <a:rPr lang="en-US" altLang="zh-CN" dirty="0"/>
              <a:t>// </a:t>
            </a:r>
            <a:r>
              <a:rPr lang="zh-CN" altLang="en-US" dirty="0"/>
              <a:t>这是一个单行注释。</a:t>
            </a:r>
          </a:p>
          <a:p>
            <a:pPr lvl="1"/>
            <a:r>
              <a:rPr lang="en-US" altLang="zh-CN" dirty="0" smtClean="0"/>
              <a:t>/*</a:t>
            </a:r>
            <a:endParaRPr lang="en-US" altLang="zh-CN" dirty="0"/>
          </a:p>
          <a:p>
            <a:pPr lvl="1"/>
            <a:r>
              <a:rPr lang="zh-CN" altLang="en-US" dirty="0"/>
              <a:t>这是一个</a:t>
            </a:r>
          </a:p>
          <a:p>
            <a:pPr lvl="1"/>
            <a:r>
              <a:rPr lang="zh-CN" altLang="en-US" dirty="0"/>
              <a:t>多行注释。</a:t>
            </a:r>
          </a:p>
          <a:p>
            <a:pPr lvl="1"/>
            <a:r>
              <a:rPr lang="zh-CN" altLang="en-US" dirty="0"/>
              <a:t>*</a:t>
            </a:r>
            <a:r>
              <a:rPr lang="en-US" altLang="zh-CN" dirty="0"/>
              <a:t>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07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SOLIDITY</a:t>
            </a:r>
            <a:r>
              <a:rPr lang="zh-CN" altLang="en-US" dirty="0"/>
              <a:t>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导入其他</a:t>
            </a:r>
            <a:r>
              <a:rPr lang="zh-CN" altLang="en-US" dirty="0" smtClean="0"/>
              <a:t>源文件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import </a:t>
            </a:r>
            <a:r>
              <a:rPr lang="en-US" altLang="zh-CN" dirty="0"/>
              <a:t>"filename";</a:t>
            </a:r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从 </a:t>
            </a:r>
            <a:r>
              <a:rPr lang="zh-CN" altLang="en-US" dirty="0"/>
              <a:t>“</a:t>
            </a:r>
            <a:r>
              <a:rPr lang="en-US" altLang="zh-CN" dirty="0"/>
              <a:t>filename” </a:t>
            </a:r>
            <a:r>
              <a:rPr lang="zh-CN" altLang="en-US" dirty="0"/>
              <a:t>中导入所有的全局符号到当前全局作用域中</a:t>
            </a:r>
          </a:p>
        </p:txBody>
      </p:sp>
    </p:spTree>
    <p:extLst>
      <p:ext uri="{BB962C8B-B14F-4D97-AF65-F5344CB8AC3E}">
        <p14:creationId xmlns:p14="http://schemas.microsoft.com/office/powerpoint/2010/main" val="262013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Solidity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3" cy="5472261"/>
          </a:xfrm>
        </p:spPr>
        <p:txBody>
          <a:bodyPr/>
          <a:lstStyle/>
          <a:p>
            <a:r>
              <a:rPr lang="en-US" altLang="zh-CN" sz="2400" dirty="0"/>
              <a:t>solidity</a:t>
            </a:r>
            <a:r>
              <a:rPr lang="zh-CN" altLang="en-US" sz="2400" dirty="0"/>
              <a:t>是静态类型语言，所有变量需要有定义声明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/>
            <a:r>
              <a:rPr lang="zh-CN" altLang="en-US" sz="2000" dirty="0"/>
              <a:t>整数</a:t>
            </a:r>
            <a:r>
              <a:rPr lang="zh-CN" altLang="en-US" sz="2000" dirty="0" smtClean="0"/>
              <a:t>类型</a:t>
            </a:r>
            <a:endParaRPr lang="en-US" altLang="zh-CN" sz="2000" dirty="0" smtClean="0"/>
          </a:p>
          <a:p>
            <a:pPr lvl="2"/>
            <a:r>
              <a:rPr lang="en-US" altLang="zh-CN" sz="1800" dirty="0" smtClean="0"/>
              <a:t>uint8</a:t>
            </a:r>
            <a:r>
              <a:rPr lang="en-US" altLang="zh-CN" sz="1800" dirty="0"/>
              <a:t>, uint16, </a:t>
            </a:r>
            <a:r>
              <a:rPr lang="en-US" altLang="zh-CN" sz="1800" dirty="0" smtClean="0"/>
              <a:t>... , uint256</a:t>
            </a:r>
          </a:p>
          <a:p>
            <a:pPr lvl="2"/>
            <a:r>
              <a:rPr lang="en-US" altLang="zh-CN" sz="1800" dirty="0" smtClean="0"/>
              <a:t>int8</a:t>
            </a:r>
            <a:r>
              <a:rPr lang="en-US" altLang="zh-CN" sz="1800" dirty="0"/>
              <a:t>, </a:t>
            </a:r>
            <a:r>
              <a:rPr lang="en-US" altLang="zh-CN" sz="1800" dirty="0" smtClean="0"/>
              <a:t>int16</a:t>
            </a:r>
            <a:r>
              <a:rPr lang="en-US" altLang="zh-CN" sz="1800" dirty="0"/>
              <a:t> , ... , </a:t>
            </a:r>
            <a:r>
              <a:rPr lang="en-US" altLang="zh-CN" sz="1800" dirty="0" smtClean="0"/>
              <a:t>int256</a:t>
            </a:r>
          </a:p>
          <a:p>
            <a:pPr lvl="1"/>
            <a:r>
              <a:rPr lang="zh-CN" altLang="en-US" sz="2000" dirty="0"/>
              <a:t>布尔</a:t>
            </a:r>
            <a:r>
              <a:rPr lang="zh-CN" altLang="en-US" sz="2000" dirty="0" smtClean="0"/>
              <a:t>类型：</a:t>
            </a:r>
            <a:r>
              <a:rPr lang="en-US" altLang="zh-CN" sz="2000" dirty="0" err="1"/>
              <a:t>bool</a:t>
            </a:r>
            <a:r>
              <a:rPr lang="en-US" altLang="zh-CN" sz="2000" dirty="0"/>
              <a:t> </a:t>
            </a:r>
            <a:r>
              <a:rPr lang="en-US" altLang="zh-CN" sz="2000" dirty="0" err="1" smtClean="0"/>
              <a:t>initBool</a:t>
            </a:r>
            <a:r>
              <a:rPr lang="en-US" altLang="zh-CN" sz="2000" dirty="0" smtClean="0"/>
              <a:t>=true</a:t>
            </a:r>
            <a:r>
              <a:rPr lang="en-US" altLang="zh-CN" sz="2000" dirty="0"/>
              <a:t>;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字符串类型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lvl="2"/>
            <a:r>
              <a:rPr lang="en-US" altLang="zh-CN" sz="1800" dirty="0" smtClean="0"/>
              <a:t>string </a:t>
            </a:r>
            <a:r>
              <a:rPr lang="en-US" altLang="zh-CN" sz="1800" dirty="0" err="1"/>
              <a:t>myString</a:t>
            </a:r>
            <a:r>
              <a:rPr lang="en-US" altLang="zh-CN" sz="1800" dirty="0"/>
              <a:t> = </a:t>
            </a:r>
            <a:r>
              <a:rPr lang="en-US" altLang="zh-CN" sz="1800" dirty="0" smtClean="0"/>
              <a:t>“</a:t>
            </a:r>
            <a:r>
              <a:rPr lang="en-US" altLang="zh-CN" sz="1800" dirty="0" err="1" smtClean="0"/>
              <a:t>hello,world</a:t>
            </a:r>
            <a:r>
              <a:rPr lang="zh-CN" altLang="en-US" sz="1800" dirty="0" smtClean="0"/>
              <a:t>！</a:t>
            </a:r>
            <a:r>
              <a:rPr lang="en-US" altLang="zh-CN" sz="1800" dirty="0" smtClean="0"/>
              <a:t>”;</a:t>
            </a:r>
          </a:p>
          <a:p>
            <a:pPr lvl="2"/>
            <a:r>
              <a:rPr lang="en-US" altLang="zh-CN" sz="1800" dirty="0"/>
              <a:t>bytes1</a:t>
            </a:r>
            <a:r>
              <a:rPr lang="zh-CN" altLang="en-US" sz="1800" dirty="0"/>
              <a:t>，</a:t>
            </a:r>
            <a:r>
              <a:rPr lang="en-US" altLang="zh-CN" sz="1800" dirty="0"/>
              <a:t>……</a:t>
            </a:r>
            <a:r>
              <a:rPr lang="zh-CN" altLang="en-US" sz="1800" dirty="0"/>
              <a:t>，</a:t>
            </a:r>
            <a:r>
              <a:rPr lang="en-US" altLang="zh-CN" sz="1800" dirty="0"/>
              <a:t>bytes32</a:t>
            </a:r>
            <a:endParaRPr lang="en-US" altLang="zh-CN" sz="1800" dirty="0" smtClean="0"/>
          </a:p>
          <a:p>
            <a:pPr lvl="1"/>
            <a:r>
              <a:rPr lang="zh-CN" altLang="en-US" sz="2000" dirty="0" smtClean="0"/>
              <a:t>枚举类型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结构类型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数组</a:t>
            </a:r>
            <a:endParaRPr lang="en-US" altLang="zh-CN" sz="2000" dirty="0" smtClean="0"/>
          </a:p>
          <a:p>
            <a:pPr lvl="2"/>
            <a:r>
              <a:rPr lang="zh-CN" altLang="en-US" sz="1800" dirty="0" smtClean="0"/>
              <a:t>固定数组：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[5] a;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动态数组：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[]b</a:t>
            </a:r>
            <a:r>
              <a:rPr lang="en-US" altLang="zh-CN" sz="1800" dirty="0" smtClean="0"/>
              <a:t>;</a:t>
            </a:r>
          </a:p>
          <a:p>
            <a:pPr lvl="1"/>
            <a:r>
              <a:rPr lang="zh-CN" altLang="en-US" sz="2000" dirty="0" smtClean="0"/>
              <a:t>地址类型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mapping</a:t>
            </a:r>
            <a:r>
              <a:rPr lang="zh-CN" altLang="en-US" sz="2000" dirty="0" smtClean="0"/>
              <a:t>类型</a:t>
            </a:r>
            <a:endParaRPr lang="en-US" altLang="zh-CN" sz="2000" dirty="0" smtClean="0"/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0312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Solidity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比较运算符： </a:t>
            </a:r>
            <a:r>
              <a:rPr lang="en-US" altLang="zh-CN" dirty="0"/>
              <a:t>&lt;= </a:t>
            </a:r>
            <a:r>
              <a:rPr lang="zh-CN" altLang="en-US" dirty="0"/>
              <a:t>， </a:t>
            </a:r>
            <a:r>
              <a:rPr lang="en-US" altLang="zh-CN" dirty="0"/>
              <a:t>&lt; </a:t>
            </a:r>
            <a:r>
              <a:rPr lang="zh-CN" altLang="en-US" dirty="0"/>
              <a:t>， </a:t>
            </a:r>
            <a:r>
              <a:rPr lang="en-US" altLang="zh-CN" dirty="0"/>
              <a:t>== </a:t>
            </a:r>
            <a:r>
              <a:rPr lang="zh-CN" altLang="en-US" dirty="0"/>
              <a:t>， </a:t>
            </a:r>
            <a:r>
              <a:rPr lang="en-US" altLang="zh-CN" dirty="0"/>
              <a:t>!= </a:t>
            </a:r>
            <a:r>
              <a:rPr lang="zh-CN" altLang="en-US" dirty="0"/>
              <a:t>， </a:t>
            </a:r>
            <a:r>
              <a:rPr lang="en-US" altLang="zh-CN" dirty="0"/>
              <a:t>&gt;= </a:t>
            </a:r>
            <a:r>
              <a:rPr lang="zh-CN" altLang="en-US" dirty="0"/>
              <a:t>， </a:t>
            </a:r>
            <a:r>
              <a:rPr lang="en-US" altLang="zh-CN" dirty="0"/>
              <a:t>&gt; </a:t>
            </a:r>
            <a:r>
              <a:rPr lang="zh-CN" altLang="en-US" dirty="0"/>
              <a:t>（返回布尔值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逻辑运算符：</a:t>
            </a:r>
            <a:r>
              <a:rPr lang="en-US" altLang="zh-CN" dirty="0"/>
              <a:t>! </a:t>
            </a:r>
            <a:r>
              <a:rPr lang="zh-CN" altLang="en-US" dirty="0"/>
              <a:t>（逻辑非</a:t>
            </a:r>
            <a:r>
              <a:rPr lang="zh-CN" altLang="en-US" dirty="0" smtClean="0"/>
              <a:t>）、</a:t>
            </a:r>
            <a:r>
              <a:rPr lang="en-US" altLang="zh-CN" dirty="0" smtClean="0"/>
              <a:t>&amp;&amp; </a:t>
            </a:r>
            <a:r>
              <a:rPr lang="zh-CN" altLang="en-US" dirty="0"/>
              <a:t>（逻辑</a:t>
            </a:r>
            <a:r>
              <a:rPr lang="zh-CN" altLang="en-US" dirty="0" smtClean="0"/>
              <a:t>与</a:t>
            </a:r>
            <a:r>
              <a:rPr lang="en-US" altLang="zh-CN" dirty="0" smtClean="0"/>
              <a:t> </a:t>
            </a:r>
            <a:r>
              <a:rPr lang="zh-CN" altLang="en-US" dirty="0" smtClean="0"/>
              <a:t>）、</a:t>
            </a:r>
            <a:r>
              <a:rPr lang="en-US" altLang="zh-CN" dirty="0" smtClean="0"/>
              <a:t>|| </a:t>
            </a:r>
            <a:r>
              <a:rPr lang="zh-CN" altLang="en-US" dirty="0"/>
              <a:t>（逻辑</a:t>
            </a:r>
            <a:r>
              <a:rPr lang="zh-CN" altLang="en-US" dirty="0" smtClean="0"/>
              <a:t>或</a:t>
            </a:r>
            <a:r>
              <a:rPr lang="en-US" altLang="zh-CN" dirty="0" smtClean="0"/>
              <a:t> 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位运算符： </a:t>
            </a:r>
            <a:r>
              <a:rPr lang="en-US" altLang="zh-CN" dirty="0"/>
              <a:t>&amp; </a:t>
            </a:r>
            <a:r>
              <a:rPr lang="zh-CN" altLang="en-US" dirty="0"/>
              <a:t>， </a:t>
            </a:r>
            <a:r>
              <a:rPr lang="en-US" altLang="zh-CN" dirty="0"/>
              <a:t>| </a:t>
            </a:r>
            <a:r>
              <a:rPr lang="zh-CN" altLang="en-US" dirty="0"/>
              <a:t>， </a:t>
            </a:r>
            <a:r>
              <a:rPr lang="en-US" altLang="zh-CN" dirty="0"/>
              <a:t>^ </a:t>
            </a:r>
            <a:r>
              <a:rPr lang="zh-CN" altLang="en-US" dirty="0"/>
              <a:t>（异或）， </a:t>
            </a:r>
            <a:r>
              <a:rPr lang="en-US" altLang="zh-CN" dirty="0"/>
              <a:t>~ </a:t>
            </a:r>
            <a:r>
              <a:rPr lang="zh-CN" altLang="en-US" dirty="0"/>
              <a:t>（位取反）</a:t>
            </a:r>
          </a:p>
          <a:p>
            <a:r>
              <a:rPr lang="zh-CN" altLang="en-US" dirty="0"/>
              <a:t>移位运算符： </a:t>
            </a:r>
            <a:r>
              <a:rPr lang="en-US" altLang="zh-CN" dirty="0"/>
              <a:t>&lt;&lt; </a:t>
            </a:r>
            <a:r>
              <a:rPr lang="zh-CN" altLang="en-US" dirty="0"/>
              <a:t>（左移位） ， </a:t>
            </a:r>
            <a:r>
              <a:rPr lang="en-US" altLang="zh-CN" dirty="0"/>
              <a:t>&gt;&gt; </a:t>
            </a:r>
            <a:r>
              <a:rPr lang="zh-CN" altLang="en-US" dirty="0"/>
              <a:t>（右移位）</a:t>
            </a:r>
          </a:p>
          <a:p>
            <a:r>
              <a:rPr lang="zh-CN" altLang="en-US" dirty="0"/>
              <a:t>算数运算符： </a:t>
            </a:r>
            <a:r>
              <a:rPr lang="en-US" altLang="zh-CN" dirty="0"/>
              <a:t>+ </a:t>
            </a:r>
            <a:r>
              <a:rPr lang="zh-CN" altLang="en-US" dirty="0"/>
              <a:t>， </a:t>
            </a:r>
            <a:r>
              <a:rPr lang="en-US" altLang="zh-CN" dirty="0"/>
              <a:t>- </a:t>
            </a:r>
            <a:r>
              <a:rPr lang="zh-CN" altLang="en-US" dirty="0"/>
              <a:t>， 一元运算负 </a:t>
            </a:r>
            <a:r>
              <a:rPr lang="en-US" altLang="zh-CN" dirty="0"/>
              <a:t>- </a:t>
            </a:r>
            <a:r>
              <a:rPr lang="zh-CN" altLang="en-US" dirty="0"/>
              <a:t>（仅针对有符号整型）， * ， </a:t>
            </a:r>
            <a:r>
              <a:rPr lang="en-US" altLang="zh-CN" dirty="0"/>
              <a:t>/ </a:t>
            </a:r>
            <a:r>
              <a:rPr lang="zh-CN" altLang="en-US" dirty="0"/>
              <a:t>， </a:t>
            </a:r>
            <a:r>
              <a:rPr lang="en-US" altLang="zh-CN" dirty="0"/>
              <a:t>% </a:t>
            </a:r>
            <a:r>
              <a:rPr lang="zh-CN" altLang="en-US" dirty="0"/>
              <a:t>（取余或叫模运算） ， ** （幂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条件运算符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36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delete</a:t>
            </a:r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重置变量的值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整型和枚举类型变量被重置为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 smtClean="0"/>
              <a:t>字符串变量被置为空；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Boolean</a:t>
            </a:r>
            <a:r>
              <a:rPr lang="zh-CN" altLang="en-US" dirty="0" smtClean="0"/>
              <a:t>类型变量被置为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固定长度数组的每个元素都被重置；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动态数组的长度被置为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结构体变量的每个成员都被重置；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delete</a:t>
            </a:r>
            <a:r>
              <a:rPr lang="zh-CN" altLang="en-US" dirty="0" smtClean="0"/>
              <a:t>不能作用于</a:t>
            </a:r>
            <a:r>
              <a:rPr lang="en-US" altLang="zh-CN" dirty="0" smtClean="0"/>
              <a:t>mapping</a:t>
            </a:r>
            <a:r>
              <a:rPr lang="zh-CN" altLang="en-US" dirty="0" smtClean="0"/>
              <a:t>类型对象。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818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712967" cy="532859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pragma solidity ^0.4.24;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contract </a:t>
            </a:r>
            <a:r>
              <a:rPr lang="en-US" altLang="zh-CN" sz="1800" dirty="0" err="1"/>
              <a:t>DeleteContract</a:t>
            </a:r>
            <a:r>
              <a:rPr lang="en-US" altLang="zh-CN" sz="1800" dirty="0"/>
              <a:t> {</a:t>
            </a:r>
          </a:p>
          <a:p>
            <a:pPr marL="0" indent="0">
              <a:buNone/>
            </a:pPr>
            <a:r>
              <a:rPr lang="en-US" altLang="zh-CN" sz="1800" dirty="0"/>
              <a:t>	uint8 public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=10;</a:t>
            </a:r>
          </a:p>
          <a:p>
            <a:pPr marL="0" indent="0">
              <a:buNone/>
            </a:pPr>
            <a:r>
              <a:rPr lang="en-US" altLang="zh-CN" sz="1800" dirty="0"/>
              <a:t>	string public name="</a:t>
            </a:r>
            <a:r>
              <a:rPr lang="en-US" altLang="zh-CN" sz="1800" dirty="0" err="1"/>
              <a:t>tim</a:t>
            </a:r>
            <a:r>
              <a:rPr lang="en-US" altLang="zh-CN" sz="1800" dirty="0"/>
              <a:t>";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public </a:t>
            </a:r>
            <a:r>
              <a:rPr lang="en-US" altLang="zh-CN" sz="1800" dirty="0" err="1"/>
              <a:t>isNotDeleted</a:t>
            </a:r>
            <a:r>
              <a:rPr lang="en-US" altLang="zh-CN" sz="1800" dirty="0"/>
              <a:t> = true;</a:t>
            </a:r>
          </a:p>
          <a:p>
            <a:pPr marL="0" indent="0">
              <a:buNone/>
            </a:pPr>
            <a:r>
              <a:rPr lang="en-US" altLang="zh-CN" sz="1800" dirty="0"/>
              <a:t>	uint8 [3] public array = [1,2,3];</a:t>
            </a:r>
          </a:p>
          <a:p>
            <a:pPr marL="0" indent="0">
              <a:buNone/>
            </a:pPr>
            <a:r>
              <a:rPr lang="en-US" altLang="zh-CN" sz="1800" dirty="0"/>
              <a:t>	uint8 [] public </a:t>
            </a:r>
            <a:r>
              <a:rPr lang="en-US" altLang="zh-CN" sz="1800" dirty="0" err="1"/>
              <a:t>dynamicArray</a:t>
            </a:r>
            <a:r>
              <a:rPr lang="en-US" altLang="zh-CN" sz="1800" dirty="0"/>
              <a:t> = [1,2,3,4,5];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	function </a:t>
            </a:r>
            <a:r>
              <a:rPr lang="en-US" altLang="zh-CN" sz="1800" dirty="0" err="1"/>
              <a:t>testDelete</a:t>
            </a:r>
            <a:r>
              <a:rPr lang="en-US" altLang="zh-CN" sz="1800" dirty="0"/>
              <a:t>() public{</a:t>
            </a:r>
          </a:p>
          <a:p>
            <a:pPr marL="0" indent="0">
              <a:buNone/>
            </a:pPr>
            <a:r>
              <a:rPr lang="en-US" altLang="zh-CN" sz="1800" dirty="0"/>
              <a:t>		delete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	delete name;</a:t>
            </a:r>
          </a:p>
          <a:p>
            <a:pPr marL="0" indent="0">
              <a:buNone/>
            </a:pPr>
            <a:r>
              <a:rPr lang="en-US" altLang="zh-CN" sz="1800" dirty="0"/>
              <a:t>		delete </a:t>
            </a:r>
            <a:r>
              <a:rPr lang="en-US" altLang="zh-CN" sz="1800" dirty="0" err="1"/>
              <a:t>isNotDeleted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	delete array;</a:t>
            </a:r>
          </a:p>
          <a:p>
            <a:pPr marL="0" indent="0">
              <a:buNone/>
            </a:pPr>
            <a:r>
              <a:rPr lang="en-US" altLang="zh-CN" sz="1800" dirty="0"/>
              <a:t>		delete </a:t>
            </a:r>
            <a:r>
              <a:rPr lang="en-US" altLang="zh-CN" sz="1800" dirty="0" err="1"/>
              <a:t>dynamicArray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}</a:t>
            </a:r>
          </a:p>
          <a:p>
            <a:pPr marL="0" indent="0">
              <a:buNone/>
            </a:pPr>
            <a:r>
              <a:rPr lang="en-US" altLang="zh-CN" sz="18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7214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err="1" smtClean="0"/>
              <a:t>calldata</a:t>
            </a:r>
            <a:r>
              <a:rPr lang="zh-CN" altLang="en-US" dirty="0" smtClean="0"/>
              <a:t>：一般</a:t>
            </a:r>
            <a:r>
              <a:rPr lang="zh-CN" altLang="en-US" dirty="0"/>
              <a:t>只有外部函数的参数（不包括返回参数）被强制指定为</a:t>
            </a:r>
            <a:r>
              <a:rPr lang="en-US" altLang="zh-CN" dirty="0" err="1"/>
              <a:t>calldata</a:t>
            </a:r>
            <a:r>
              <a:rPr lang="zh-CN" altLang="en-US" dirty="0"/>
              <a:t>。这种数据位置是只读的，不会持久化到区块链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Memory</a:t>
            </a:r>
            <a:r>
              <a:rPr lang="zh-CN" altLang="en-US" dirty="0" smtClean="0"/>
              <a:t>（局部变量）：与程序的</a:t>
            </a:r>
            <a:r>
              <a:rPr lang="zh-CN" altLang="en-US" dirty="0"/>
              <a:t>局部</a:t>
            </a:r>
            <a:r>
              <a:rPr lang="zh-CN" altLang="en-US" dirty="0" smtClean="0"/>
              <a:t>变量类似，自动分配和自动释放，</a:t>
            </a:r>
            <a:r>
              <a:rPr lang="zh-CN" altLang="en-US" dirty="0"/>
              <a:t>越过作用域即不可被</a:t>
            </a:r>
            <a:r>
              <a:rPr lang="zh-CN" altLang="en-US" dirty="0" smtClean="0"/>
              <a:t>访问。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Storage</a:t>
            </a:r>
            <a:r>
              <a:rPr lang="zh-CN" altLang="en-US" dirty="0" smtClean="0"/>
              <a:t>（状态变量）：类似于成员变量，数据</a:t>
            </a:r>
            <a:r>
              <a:rPr lang="zh-CN" altLang="en-US" dirty="0"/>
              <a:t>将永远存在于区块链上。</a:t>
            </a:r>
          </a:p>
        </p:txBody>
      </p:sp>
    </p:spTree>
    <p:extLst>
      <p:ext uri="{BB962C8B-B14F-4D97-AF65-F5344CB8AC3E}">
        <p14:creationId xmlns:p14="http://schemas.microsoft.com/office/powerpoint/2010/main" val="47075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268760"/>
            <a:ext cx="8287072" cy="46081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</a:t>
            </a:r>
            <a:r>
              <a:rPr lang="en-US" altLang="zh-CN" dirty="0" smtClean="0"/>
              <a:t>ragma solidity ^0.4.7;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en-US" altLang="zh-CN" dirty="0" smtClean="0"/>
              <a:t>ontract  </a:t>
            </a:r>
            <a:r>
              <a:rPr lang="en-US" altLang="zh-CN" dirty="0" err="1" smtClean="0"/>
              <a:t>VariableContract</a:t>
            </a:r>
            <a:r>
              <a:rPr lang="en-US" altLang="zh-CN" dirty="0" smtClean="0"/>
              <a:t>{</a:t>
            </a:r>
          </a:p>
          <a:p>
            <a:pPr marL="449262" lvl="1" indent="0">
              <a:buNone/>
            </a:pPr>
            <a:r>
              <a:rPr lang="en-US" altLang="zh-CN" dirty="0"/>
              <a:t>u</a:t>
            </a:r>
            <a:r>
              <a:rPr lang="en-US" altLang="zh-CN" dirty="0" smtClean="0"/>
              <a:t>int8 </a:t>
            </a:r>
            <a:r>
              <a:rPr lang="en-US" altLang="zh-CN" dirty="0" err="1" smtClean="0"/>
              <a:t>stateVariable</a:t>
            </a:r>
            <a:r>
              <a:rPr lang="en-US" altLang="zh-CN" dirty="0" smtClean="0"/>
              <a:t>;</a:t>
            </a:r>
          </a:p>
          <a:p>
            <a:pPr marL="449262" lvl="1" indent="0">
              <a:buNone/>
            </a:pPr>
            <a:endParaRPr lang="en-US" altLang="zh-CN" dirty="0"/>
          </a:p>
          <a:p>
            <a:pPr marL="449262" lvl="1" indent="0">
              <a:buNone/>
            </a:pPr>
            <a:r>
              <a:rPr lang="en-US" altLang="zh-CN" dirty="0"/>
              <a:t>f</a:t>
            </a:r>
            <a:r>
              <a:rPr lang="en-US" altLang="zh-CN" dirty="0" smtClean="0"/>
              <a:t>unction </a:t>
            </a:r>
            <a:r>
              <a:rPr lang="en-US" altLang="zh-CN" dirty="0" err="1" smtClean="0"/>
              <a:t>variableTest</a:t>
            </a:r>
            <a:r>
              <a:rPr lang="en-US" altLang="zh-CN" dirty="0" smtClean="0"/>
              <a:t>(uint8 </a:t>
            </a:r>
            <a:r>
              <a:rPr lang="en-US" altLang="zh-CN" dirty="0" err="1" smtClean="0"/>
              <a:t>inArgLocalVar</a:t>
            </a:r>
            <a:r>
              <a:rPr lang="en-US" altLang="zh-CN" dirty="0" smtClean="0"/>
              <a:t>) returns (uint8 </a:t>
            </a:r>
            <a:r>
              <a:rPr lang="en-US" altLang="zh-CN" dirty="0" err="1" smtClean="0"/>
              <a:t>outArgLocalVar</a:t>
            </a:r>
            <a:r>
              <a:rPr lang="en-US" altLang="zh-CN" dirty="0" smtClean="0"/>
              <a:t>)</a:t>
            </a:r>
          </a:p>
          <a:p>
            <a:pPr marL="449262" lvl="1" indent="0">
              <a:buNone/>
            </a:pPr>
            <a:r>
              <a:rPr lang="en-US" altLang="zh-CN" dirty="0" smtClean="0"/>
              <a:t>{</a:t>
            </a:r>
          </a:p>
          <a:p>
            <a:pPr marL="449262" lvl="1" indent="0">
              <a:buNone/>
            </a:pPr>
            <a:r>
              <a:rPr lang="en-US" altLang="zh-CN" dirty="0" smtClean="0"/>
              <a:t>	uint8 </a:t>
            </a:r>
            <a:r>
              <a:rPr lang="en-US" altLang="zh-CN" dirty="0" err="1" smtClean="0"/>
              <a:t>functionBodyLocalVar</a:t>
            </a:r>
            <a:r>
              <a:rPr lang="en-US" altLang="zh-CN" dirty="0" smtClean="0"/>
              <a:t>;</a:t>
            </a:r>
          </a:p>
          <a:p>
            <a:pPr marL="449262" lvl="1" indent="0">
              <a:buNone/>
            </a:pPr>
            <a:r>
              <a:rPr lang="en-US" altLang="zh-CN" dirty="0" smtClean="0"/>
              <a:t>	return 0;</a:t>
            </a:r>
            <a:endParaRPr lang="en-US" altLang="zh-CN" dirty="0"/>
          </a:p>
          <a:p>
            <a:pPr marL="449262" lvl="1" indent="0">
              <a:buNone/>
            </a:pPr>
            <a:r>
              <a:rPr lang="en-US" altLang="zh-CN" dirty="0" smtClean="0"/>
              <a:t>}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}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5220072" y="2276872"/>
            <a:ext cx="1584176" cy="648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dirty="0" smtClean="0">
                <a:latin typeface="Times New Roman" pitchFamily="18" charset="0"/>
              </a:rPr>
              <a:t>状态变量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300192" y="5445224"/>
            <a:ext cx="1584176" cy="648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dirty="0">
                <a:latin typeface="Times New Roman" pitchFamily="18" charset="0"/>
              </a:rPr>
              <a:t>局部</a:t>
            </a:r>
            <a:r>
              <a:rPr lang="zh-CN" altLang="en-US" dirty="0" smtClean="0">
                <a:latin typeface="Times New Roman" pitchFamily="18" charset="0"/>
              </a:rPr>
              <a:t>变量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419872" y="2708920"/>
            <a:ext cx="1800200" cy="36004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>
            <a:off x="6012160" y="4149080"/>
            <a:ext cx="792088" cy="129614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直接箭头连接符 11"/>
          <p:cNvCxnSpPr/>
          <p:nvPr/>
        </p:nvCxnSpPr>
        <p:spPr bwMode="auto">
          <a:xfrm>
            <a:off x="2771800" y="4293096"/>
            <a:ext cx="3888432" cy="115212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>
            <a:off x="4211960" y="5301208"/>
            <a:ext cx="2088232" cy="46805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72615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全局可用变量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196752"/>
            <a:ext cx="8359080" cy="4752181"/>
          </a:xfrm>
        </p:spPr>
        <p:txBody>
          <a:bodyPr/>
          <a:lstStyle/>
          <a:p>
            <a:r>
              <a:rPr lang="zh-CN" altLang="en-US" sz="2000" dirty="0"/>
              <a:t>有些特殊变量和函数永远在与全局中，主要是区块和交易</a:t>
            </a:r>
            <a:r>
              <a:rPr lang="zh-CN" altLang="en-US" sz="2000" dirty="0" smtClean="0"/>
              <a:t>属性：</a:t>
            </a:r>
            <a:endParaRPr lang="zh-CN" altLang="en-US" sz="2000" dirty="0"/>
          </a:p>
          <a:p>
            <a:pPr lvl="1"/>
            <a:r>
              <a:rPr lang="en-US" altLang="zh-CN" sz="1600" dirty="0" err="1" smtClean="0"/>
              <a:t>block.blockhash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blockNumber</a:t>
            </a:r>
            <a:r>
              <a:rPr lang="en-US" altLang="zh-CN" sz="1600" dirty="0" smtClean="0"/>
              <a:t>) returns </a:t>
            </a:r>
            <a:r>
              <a:rPr lang="en-US" altLang="zh-CN" sz="1600" dirty="0"/>
              <a:t>(bytes32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：给定</a:t>
            </a:r>
            <a:r>
              <a:rPr lang="zh-CN" altLang="en-US" sz="1600" dirty="0"/>
              <a:t>区块的哈希值，只支持最近</a:t>
            </a:r>
            <a:r>
              <a:rPr lang="en-US" altLang="zh-CN" sz="1600" dirty="0"/>
              <a:t>256</a:t>
            </a:r>
            <a:r>
              <a:rPr lang="zh-CN" altLang="en-US" sz="1600" dirty="0"/>
              <a:t>个区块。</a:t>
            </a:r>
          </a:p>
          <a:p>
            <a:pPr lvl="1"/>
            <a:r>
              <a:rPr lang="en-US" altLang="zh-CN" sz="1600" dirty="0" err="1" smtClean="0"/>
              <a:t>block.coinbase</a:t>
            </a:r>
            <a:r>
              <a:rPr lang="en-US" altLang="zh-CN" sz="1600" dirty="0" smtClean="0"/>
              <a:t>(address)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区块矿工的地址。</a:t>
            </a:r>
          </a:p>
          <a:p>
            <a:pPr lvl="1"/>
            <a:r>
              <a:rPr lang="en-US" altLang="zh-CN" sz="1600" dirty="0" err="1" smtClean="0"/>
              <a:t>block.difficulty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区块的难度值。</a:t>
            </a:r>
          </a:p>
          <a:p>
            <a:pPr lvl="1"/>
            <a:r>
              <a:rPr lang="en-US" altLang="zh-CN" sz="1600" dirty="0" err="1" smtClean="0"/>
              <a:t>block.gaslimit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区块的</a:t>
            </a:r>
            <a:r>
              <a:rPr lang="en-US" altLang="zh-CN" sz="1600" dirty="0"/>
              <a:t>gas</a:t>
            </a:r>
            <a:r>
              <a:rPr lang="zh-CN" altLang="en-US" sz="1600" dirty="0"/>
              <a:t>上限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en-US" altLang="zh-CN" sz="1600" dirty="0" err="1" smtClean="0"/>
              <a:t>block.number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区块的序号。</a:t>
            </a:r>
          </a:p>
          <a:p>
            <a:pPr lvl="1"/>
            <a:r>
              <a:rPr lang="en-US" altLang="zh-CN" sz="1600" dirty="0" err="1" smtClean="0"/>
              <a:t>block.timestamp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区块的时间戳。</a:t>
            </a:r>
          </a:p>
          <a:p>
            <a:pPr lvl="1"/>
            <a:r>
              <a:rPr lang="en-US" altLang="zh-CN" sz="1600" dirty="0" err="1" smtClean="0"/>
              <a:t>msg.data</a:t>
            </a:r>
            <a:r>
              <a:rPr lang="en-US" altLang="zh-CN" sz="1600" dirty="0" smtClean="0"/>
              <a:t>(bytes)</a:t>
            </a:r>
            <a:r>
              <a:rPr lang="zh-CN" altLang="en-US" sz="1600" dirty="0" smtClean="0"/>
              <a:t>： </a:t>
            </a:r>
            <a:r>
              <a:rPr lang="zh-CN" altLang="en-US" sz="1600" dirty="0"/>
              <a:t>完整的调用数据里存储的函数及其实参。</a:t>
            </a:r>
          </a:p>
          <a:p>
            <a:pPr lvl="1"/>
            <a:r>
              <a:rPr lang="en-US" altLang="zh-CN" sz="1600" dirty="0" err="1" smtClean="0"/>
              <a:t>msg.gas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/>
              <a:t>) 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剩余的</a:t>
            </a:r>
            <a:r>
              <a:rPr lang="en-US" altLang="zh-CN" sz="1600" dirty="0"/>
              <a:t>gas</a:t>
            </a:r>
          </a:p>
          <a:p>
            <a:pPr lvl="1"/>
            <a:r>
              <a:rPr lang="en-US" altLang="zh-CN" sz="1600" dirty="0" err="1" smtClean="0"/>
              <a:t>msg.sender</a:t>
            </a:r>
            <a:r>
              <a:rPr lang="en-US" altLang="zh-CN" sz="1600" dirty="0" smtClean="0"/>
              <a:t>(address)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调用发起人的地址</a:t>
            </a:r>
          </a:p>
          <a:p>
            <a:pPr lvl="1"/>
            <a:r>
              <a:rPr lang="en-US" altLang="zh-CN" sz="1600" dirty="0" err="1" smtClean="0"/>
              <a:t>msg.sig</a:t>
            </a:r>
            <a:r>
              <a:rPr lang="en-US" altLang="zh-CN" sz="1600" dirty="0" smtClean="0"/>
              <a:t>(bytes4)</a:t>
            </a:r>
            <a:r>
              <a:rPr lang="zh-CN" altLang="en-US" sz="1600" dirty="0" smtClean="0"/>
              <a:t>：调用</a:t>
            </a:r>
            <a:r>
              <a:rPr lang="zh-CN" altLang="en-US" sz="1600" dirty="0"/>
              <a:t>数据的前四个字节（函数标识符）</a:t>
            </a:r>
          </a:p>
          <a:p>
            <a:pPr lvl="1"/>
            <a:r>
              <a:rPr lang="en-US" altLang="zh-CN" sz="1600" dirty="0" err="1" smtClean="0"/>
              <a:t>msg.value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：这个</a:t>
            </a:r>
            <a:r>
              <a:rPr lang="zh-CN" altLang="en-US" sz="1600" dirty="0"/>
              <a:t>消息所附带的货币链，单位为</a:t>
            </a:r>
            <a:r>
              <a:rPr lang="en-US" altLang="zh-CN" sz="1600" dirty="0" err="1"/>
              <a:t>wei</a:t>
            </a:r>
            <a:r>
              <a:rPr lang="en-US" altLang="zh-CN" sz="1600" dirty="0"/>
              <a:t>.</a:t>
            </a:r>
          </a:p>
          <a:p>
            <a:pPr lvl="1"/>
            <a:r>
              <a:rPr lang="en-US" altLang="zh-CN" sz="1600" dirty="0" smtClean="0"/>
              <a:t>now(</a:t>
            </a:r>
            <a:r>
              <a:rPr lang="en-US" altLang="zh-CN" sz="1600" dirty="0" err="1" smtClean="0"/>
              <a:t>uit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：当前</a:t>
            </a:r>
            <a:r>
              <a:rPr lang="zh-CN" altLang="en-US" sz="1600" dirty="0"/>
              <a:t>区块的时间戳，等同于</a:t>
            </a:r>
            <a:r>
              <a:rPr lang="en-US" altLang="zh-CN" sz="1600" dirty="0" err="1"/>
              <a:t>block.timestamp</a:t>
            </a:r>
            <a:r>
              <a:rPr lang="en-US" altLang="zh-CN" sz="1600" dirty="0"/>
              <a:t>.</a:t>
            </a:r>
          </a:p>
          <a:p>
            <a:pPr lvl="1"/>
            <a:r>
              <a:rPr lang="en-US" altLang="zh-CN" sz="1600" dirty="0" err="1" smtClean="0"/>
              <a:t>tx.gasprice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：交易</a:t>
            </a:r>
            <a:r>
              <a:rPr lang="zh-CN" altLang="en-US" sz="1600" dirty="0"/>
              <a:t>的</a:t>
            </a:r>
            <a:r>
              <a:rPr lang="en-US" altLang="zh-CN" sz="1600" dirty="0"/>
              <a:t>gas</a:t>
            </a:r>
            <a:r>
              <a:rPr lang="zh-CN" altLang="en-US" sz="1600" dirty="0"/>
              <a:t>价格。</a:t>
            </a:r>
          </a:p>
          <a:p>
            <a:pPr lvl="1"/>
            <a:r>
              <a:rPr lang="en-US" altLang="zh-CN" sz="1600" dirty="0" err="1" smtClean="0"/>
              <a:t>tx.origin</a:t>
            </a:r>
            <a:r>
              <a:rPr lang="en-US" altLang="zh-CN" sz="1600" dirty="0" smtClean="0"/>
              <a:t>(address)</a:t>
            </a:r>
            <a:r>
              <a:rPr lang="zh-CN" altLang="en-US" sz="1600" dirty="0" smtClean="0"/>
              <a:t>：交易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发起人。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88646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控制结构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568951" cy="5040560"/>
          </a:xfrm>
        </p:spPr>
        <p:txBody>
          <a:bodyPr/>
          <a:lstStyle/>
          <a:p>
            <a:r>
              <a:rPr lang="zh-CN" altLang="en-US" dirty="0" smtClean="0"/>
              <a:t>分支结构</a:t>
            </a:r>
            <a:endParaRPr lang="en-US" altLang="zh-CN" dirty="0" smtClean="0"/>
          </a:p>
          <a:p>
            <a:pPr lvl="1"/>
            <a:r>
              <a:rPr lang="en-US" altLang="zh-CN" dirty="0"/>
              <a:t>i</a:t>
            </a:r>
            <a:r>
              <a:rPr lang="en-US" altLang="zh-CN" dirty="0" smtClean="0"/>
              <a:t>f…else</a:t>
            </a:r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支持</a:t>
            </a:r>
            <a:r>
              <a:rPr lang="en-US" altLang="zh-CN" dirty="0" smtClean="0"/>
              <a:t>switch</a:t>
            </a:r>
          </a:p>
          <a:p>
            <a:r>
              <a:rPr lang="zh-CN" altLang="en-US" dirty="0" smtClean="0"/>
              <a:t>循环结构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for</a:t>
            </a:r>
          </a:p>
          <a:p>
            <a:pPr lvl="1"/>
            <a:r>
              <a:rPr lang="en-US" altLang="zh-CN" dirty="0" smtClean="0"/>
              <a:t>while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dirty="0" smtClean="0"/>
              <a:t>o…while</a:t>
            </a:r>
          </a:p>
          <a:p>
            <a:r>
              <a:rPr lang="zh-CN" altLang="en-US" dirty="0"/>
              <a:t>跳</a:t>
            </a:r>
            <a:r>
              <a:rPr lang="zh-CN" altLang="en-US" dirty="0" smtClean="0"/>
              <a:t>转语句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break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continue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return</a:t>
            </a:r>
            <a:r>
              <a:rPr lang="zh-CN" altLang="en-US" dirty="0" smtClean="0"/>
              <a:t>等；</a:t>
            </a:r>
            <a:endParaRPr lang="en-US" altLang="zh-CN" dirty="0" smtClean="0"/>
          </a:p>
          <a:p>
            <a:r>
              <a:rPr lang="zh-CN" altLang="en-US" dirty="0" smtClean="0"/>
              <a:t>条件运算符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计算条件</a:t>
            </a:r>
            <a:r>
              <a:rPr lang="en-US" altLang="zh-CN" dirty="0" smtClean="0"/>
              <a:t>?</a:t>
            </a:r>
            <a:r>
              <a:rPr lang="zh-CN" altLang="en-US" dirty="0" smtClean="0"/>
              <a:t>表达式</a:t>
            </a:r>
            <a:r>
              <a:rPr lang="en-US" altLang="zh-CN" dirty="0" smtClean="0"/>
              <a:t>1:</a:t>
            </a:r>
            <a:r>
              <a:rPr lang="zh-CN" altLang="en-US" dirty="0" smtClean="0"/>
              <a:t>表达式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5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Solidity</a:t>
            </a:r>
            <a:r>
              <a:rPr lang="zh-CN" altLang="en-US" dirty="0" smtClean="0"/>
              <a:t>函数定义语法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function </a:t>
            </a:r>
            <a:r>
              <a:rPr lang="en-US" altLang="zh-CN" dirty="0" err="1" smtClean="0"/>
              <a:t>functionName</a:t>
            </a:r>
            <a:r>
              <a:rPr lang="en-US" altLang="zh-CN" dirty="0" smtClean="0"/>
              <a:t>(&lt;</a:t>
            </a:r>
            <a:r>
              <a:rPr lang="zh-CN" altLang="en-US" dirty="0"/>
              <a:t>入</a:t>
            </a:r>
            <a:r>
              <a:rPr lang="zh-CN" altLang="en-US" dirty="0" smtClean="0"/>
              <a:t>参列表</a:t>
            </a:r>
            <a:r>
              <a:rPr lang="en-US" altLang="zh-CN" dirty="0" smtClean="0"/>
              <a:t>&gt;) [returns (</a:t>
            </a:r>
            <a:r>
              <a:rPr lang="zh-CN" altLang="en-US" dirty="0" smtClean="0"/>
              <a:t>出参列表</a:t>
            </a:r>
            <a:r>
              <a:rPr lang="en-US" altLang="zh-CN" dirty="0" smtClean="0"/>
              <a:t>)]</a:t>
            </a:r>
          </a:p>
          <a:p>
            <a:pPr marL="0" indent="0">
              <a:buNone/>
            </a:pPr>
            <a:r>
              <a:rPr lang="zh-CN" altLang="en-US" dirty="0" smtClean="0"/>
              <a:t>｛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 smtClean="0"/>
              <a:t>函数体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438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Solidity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允许返回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个值，也允许返回多个值；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函数的返回值必须在函数头部通过</a:t>
            </a:r>
            <a:r>
              <a:rPr lang="en-US" altLang="zh-CN" dirty="0" smtClean="0"/>
              <a:t>returns</a:t>
            </a:r>
            <a:r>
              <a:rPr lang="zh-CN" altLang="en-US" dirty="0" smtClean="0"/>
              <a:t>关键字加上出参列表说明；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在函数体中，返回结果值时，可以和其他语言一样通过</a:t>
            </a:r>
            <a:r>
              <a:rPr lang="en-US" altLang="zh-CN" dirty="0" smtClean="0"/>
              <a:t>return</a:t>
            </a:r>
            <a:r>
              <a:rPr lang="zh-CN" altLang="en-US" dirty="0" smtClean="0"/>
              <a:t>语句返回，也可以通过对出参变量赋值实现。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7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400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pragma solidity ^0.4.24;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contract </a:t>
            </a:r>
            <a:r>
              <a:rPr lang="en-US" altLang="zh-CN" sz="1800" dirty="0" err="1"/>
              <a:t>ReturnContract</a:t>
            </a:r>
            <a:r>
              <a:rPr lang="en-US" altLang="zh-CN" sz="1800" dirty="0"/>
              <a:t>{</a:t>
            </a:r>
          </a:p>
          <a:p>
            <a:pPr marL="0" indent="0">
              <a:buNone/>
            </a:pPr>
            <a:r>
              <a:rPr lang="en-US" altLang="zh-CN" sz="1800" dirty="0"/>
              <a:t>	function </a:t>
            </a:r>
            <a:r>
              <a:rPr lang="en-US" altLang="zh-CN" sz="1800" dirty="0" err="1"/>
              <a:t>singleReturnTest</a:t>
            </a:r>
            <a:r>
              <a:rPr lang="en-US" altLang="zh-CN" sz="1800" dirty="0"/>
              <a:t>() public pure returns(uint8){</a:t>
            </a:r>
          </a:p>
          <a:p>
            <a:pPr marL="0" indent="0">
              <a:buNone/>
            </a:pPr>
            <a:r>
              <a:rPr lang="en-US" altLang="zh-CN" sz="1800" dirty="0"/>
              <a:t>		uint8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 = 255;</a:t>
            </a:r>
          </a:p>
          <a:p>
            <a:pPr marL="0" indent="0">
              <a:buNone/>
            </a:pPr>
            <a:r>
              <a:rPr lang="en-US" altLang="zh-CN" sz="1800" dirty="0"/>
              <a:t>		return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}</a:t>
            </a:r>
          </a:p>
          <a:p>
            <a:pPr marL="0" indent="0">
              <a:buNone/>
            </a:pPr>
            <a:r>
              <a:rPr lang="en-US" altLang="zh-CN" sz="1800" dirty="0"/>
              <a:t>	function </a:t>
            </a:r>
            <a:r>
              <a:rPr lang="en-US" altLang="zh-CN" sz="1800" dirty="0" err="1"/>
              <a:t>multipleReturnTestOne</a:t>
            </a:r>
            <a:r>
              <a:rPr lang="en-US" altLang="zh-CN" sz="1800" dirty="0"/>
              <a:t>() public pure returns(uint8,string){</a:t>
            </a:r>
          </a:p>
          <a:p>
            <a:pPr marL="0" indent="0">
              <a:buNone/>
            </a:pPr>
            <a:r>
              <a:rPr lang="en-US" altLang="zh-CN" sz="1800" dirty="0"/>
              <a:t>		uint8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 = 255;</a:t>
            </a:r>
          </a:p>
          <a:p>
            <a:pPr marL="0" indent="0">
              <a:buNone/>
            </a:pPr>
            <a:r>
              <a:rPr lang="en-US" altLang="zh-CN" sz="1800" dirty="0"/>
              <a:t>		return (num,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,"multiple");</a:t>
            </a:r>
          </a:p>
          <a:p>
            <a:pPr marL="0" indent="0">
              <a:buNone/>
            </a:pPr>
            <a:r>
              <a:rPr lang="en-US" altLang="zh-CN" sz="1800" dirty="0"/>
              <a:t>	}</a:t>
            </a:r>
          </a:p>
          <a:p>
            <a:pPr marL="0" indent="0">
              <a:buNone/>
            </a:pPr>
            <a:r>
              <a:rPr lang="en-US" altLang="zh-CN" sz="1800" dirty="0"/>
              <a:t>	function </a:t>
            </a:r>
            <a:r>
              <a:rPr lang="en-US" altLang="zh-CN" sz="1800" dirty="0" err="1"/>
              <a:t>multipleReturnTestTwo</a:t>
            </a:r>
            <a:r>
              <a:rPr lang="en-US" altLang="zh-CN" sz="1800" dirty="0"/>
              <a:t>() public pure returns(uint8 </a:t>
            </a:r>
            <a:r>
              <a:rPr lang="en-US" altLang="zh-CN" sz="1800" dirty="0" err="1"/>
              <a:t>num,string</a:t>
            </a:r>
            <a:r>
              <a:rPr lang="en-US" altLang="zh-CN" sz="1800" dirty="0"/>
              <a:t> name){</a:t>
            </a:r>
          </a:p>
          <a:p>
            <a:pPr marL="0" indent="0"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 = 255;</a:t>
            </a:r>
          </a:p>
          <a:p>
            <a:pPr marL="0" indent="0">
              <a:buNone/>
            </a:pPr>
            <a:r>
              <a:rPr lang="en-US" altLang="zh-CN" sz="1800" dirty="0"/>
              <a:t>		name = "multiple";</a:t>
            </a:r>
          </a:p>
          <a:p>
            <a:pPr marL="0" indent="0">
              <a:buNone/>
            </a:pPr>
            <a:r>
              <a:rPr lang="en-US" altLang="zh-CN" sz="1800" dirty="0"/>
              <a:t>	}</a:t>
            </a:r>
          </a:p>
          <a:p>
            <a:pPr marL="0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 bwMode="auto">
          <a:xfrm>
            <a:off x="7164288" y="2014797"/>
            <a:ext cx="1800200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出参没有名字，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通过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return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语句返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结果。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6516216" y="5589240"/>
            <a:ext cx="2232248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出参有名字，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通过给出参变量赋值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返回结果。</a:t>
            </a: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6516216" y="3094917"/>
            <a:ext cx="648072" cy="40609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直接箭头连接符 8"/>
          <p:cNvCxnSpPr/>
          <p:nvPr/>
        </p:nvCxnSpPr>
        <p:spPr bwMode="auto">
          <a:xfrm flipV="1">
            <a:off x="4716016" y="3094917"/>
            <a:ext cx="3456384" cy="127018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直接箭头连接符 10"/>
          <p:cNvCxnSpPr>
            <a:endCxn id="5" idx="0"/>
          </p:cNvCxnSpPr>
          <p:nvPr/>
        </p:nvCxnSpPr>
        <p:spPr bwMode="auto">
          <a:xfrm>
            <a:off x="7632340" y="5229200"/>
            <a:ext cx="0" cy="36004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直接箭头连接符 12"/>
          <p:cNvCxnSpPr/>
          <p:nvPr/>
        </p:nvCxnSpPr>
        <p:spPr bwMode="auto">
          <a:xfrm>
            <a:off x="3635896" y="5409220"/>
            <a:ext cx="2880320" cy="46805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64905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构造函数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Solidity</a:t>
            </a:r>
            <a:r>
              <a:rPr lang="zh-CN" altLang="en-US" dirty="0" smtClean="0"/>
              <a:t>的合约构造函数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主要用于在合约创建时完成相关的初始化工作；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只能有一个；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推荐用合约同名方式定义，而是使用</a:t>
            </a:r>
            <a:r>
              <a:rPr lang="en-US" altLang="zh-CN" dirty="0" smtClean="0"/>
              <a:t>constructor</a:t>
            </a:r>
            <a:r>
              <a:rPr lang="zh-CN" altLang="en-US" dirty="0" smtClean="0"/>
              <a:t>关键字构造；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构造函数可以有参数，也可以没有，除了为了继承，否则不建议有参数；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974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smtClean="0"/>
              <a:t>pragma </a:t>
            </a:r>
            <a:r>
              <a:rPr lang="en-US" altLang="zh-CN" sz="2000" dirty="0"/>
              <a:t>solidity ^0.4.24;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contract </a:t>
            </a:r>
            <a:r>
              <a:rPr lang="en-US" altLang="zh-CN" sz="2000" dirty="0" err="1"/>
              <a:t>StateVariableContract</a:t>
            </a:r>
            <a:r>
              <a:rPr lang="en-US" altLang="zh-CN" sz="2000" dirty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	string name;</a:t>
            </a:r>
          </a:p>
          <a:p>
            <a:pPr marL="0" indent="0">
              <a:buNone/>
            </a:pPr>
            <a:r>
              <a:rPr lang="en-US" altLang="zh-CN" sz="2000" dirty="0"/>
              <a:t>	uint32 id;</a:t>
            </a:r>
          </a:p>
          <a:p>
            <a:pPr marL="0" indent="0">
              <a:buNone/>
            </a:pPr>
            <a:r>
              <a:rPr lang="en-US" altLang="zh-CN" sz="2000" dirty="0"/>
              <a:t>	constructor(){</a:t>
            </a:r>
          </a:p>
          <a:p>
            <a:pPr marL="0" indent="0">
              <a:buNone/>
            </a:pPr>
            <a:r>
              <a:rPr lang="en-US" altLang="zh-CN" sz="2000" dirty="0"/>
              <a:t>		id=10;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	function </a:t>
            </a:r>
            <a:r>
              <a:rPr lang="en-US" altLang="zh-CN" sz="2000" dirty="0" err="1"/>
              <a:t>getId</a:t>
            </a:r>
            <a:r>
              <a:rPr lang="en-US" altLang="zh-CN" sz="2000" dirty="0"/>
              <a:t>() returns(uint32){</a:t>
            </a:r>
          </a:p>
          <a:p>
            <a:pPr marL="0" indent="0">
              <a:buNone/>
            </a:pPr>
            <a:r>
              <a:rPr lang="en-US" altLang="zh-CN" sz="2000" dirty="0"/>
              <a:t>		return id;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 bwMode="auto">
          <a:xfrm>
            <a:off x="4788024" y="3068960"/>
            <a:ext cx="2448272" cy="7200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注意，构造函数定义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不能加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function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关键字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3059832" y="3284984"/>
            <a:ext cx="1728192" cy="28803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34883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可见性修饰符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对成员的可见性控制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public</a:t>
            </a:r>
          </a:p>
          <a:p>
            <a:pPr lvl="1"/>
            <a:r>
              <a:rPr lang="en-US" altLang="zh-CN" dirty="0"/>
              <a:t>i</a:t>
            </a:r>
            <a:r>
              <a:rPr lang="en-US" altLang="zh-CN" dirty="0" smtClean="0"/>
              <a:t>nternal</a:t>
            </a:r>
          </a:p>
          <a:p>
            <a:pPr lvl="1"/>
            <a:r>
              <a:rPr lang="en-US" altLang="zh-CN" dirty="0" smtClean="0"/>
              <a:t>private</a:t>
            </a:r>
          </a:p>
          <a:p>
            <a:pPr lvl="1"/>
            <a:r>
              <a:rPr lang="en-US" altLang="zh-CN" dirty="0" smtClean="0"/>
              <a:t>external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77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en-US" altLang="zh-CN" dirty="0" smtClean="0"/>
              <a:t>ublic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184576"/>
          </a:xfrm>
        </p:spPr>
        <p:txBody>
          <a:bodyPr/>
          <a:lstStyle/>
          <a:p>
            <a:r>
              <a:rPr lang="en-US" altLang="zh-CN" dirty="0" smtClean="0"/>
              <a:t>Public</a:t>
            </a:r>
            <a:r>
              <a:rPr lang="zh-CN" altLang="en-US" dirty="0" smtClean="0"/>
              <a:t>类型的状态变量和函数，可以供合约外部、子合约和合约内部访问；</a:t>
            </a:r>
            <a:endParaRPr lang="en-US" altLang="zh-CN" dirty="0" smtClean="0"/>
          </a:p>
          <a:p>
            <a:r>
              <a:rPr lang="zh-CN" altLang="en-US" dirty="0" smtClean="0"/>
              <a:t>函数的默认类别是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状态变量用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修饰，则编译器会为之自动生成一个</a:t>
            </a:r>
            <a:r>
              <a:rPr lang="en-US" altLang="zh-CN" dirty="0" smtClean="0"/>
              <a:t>getter</a:t>
            </a:r>
            <a:r>
              <a:rPr lang="zh-CN" altLang="en-US" dirty="0" smtClean="0"/>
              <a:t>函数用于获取该变量的值；</a:t>
            </a:r>
            <a:endParaRPr lang="en-US" altLang="zh-CN" dirty="0" smtClean="0"/>
          </a:p>
          <a:p>
            <a:r>
              <a:rPr lang="zh-CN" altLang="en-US" dirty="0" smtClean="0"/>
              <a:t>修饰状态变量时，必须放在类型之后，变量名之前；</a:t>
            </a:r>
            <a:endParaRPr lang="en-US" altLang="zh-CN" dirty="0" smtClean="0"/>
          </a:p>
          <a:p>
            <a:r>
              <a:rPr lang="zh-CN" altLang="en-US" dirty="0" smtClean="0"/>
              <a:t>修饰函数时，应该放在函数入参列表之后，其他函数修饰符之前。</a:t>
            </a:r>
            <a:endParaRPr lang="en-US" altLang="zh-CN" dirty="0" smtClean="0"/>
          </a:p>
          <a:p>
            <a:r>
              <a:rPr lang="zh-CN" altLang="en-US" dirty="0"/>
              <a:t>只</a:t>
            </a:r>
            <a:r>
              <a:rPr lang="zh-CN" altLang="en-US" dirty="0" smtClean="0"/>
              <a:t>将需要从外部调用的函数说明为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是一个良好的习惯，这可以防止合约被攻击。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384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public</a:t>
            </a:r>
            <a:r>
              <a:rPr lang="zh-CN" altLang="en-US" dirty="0"/>
              <a:t>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PublicContract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uint8 </a:t>
            </a:r>
            <a:r>
              <a:rPr lang="en-US" altLang="zh-CN" sz="2000" dirty="0"/>
              <a:t>public id = 1;</a:t>
            </a:r>
          </a:p>
          <a:p>
            <a:pPr marL="0" indent="0">
              <a:buNone/>
            </a:pPr>
            <a:r>
              <a:rPr lang="en-US" altLang="zh-CN" sz="2000" dirty="0" smtClean="0"/>
              <a:t>    string </a:t>
            </a:r>
            <a:r>
              <a:rPr lang="en-US" altLang="zh-CN" sz="2000" dirty="0"/>
              <a:t>public name = "</a:t>
            </a:r>
            <a:r>
              <a:rPr lang="en-US" altLang="zh-CN" sz="2000" dirty="0" err="1"/>
              <a:t>tim</a:t>
            </a:r>
            <a:r>
              <a:rPr lang="en-US" altLang="zh-CN" sz="2000" dirty="0"/>
              <a:t>";</a:t>
            </a:r>
          </a:p>
          <a:p>
            <a:pPr marL="0" indent="0">
              <a:buNone/>
            </a:pPr>
            <a:r>
              <a:rPr lang="en-US" altLang="zh-CN" sz="2000" dirty="0" smtClean="0"/>
              <a:t>    uint8 </a:t>
            </a:r>
            <a:r>
              <a:rPr lang="en-US" altLang="zh-CN" sz="2000" dirty="0"/>
              <a:t>[]  public array  = [1,2,3];</a:t>
            </a:r>
          </a:p>
          <a:p>
            <a:pPr marL="0" indent="0">
              <a:buNone/>
            </a:pPr>
            <a:r>
              <a:rPr lang="en-US" altLang="zh-CN" sz="2000" dirty="0" smtClean="0"/>
              <a:t>    function </a:t>
            </a:r>
            <a:r>
              <a:rPr lang="en-US" altLang="zh-CN" sz="2000" dirty="0" err="1"/>
              <a:t>setId</a:t>
            </a:r>
            <a:r>
              <a:rPr lang="en-US" altLang="zh-CN" sz="2000" dirty="0"/>
              <a:t>(uint8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) public {</a:t>
            </a:r>
          </a:p>
          <a:p>
            <a:pPr marL="0" indent="0">
              <a:buNone/>
            </a:pPr>
            <a:r>
              <a:rPr lang="en-US" altLang="zh-CN" sz="2000" dirty="0"/>
              <a:t>        id =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 smtClean="0"/>
              <a:t>    function  </a:t>
            </a:r>
            <a:r>
              <a:rPr lang="en-US" altLang="zh-CN" sz="2000" dirty="0" err="1"/>
              <a:t>setName</a:t>
            </a:r>
            <a:r>
              <a:rPr lang="en-US" altLang="zh-CN" sz="2000" dirty="0"/>
              <a:t>(string </a:t>
            </a:r>
            <a:r>
              <a:rPr lang="en-US" altLang="zh-CN" sz="2000" dirty="0" err="1"/>
              <a:t>newName</a:t>
            </a:r>
            <a:r>
              <a:rPr lang="en-US" altLang="zh-CN" sz="2000" dirty="0"/>
              <a:t>) public {</a:t>
            </a:r>
          </a:p>
          <a:p>
            <a:pPr marL="0" indent="0">
              <a:buNone/>
            </a:pPr>
            <a:r>
              <a:rPr lang="en-US" altLang="zh-CN" sz="2000" dirty="0"/>
              <a:t>        name = </a:t>
            </a:r>
            <a:r>
              <a:rPr lang="en-US" altLang="zh-CN" sz="2000" dirty="0" err="1"/>
              <a:t>newName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8011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r>
              <a:rPr lang="en-US" altLang="zh-CN" dirty="0" smtClean="0"/>
              <a:t>nternal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被</a:t>
            </a:r>
            <a:r>
              <a:rPr lang="en-US" altLang="zh-CN" dirty="0" smtClean="0"/>
              <a:t>internal</a:t>
            </a:r>
            <a:r>
              <a:rPr lang="zh-CN" altLang="en-US" dirty="0" smtClean="0"/>
              <a:t>修饰的状态变量从外部和子合约都可以访问；</a:t>
            </a:r>
            <a:endParaRPr lang="en-US" altLang="zh-CN" dirty="0" smtClean="0"/>
          </a:p>
          <a:p>
            <a:r>
              <a:rPr lang="zh-CN" altLang="en-US" dirty="0" smtClean="0"/>
              <a:t>状态变量的默认类别是</a:t>
            </a:r>
            <a:r>
              <a:rPr lang="en-US" altLang="zh-CN" dirty="0" smtClean="0"/>
              <a:t>internal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/>
              <a:t>被</a:t>
            </a:r>
            <a:r>
              <a:rPr lang="en-US" altLang="zh-CN" dirty="0"/>
              <a:t>internal</a:t>
            </a:r>
            <a:r>
              <a:rPr lang="zh-CN" altLang="en-US" dirty="0"/>
              <a:t>修饰的</a:t>
            </a:r>
            <a:r>
              <a:rPr lang="zh-CN" altLang="en-US" dirty="0" smtClean="0"/>
              <a:t>状态变量不会自动生成</a:t>
            </a:r>
            <a:r>
              <a:rPr lang="en-US" altLang="zh-CN" dirty="0" smtClean="0"/>
              <a:t>getter</a:t>
            </a:r>
            <a:r>
              <a:rPr lang="zh-CN" altLang="en-US" dirty="0" smtClean="0"/>
              <a:t>函数；</a:t>
            </a:r>
            <a:endParaRPr lang="en-US" altLang="zh-CN" dirty="0" smtClean="0"/>
          </a:p>
          <a:p>
            <a:r>
              <a:rPr lang="zh-CN" altLang="en-US" dirty="0" smtClean="0"/>
              <a:t>被</a:t>
            </a:r>
            <a:r>
              <a:rPr lang="en-US" altLang="zh-CN" dirty="0" smtClean="0"/>
              <a:t>internal</a:t>
            </a:r>
            <a:r>
              <a:rPr lang="zh-CN" altLang="en-US" dirty="0" smtClean="0"/>
              <a:t>修饰的函数只能从合约内部访问，也不能被继承；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779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internal</a:t>
            </a:r>
            <a:r>
              <a:rPr lang="zh-CN" altLang="en-US" dirty="0"/>
              <a:t>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InternalFunctionContract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  uint8 internal id;</a:t>
            </a:r>
          </a:p>
          <a:p>
            <a:pPr marL="0" indent="0">
              <a:buNone/>
            </a:pPr>
            <a:r>
              <a:rPr lang="en-US" altLang="zh-CN" sz="2000" dirty="0" smtClean="0"/>
              <a:t>   function </a:t>
            </a:r>
            <a:r>
              <a:rPr lang="en-US" altLang="zh-CN" sz="2000" dirty="0" err="1"/>
              <a:t>fetchId</a:t>
            </a:r>
            <a:r>
              <a:rPr lang="en-US" altLang="zh-CN" sz="2000" dirty="0"/>
              <a:t>() internal view returns(uint8){</a:t>
            </a:r>
          </a:p>
          <a:p>
            <a:pPr marL="0" indent="0">
              <a:buNone/>
            </a:pPr>
            <a:r>
              <a:rPr lang="en-US" altLang="zh-CN" sz="2000" dirty="0"/>
              <a:t>       return id;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 smtClean="0"/>
              <a:t>   function </a:t>
            </a:r>
            <a:r>
              <a:rPr lang="en-US" altLang="zh-CN" sz="2000" dirty="0" err="1"/>
              <a:t>getId</a:t>
            </a:r>
            <a:r>
              <a:rPr lang="en-US" altLang="zh-CN" sz="2000" dirty="0"/>
              <a:t>() public view returns(uint8){</a:t>
            </a:r>
          </a:p>
          <a:p>
            <a:pPr marL="0" indent="0">
              <a:buNone/>
            </a:pPr>
            <a:r>
              <a:rPr lang="en-US" altLang="zh-CN" sz="2000" dirty="0"/>
              <a:t>       return </a:t>
            </a:r>
            <a:r>
              <a:rPr lang="en-US" altLang="zh-CN" sz="2000" dirty="0" err="1"/>
              <a:t>fetchId</a:t>
            </a:r>
            <a:r>
              <a:rPr lang="en-US" altLang="zh-CN" sz="2000" dirty="0"/>
              <a:t>();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 smtClean="0"/>
              <a:t>   </a:t>
            </a:r>
            <a:r>
              <a:rPr lang="en-US" altLang="zh-CN" sz="2000" dirty="0"/>
              <a:t>function </a:t>
            </a:r>
            <a:r>
              <a:rPr lang="en-US" altLang="zh-CN" sz="2000" dirty="0" err="1"/>
              <a:t>setId</a:t>
            </a:r>
            <a:r>
              <a:rPr lang="en-US" altLang="zh-CN" sz="2000" dirty="0"/>
              <a:t>(uint8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) public{</a:t>
            </a:r>
          </a:p>
          <a:p>
            <a:pPr marL="0" indent="0">
              <a:buNone/>
            </a:pPr>
            <a:r>
              <a:rPr lang="en-US" altLang="zh-CN" sz="2000" dirty="0"/>
              <a:t>       id =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61407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private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1" cy="4752528"/>
          </a:xfrm>
        </p:spPr>
        <p:txBody>
          <a:bodyPr/>
          <a:lstStyle/>
          <a:p>
            <a:r>
              <a:rPr lang="zh-CN" altLang="en-US" sz="2000" dirty="0" smtClean="0"/>
              <a:t>被</a:t>
            </a:r>
            <a:r>
              <a:rPr lang="en-US" altLang="zh-CN" sz="2000" dirty="0" smtClean="0"/>
              <a:t>private</a:t>
            </a:r>
            <a:r>
              <a:rPr lang="zh-CN" altLang="en-US" sz="2000" dirty="0" smtClean="0"/>
              <a:t>修饰的状态变量和函数都只能在合约内部访问，无法从外部或子合约访问，也不会为状态变量自动生成</a:t>
            </a:r>
            <a:r>
              <a:rPr lang="en-US" altLang="zh-CN" sz="2000" dirty="0" smtClean="0"/>
              <a:t>getter</a:t>
            </a:r>
            <a:r>
              <a:rPr lang="zh-CN" altLang="en-US" sz="2000" dirty="0" smtClean="0"/>
              <a:t>函数。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InternalFunctionContract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  uint8 </a:t>
            </a:r>
            <a:r>
              <a:rPr lang="en-US" altLang="zh-CN" sz="2000" dirty="0" smtClean="0"/>
              <a:t>private </a:t>
            </a:r>
            <a:r>
              <a:rPr lang="en-US" altLang="zh-CN" sz="2000" dirty="0"/>
              <a:t>id;</a:t>
            </a:r>
          </a:p>
          <a:p>
            <a:pPr marL="0" indent="0">
              <a:buNone/>
            </a:pPr>
            <a:r>
              <a:rPr lang="en-US" altLang="zh-CN" sz="2000" dirty="0"/>
              <a:t>   function </a:t>
            </a:r>
            <a:r>
              <a:rPr lang="en-US" altLang="zh-CN" sz="2000" dirty="0" err="1"/>
              <a:t>fetchId</a:t>
            </a:r>
            <a:r>
              <a:rPr lang="en-US" altLang="zh-CN" sz="2000" dirty="0"/>
              <a:t>() </a:t>
            </a:r>
            <a:r>
              <a:rPr lang="en-US" altLang="zh-CN" sz="2000" dirty="0" smtClean="0"/>
              <a:t>private </a:t>
            </a:r>
            <a:r>
              <a:rPr lang="en-US" altLang="zh-CN" sz="2000" dirty="0"/>
              <a:t>view returns(uint8){</a:t>
            </a:r>
          </a:p>
          <a:p>
            <a:pPr marL="0" indent="0">
              <a:buNone/>
            </a:pPr>
            <a:r>
              <a:rPr lang="en-US" altLang="zh-CN" sz="2000" dirty="0"/>
              <a:t>       return id;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/>
              <a:t>   function </a:t>
            </a:r>
            <a:r>
              <a:rPr lang="en-US" altLang="zh-CN" sz="2000" dirty="0" err="1"/>
              <a:t>getId</a:t>
            </a:r>
            <a:r>
              <a:rPr lang="en-US" altLang="zh-CN" sz="2000" dirty="0"/>
              <a:t>() public view returns(uint8){</a:t>
            </a:r>
          </a:p>
          <a:p>
            <a:pPr marL="0" indent="0">
              <a:buNone/>
            </a:pPr>
            <a:r>
              <a:rPr lang="en-US" altLang="zh-CN" sz="2000" dirty="0"/>
              <a:t>       return </a:t>
            </a:r>
            <a:r>
              <a:rPr lang="en-US" altLang="zh-CN" sz="2000" dirty="0" err="1"/>
              <a:t>fetchId</a:t>
            </a:r>
            <a:r>
              <a:rPr lang="en-US" altLang="zh-CN" sz="2000" dirty="0"/>
              <a:t>();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/>
              <a:t>   function </a:t>
            </a:r>
            <a:r>
              <a:rPr lang="en-US" altLang="zh-CN" sz="2000" dirty="0" err="1"/>
              <a:t>setId</a:t>
            </a:r>
            <a:r>
              <a:rPr lang="en-US" altLang="zh-CN" sz="2000" dirty="0"/>
              <a:t>(uint8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) public{</a:t>
            </a:r>
          </a:p>
          <a:p>
            <a:pPr marL="0" indent="0">
              <a:buNone/>
            </a:pPr>
            <a:r>
              <a:rPr lang="en-US" altLang="zh-CN" sz="2000" dirty="0"/>
              <a:t>       id = </a:t>
            </a:r>
            <a:r>
              <a:rPr lang="en-US" altLang="zh-CN" sz="2000" dirty="0" err="1"/>
              <a:t>newId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49464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external</a:t>
            </a:r>
            <a:r>
              <a:rPr lang="zh-CN" altLang="en-US" dirty="0"/>
              <a:t>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external</a:t>
            </a:r>
            <a:r>
              <a:rPr lang="zh-CN" altLang="en-US" dirty="0" smtClean="0"/>
              <a:t>修饰符不能用于修饰状态变量，只能用于修饰函数；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被</a:t>
            </a:r>
            <a:r>
              <a:rPr lang="en-US" altLang="zh-CN" dirty="0" smtClean="0"/>
              <a:t>external</a:t>
            </a:r>
            <a:r>
              <a:rPr lang="zh-CN" altLang="en-US" dirty="0" smtClean="0"/>
              <a:t>修饰的外部</a:t>
            </a:r>
            <a:r>
              <a:rPr lang="zh-CN" altLang="en-US" dirty="0"/>
              <a:t>函数</a:t>
            </a:r>
            <a:r>
              <a:rPr lang="zh-CN" altLang="en-US" dirty="0" smtClean="0"/>
              <a:t>只能由其他</a:t>
            </a:r>
            <a:r>
              <a:rPr lang="zh-CN" altLang="en-US" dirty="0"/>
              <a:t>合约调用，或者通过交易调用。外部</a:t>
            </a:r>
            <a:r>
              <a:rPr lang="zh-CN" altLang="en-US" dirty="0" smtClean="0"/>
              <a:t>函数不能</a:t>
            </a:r>
            <a:r>
              <a:rPr lang="zh-CN" altLang="en-US" dirty="0"/>
              <a:t>被内部函数</a:t>
            </a:r>
            <a:r>
              <a:rPr lang="zh-CN" altLang="en-US" dirty="0" smtClean="0"/>
              <a:t>调用。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845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函数的其他修饰符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constant</a:t>
            </a:r>
          </a:p>
          <a:p>
            <a:endParaRPr lang="en-US" altLang="zh-CN" dirty="0"/>
          </a:p>
          <a:p>
            <a:r>
              <a:rPr lang="en-US" altLang="zh-CN" dirty="0"/>
              <a:t>v</a:t>
            </a:r>
            <a:r>
              <a:rPr lang="en-US" altLang="zh-CN" dirty="0" smtClean="0"/>
              <a:t>iew</a:t>
            </a:r>
          </a:p>
          <a:p>
            <a:endParaRPr lang="en-US" altLang="zh-CN" dirty="0"/>
          </a:p>
          <a:p>
            <a:r>
              <a:rPr lang="en-US" altLang="zh-CN" dirty="0" smtClean="0"/>
              <a:t>pure</a:t>
            </a:r>
          </a:p>
          <a:p>
            <a:endParaRPr lang="en-US" altLang="zh-CN" dirty="0"/>
          </a:p>
          <a:p>
            <a:r>
              <a:rPr lang="en-US" altLang="zh-CN" dirty="0" smtClean="0"/>
              <a:t>payable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442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constant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constant</a:t>
            </a:r>
            <a:r>
              <a:rPr lang="zh-CN" altLang="en-US" dirty="0" smtClean="0"/>
              <a:t>修饰状态变量，表示这是一个常量，不能被修改，目前只支持值类型和字符串类型；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pragma </a:t>
            </a:r>
            <a:r>
              <a:rPr lang="en-US" altLang="zh-CN" sz="2000" dirty="0"/>
              <a:t>solidity ^0.4.24;</a:t>
            </a:r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ConstantContract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 smtClean="0"/>
              <a:t>    uint24 </a:t>
            </a:r>
            <a:r>
              <a:rPr lang="en-US" altLang="zh-CN" sz="2000" dirty="0"/>
              <a:t>constant public day = 24 * 60 * 60;</a:t>
            </a:r>
          </a:p>
          <a:p>
            <a:pPr marL="0" indent="0">
              <a:buNone/>
            </a:pPr>
            <a:r>
              <a:rPr lang="en-US" altLang="zh-CN" sz="2000" dirty="0"/>
              <a:t>    string constant public </a:t>
            </a:r>
            <a:r>
              <a:rPr lang="en-US" altLang="zh-CN" sz="2000" dirty="0" err="1"/>
              <a:t>addr</a:t>
            </a:r>
            <a:r>
              <a:rPr lang="en-US" altLang="zh-CN" sz="2000" dirty="0"/>
              <a:t> = "0x6b6c1d2633020eb5badc8b522d22bf15770978f0";</a:t>
            </a:r>
          </a:p>
          <a:p>
            <a:pPr marL="0" indent="0">
              <a:buNone/>
            </a:pPr>
            <a:r>
              <a:rPr lang="en-US" altLang="zh-CN" sz="2000" dirty="0"/>
              <a:t>    bytes32 constant public </a:t>
            </a:r>
            <a:r>
              <a:rPr lang="en-US" altLang="zh-CN" sz="2000" dirty="0" err="1"/>
              <a:t>myHash</a:t>
            </a:r>
            <a:r>
              <a:rPr lang="en-US" altLang="zh-CN" sz="2000" dirty="0"/>
              <a:t> = keccak256(</a:t>
            </a:r>
            <a:r>
              <a:rPr lang="en-US" altLang="zh-CN" sz="2000" dirty="0" err="1"/>
              <a:t>addr</a:t>
            </a:r>
            <a:r>
              <a:rPr lang="en-US" altLang="zh-CN" sz="2000" dirty="0"/>
              <a:t>);</a:t>
            </a:r>
          </a:p>
          <a:p>
            <a:pPr marL="0" indent="0">
              <a:buNone/>
            </a:pPr>
            <a:r>
              <a:rPr lang="en-US" altLang="zh-CN" sz="2000" dirty="0" smtClean="0"/>
              <a:t>}</a:t>
            </a:r>
            <a:endParaRPr lang="en-US" altLang="zh-CN" sz="2000" dirty="0"/>
          </a:p>
          <a:p>
            <a:endParaRPr lang="en-US" altLang="zh-CN" dirty="0" smtClean="0"/>
          </a:p>
          <a:p>
            <a:r>
              <a:rPr lang="en-US" altLang="zh-CN" dirty="0" smtClean="0"/>
              <a:t>constant</a:t>
            </a:r>
            <a:r>
              <a:rPr lang="zh-CN" altLang="en-US" dirty="0" smtClean="0"/>
              <a:t>修饰函数，表示这个函数不会修改状态变量的值，目前被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修饰符所替代。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07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view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View</a:t>
            </a:r>
            <a:r>
              <a:rPr lang="zh-CN" altLang="en-US" dirty="0" smtClean="0"/>
              <a:t>用于替换</a:t>
            </a:r>
            <a:r>
              <a:rPr lang="en-US" altLang="zh-CN" dirty="0" smtClean="0"/>
              <a:t>constant</a:t>
            </a:r>
            <a:r>
              <a:rPr lang="zh-CN" altLang="en-US" dirty="0" smtClean="0"/>
              <a:t>对函数的修饰；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如果使用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修饰</a:t>
            </a:r>
            <a:r>
              <a:rPr lang="zh-CN" altLang="en-US" dirty="0"/>
              <a:t>了</a:t>
            </a:r>
            <a:r>
              <a:rPr lang="zh-CN" altLang="en-US" dirty="0" smtClean="0"/>
              <a:t>函数，则该函数如果包含修改状态变量的语句，则编译不会报错，执行时也不会实际修改状态变量，也不会抛出异常。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修饰一个函数往往意味着这个函数只能读取状态变量的值，但是不能修改状态变量。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8962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view</a:t>
            </a:r>
            <a:r>
              <a:rPr lang="zh-CN" altLang="en-US" dirty="0"/>
              <a:t>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ViewContract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uint24 public day = 24 * 60 * 60;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function </a:t>
            </a:r>
            <a:r>
              <a:rPr lang="en-US" altLang="zh-CN" sz="2000" dirty="0" err="1"/>
              <a:t>setDay</a:t>
            </a:r>
            <a:r>
              <a:rPr lang="en-US" altLang="zh-CN" sz="2000" dirty="0"/>
              <a:t>(uint24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) public view{</a:t>
            </a:r>
          </a:p>
          <a:p>
            <a:pPr marL="0" indent="0">
              <a:buNone/>
            </a:pPr>
            <a:r>
              <a:rPr lang="en-US" altLang="zh-CN" sz="2000" dirty="0"/>
              <a:t>        day =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function </a:t>
            </a:r>
            <a:r>
              <a:rPr lang="en-US" altLang="zh-CN" sz="2000" dirty="0" err="1"/>
              <a:t>setNewDay</a:t>
            </a:r>
            <a:r>
              <a:rPr lang="en-US" altLang="zh-CN" sz="2000" dirty="0"/>
              <a:t>(uint24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) public{</a:t>
            </a:r>
          </a:p>
          <a:p>
            <a:pPr marL="0" indent="0">
              <a:buNone/>
            </a:pPr>
            <a:r>
              <a:rPr lang="en-US" altLang="zh-CN" sz="2000" dirty="0"/>
              <a:t>        day =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08246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pure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pure</a:t>
            </a:r>
            <a:r>
              <a:rPr lang="zh-CN" altLang="en-US" dirty="0" smtClean="0"/>
              <a:t>用于在编程中施加保护，防止函数错误的修改状态变量的值；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被</a:t>
            </a:r>
            <a:r>
              <a:rPr lang="en-US" altLang="zh-CN" dirty="0" smtClean="0"/>
              <a:t>pure</a:t>
            </a:r>
            <a:r>
              <a:rPr lang="zh-CN" altLang="en-US" dirty="0" smtClean="0"/>
              <a:t>修饰的函数，如果包含修改状态变量的语句，则无法通过编译。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同时，被</a:t>
            </a:r>
            <a:r>
              <a:rPr lang="en-US" altLang="zh-CN" dirty="0" smtClean="0"/>
              <a:t>pure</a:t>
            </a:r>
            <a:r>
              <a:rPr lang="zh-CN" altLang="en-US" dirty="0" smtClean="0"/>
              <a:t>修饰的函数甚至也不能读取合约中状态变量的值，也就是</a:t>
            </a:r>
            <a:r>
              <a:rPr lang="en-US" altLang="zh-CN" dirty="0" smtClean="0"/>
              <a:t>pure</a:t>
            </a:r>
            <a:r>
              <a:rPr lang="zh-CN" altLang="en-US" dirty="0" smtClean="0"/>
              <a:t>修饰的函数，其输出完全仅仅取决于其输入参数。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6635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pure</a:t>
            </a:r>
            <a:r>
              <a:rPr lang="zh-CN" altLang="en-US" dirty="0"/>
              <a:t>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PureContract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uint24 public day = 24 * 60 * 60;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function </a:t>
            </a:r>
            <a:r>
              <a:rPr lang="en-US" altLang="zh-CN" sz="2000" dirty="0" err="1"/>
              <a:t>setDay</a:t>
            </a:r>
            <a:r>
              <a:rPr lang="en-US" altLang="zh-CN" sz="2000" dirty="0"/>
              <a:t>(uint24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) public pure{</a:t>
            </a:r>
          </a:p>
          <a:p>
            <a:pPr marL="0" indent="0">
              <a:buNone/>
            </a:pPr>
            <a:r>
              <a:rPr lang="en-US" altLang="zh-CN" sz="2000" dirty="0"/>
              <a:t>        day = </a:t>
            </a:r>
            <a:r>
              <a:rPr lang="en-US" altLang="zh-CN" sz="2000" dirty="0" err="1"/>
              <a:t>newDay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function </a:t>
            </a:r>
            <a:r>
              <a:rPr lang="en-US" altLang="zh-CN" sz="2000" dirty="0" err="1"/>
              <a:t>getDay</a:t>
            </a:r>
            <a:r>
              <a:rPr lang="en-US" altLang="zh-CN" sz="2000" dirty="0"/>
              <a:t>() public pure returns(uint24){</a:t>
            </a:r>
          </a:p>
          <a:p>
            <a:pPr marL="0" indent="0">
              <a:buNone/>
            </a:pPr>
            <a:r>
              <a:rPr lang="en-US" altLang="zh-CN" sz="2000" dirty="0"/>
              <a:t>        return day;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 bwMode="auto">
          <a:xfrm>
            <a:off x="6588224" y="3068960"/>
            <a:ext cx="1872208" cy="86409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编译时会报错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8" name="直接箭头连接符 7"/>
          <p:cNvCxnSpPr>
            <a:stCxn id="4" idx="1"/>
          </p:cNvCxnSpPr>
          <p:nvPr/>
        </p:nvCxnSpPr>
        <p:spPr bwMode="auto">
          <a:xfrm flipH="1">
            <a:off x="2987824" y="3501008"/>
            <a:ext cx="3600400" cy="72008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252975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类型</a:t>
            </a:r>
          </a:p>
          <a:p>
            <a:pPr lvl="1"/>
            <a:r>
              <a:rPr lang="zh-CN" altLang="en-US" dirty="0" smtClean="0"/>
              <a:t>代表</a:t>
            </a:r>
            <a:r>
              <a:rPr lang="zh-CN" altLang="en-US" dirty="0"/>
              <a:t>以太坊的地址，长度为</a:t>
            </a:r>
            <a:r>
              <a:rPr lang="en-US" altLang="zh-CN" dirty="0"/>
              <a:t>20</a:t>
            </a:r>
            <a:r>
              <a:rPr lang="zh-CN" altLang="en-US" dirty="0"/>
              <a:t>个字节，</a:t>
            </a:r>
            <a:r>
              <a:rPr lang="en-US" altLang="zh-CN" dirty="0"/>
              <a:t>160</a:t>
            </a:r>
            <a:r>
              <a:rPr lang="zh-CN" altLang="en-US" dirty="0" smtClean="0"/>
              <a:t>位；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成员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balance</a:t>
            </a:r>
            <a:r>
              <a:rPr lang="zh-CN" altLang="en-US" dirty="0" smtClean="0"/>
              <a:t>：余额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transfer</a:t>
            </a:r>
            <a:r>
              <a:rPr lang="zh-CN" altLang="en-US" dirty="0" smtClean="0"/>
              <a:t>：发送以太币，如果以太币余额不足，或遇到其他错误，会抛出异常；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send</a:t>
            </a:r>
            <a:r>
              <a:rPr lang="zh-CN" altLang="en-US" dirty="0" smtClean="0"/>
              <a:t>：发送以太币，遇到错误不会抛出异常，而是返回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84302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68760"/>
            <a:ext cx="8964487" cy="51845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contract </a:t>
            </a:r>
            <a:r>
              <a:rPr lang="en-US" altLang="zh-CN" sz="2000" dirty="0" err="1"/>
              <a:t>AddressContract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	constructor() public payable{};</a:t>
            </a:r>
          </a:p>
          <a:p>
            <a:pPr marL="0" indent="0">
              <a:buNone/>
            </a:pPr>
            <a:r>
              <a:rPr lang="en-US" altLang="zh-CN" sz="2000" dirty="0"/>
              <a:t>	function </a:t>
            </a:r>
            <a:r>
              <a:rPr lang="en-US" altLang="zh-CN" sz="2000" dirty="0" err="1"/>
              <a:t>testTransfer</a:t>
            </a:r>
            <a:r>
              <a:rPr lang="en-US" altLang="zh-CN" sz="2000" dirty="0"/>
              <a:t>(address receive) public payable{</a:t>
            </a:r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receive.transfer</a:t>
            </a:r>
            <a:r>
              <a:rPr lang="en-US" altLang="zh-CN" sz="2000" dirty="0"/>
              <a:t>(1 ether);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	function </a:t>
            </a:r>
            <a:r>
              <a:rPr lang="en-US" altLang="zh-CN" sz="2000" dirty="0" err="1"/>
              <a:t>testSend</a:t>
            </a:r>
            <a:r>
              <a:rPr lang="en-US" altLang="zh-CN" sz="2000" dirty="0"/>
              <a:t>(address receive,uint8 amount) public payable{</a:t>
            </a:r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receive.send</a:t>
            </a:r>
            <a:r>
              <a:rPr lang="en-US" altLang="zh-CN" sz="2000" dirty="0"/>
              <a:t>(amount*10e18);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	function() public payable{};</a:t>
            </a:r>
          </a:p>
          <a:p>
            <a:pPr marL="0" indent="0">
              <a:buNone/>
            </a:pPr>
            <a:r>
              <a:rPr lang="en-US" altLang="zh-CN" sz="2000" dirty="0"/>
              <a:t>	function </a:t>
            </a:r>
            <a:r>
              <a:rPr lang="en-US" altLang="zh-CN" sz="2000" dirty="0" err="1"/>
              <a:t>getBalance</a:t>
            </a:r>
            <a:r>
              <a:rPr lang="en-US" altLang="zh-CN" sz="2000" dirty="0"/>
              <a:t>() public view returns(uint256){</a:t>
            </a:r>
          </a:p>
          <a:p>
            <a:pPr marL="0" indent="0">
              <a:buNone/>
            </a:pPr>
            <a:r>
              <a:rPr lang="en-US" altLang="zh-CN" sz="2000" dirty="0"/>
              <a:t>		return address(this).balance;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 bwMode="auto">
          <a:xfrm>
            <a:off x="5652120" y="1386496"/>
            <a:ext cx="3312368" cy="7200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latin typeface="Times New Roman" pitchFamily="18" charset="0"/>
              </a:rPr>
              <a:t>p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ayable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修饰的构造函数，表示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创建合约时可以接收以太币。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4499992" y="1844824"/>
            <a:ext cx="1080120" cy="57606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矩形 6"/>
          <p:cNvSpPr/>
          <p:nvPr/>
        </p:nvSpPr>
        <p:spPr bwMode="auto">
          <a:xfrm>
            <a:off x="6372200" y="4509120"/>
            <a:ext cx="1728192" cy="7200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默认单位是</a:t>
            </a:r>
            <a:r>
              <a:rPr lang="en-US" altLang="zh-CN" dirty="0" err="1" smtClean="0">
                <a:latin typeface="Times New Roman" pitchFamily="18" charset="0"/>
              </a:rPr>
              <a:t>wei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5292080" y="4509120"/>
            <a:ext cx="1080120" cy="36004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209820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mapping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</a:t>
            </a:r>
            <a:r>
              <a:rPr lang="en-US" altLang="zh-CN" dirty="0" smtClean="0"/>
              <a:t>apping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主要作用是实现一个</a:t>
            </a:r>
            <a:r>
              <a:rPr lang="en-US" altLang="zh-CN" dirty="0" smtClean="0"/>
              <a:t>HASH</a:t>
            </a:r>
            <a:r>
              <a:rPr lang="zh-CN" altLang="en-US" dirty="0" smtClean="0"/>
              <a:t>表。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定义语法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Mapping(_</a:t>
            </a:r>
            <a:r>
              <a:rPr lang="en-US" altLang="zh-CN" dirty="0" err="1"/>
              <a:t>K</a:t>
            </a:r>
            <a:r>
              <a:rPr lang="en-US" altLang="zh-CN" dirty="0" err="1" smtClean="0"/>
              <a:t>eyType</a:t>
            </a:r>
            <a:r>
              <a:rPr lang="en-US" altLang="zh-CN" dirty="0" smtClean="0"/>
              <a:t> =&gt; _</a:t>
            </a:r>
            <a:r>
              <a:rPr lang="en-US" altLang="zh-CN" dirty="0" err="1" smtClean="0"/>
              <a:t>ValueType</a:t>
            </a:r>
            <a:r>
              <a:rPr lang="en-US" altLang="zh-CN" dirty="0" smtClean="0"/>
              <a:t>)</a:t>
            </a:r>
          </a:p>
          <a:p>
            <a:pPr lvl="2"/>
            <a:r>
              <a:rPr lang="en-US" altLang="zh-CN" dirty="0" smtClean="0"/>
              <a:t>_</a:t>
            </a:r>
            <a:r>
              <a:rPr lang="en-US" altLang="zh-CN" dirty="0" err="1" smtClean="0"/>
              <a:t>KeyType</a:t>
            </a:r>
            <a:r>
              <a:rPr lang="zh-CN" altLang="en-US" dirty="0" smtClean="0"/>
              <a:t>可以是除了</a:t>
            </a:r>
            <a:r>
              <a:rPr lang="en-US" altLang="zh-CN" dirty="0" smtClean="0"/>
              <a:t>mapping</a:t>
            </a:r>
            <a:r>
              <a:rPr lang="zh-CN" altLang="en-US" dirty="0" smtClean="0"/>
              <a:t>、动态数组、合约、枚举、结构之外的所有类型；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_</a:t>
            </a:r>
            <a:r>
              <a:rPr lang="en-US" altLang="zh-CN" dirty="0" err="1" smtClean="0"/>
              <a:t>ValueType</a:t>
            </a:r>
            <a:r>
              <a:rPr lang="zh-CN" altLang="en-US" dirty="0" smtClean="0"/>
              <a:t>可以是所有类型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用于根据键获取对应的值，如果键存在并设置了相应的值，则返回对应的值，否则返回</a:t>
            </a:r>
            <a:r>
              <a:rPr lang="en-US" altLang="zh-CN" dirty="0" smtClean="0"/>
              <a:t>0</a:t>
            </a:r>
            <a:r>
              <a:rPr lang="zh-CN" altLang="en-US" dirty="0" smtClean="0"/>
              <a:t>或者值类型对应的默认值。</a:t>
            </a:r>
            <a:endParaRPr lang="en-US" altLang="zh-CN" dirty="0"/>
          </a:p>
          <a:p>
            <a:pPr lvl="1"/>
            <a:r>
              <a:rPr lang="en-US" altLang="zh-CN" dirty="0" smtClean="0"/>
              <a:t>Mapping</a:t>
            </a:r>
            <a:r>
              <a:rPr lang="zh-CN" altLang="en-US" dirty="0" smtClean="0"/>
              <a:t>类型只能用作状态变量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468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mapping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^0.4.24;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MappingContract</a:t>
            </a:r>
            <a:r>
              <a:rPr lang="en-US" altLang="zh-CN" sz="2000" dirty="0"/>
              <a:t> {</a:t>
            </a:r>
          </a:p>
          <a:p>
            <a:pPr marL="0" indent="0">
              <a:buNone/>
            </a:pPr>
            <a:r>
              <a:rPr lang="en-US" altLang="zh-CN" sz="2000" dirty="0"/>
              <a:t>     mapping(uint8=&gt;string) </a:t>
            </a:r>
            <a:r>
              <a:rPr lang="en-US" altLang="zh-CN" sz="2000" dirty="0" smtClean="0"/>
              <a:t>public 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</a:p>
          <a:p>
            <a:pPr marL="0" indent="0">
              <a:buNone/>
            </a:pPr>
            <a:r>
              <a:rPr lang="en-US" altLang="zh-CN" sz="2000" dirty="0" smtClean="0"/>
              <a:t>     constructor() {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[1]=“tom”;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[2]=“</a:t>
            </a:r>
            <a:r>
              <a:rPr lang="en-US" altLang="zh-CN" sz="2000" dirty="0" err="1" smtClean="0"/>
              <a:t>allen</a:t>
            </a:r>
            <a:r>
              <a:rPr lang="en-US" altLang="zh-CN" sz="2000" dirty="0" smtClean="0"/>
              <a:t>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[3]=“</a:t>
            </a:r>
            <a:r>
              <a:rPr lang="en-US" altLang="zh-CN" sz="2000" dirty="0" err="1" smtClean="0"/>
              <a:t>alice</a:t>
            </a:r>
            <a:r>
              <a:rPr lang="en-US" altLang="zh-CN" sz="2000" dirty="0" smtClean="0"/>
              <a:t>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[4]=“</a:t>
            </a:r>
            <a:r>
              <a:rPr lang="en-US" altLang="zh-CN" sz="2000" dirty="0" err="1" smtClean="0"/>
              <a:t>jacky</a:t>
            </a:r>
            <a:r>
              <a:rPr lang="en-US" altLang="zh-CN" sz="2000" dirty="0" smtClean="0"/>
              <a:t>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idName</a:t>
            </a:r>
            <a:r>
              <a:rPr lang="en-US" altLang="zh-CN" sz="2000" dirty="0" smtClean="0"/>
              <a:t>[5]=“bill”;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/>
              <a:t>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6746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payable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被</a:t>
            </a:r>
            <a:r>
              <a:rPr lang="en-US" altLang="zh-CN" sz="2400" dirty="0" smtClean="0"/>
              <a:t>payable</a:t>
            </a:r>
            <a:r>
              <a:rPr lang="zh-CN" altLang="en-US" sz="2400" dirty="0" smtClean="0"/>
              <a:t>修饰的地址或函数，可以接受以太币。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在</a:t>
            </a:r>
            <a:r>
              <a:rPr lang="en-US" altLang="zh-CN" sz="2400" dirty="0" smtClean="0"/>
              <a:t>solidity 5.0</a:t>
            </a:r>
            <a:r>
              <a:rPr lang="zh-CN" altLang="en-US" sz="2400" dirty="0" smtClean="0"/>
              <a:t>版本之后</a:t>
            </a:r>
            <a:r>
              <a:rPr lang="zh-CN" altLang="en-US" sz="2400" dirty="0"/>
              <a:t>，</a:t>
            </a:r>
            <a:r>
              <a:rPr lang="en-US" altLang="zh-CN" sz="2400" dirty="0"/>
              <a:t>address</a:t>
            </a:r>
            <a:r>
              <a:rPr lang="zh-CN" altLang="en-US" sz="2400" dirty="0"/>
              <a:t>被分成</a:t>
            </a:r>
            <a:r>
              <a:rPr lang="en-US" altLang="zh-CN" sz="2400" dirty="0"/>
              <a:t>address payable </a:t>
            </a:r>
            <a:r>
              <a:rPr lang="zh-CN" altLang="en-US" sz="2400" dirty="0"/>
              <a:t>和 </a:t>
            </a:r>
            <a:r>
              <a:rPr lang="en-US" altLang="zh-CN" sz="2400" dirty="0"/>
              <a:t>address, </a:t>
            </a:r>
            <a:r>
              <a:rPr lang="zh-CN" altLang="en-US" sz="2400" dirty="0"/>
              <a:t>用于区分是否接收金额</a:t>
            </a:r>
            <a:r>
              <a:rPr lang="zh-CN" altLang="en-US" sz="2400" dirty="0" smtClean="0"/>
              <a:t>，这有助于</a:t>
            </a:r>
            <a:r>
              <a:rPr lang="zh-CN" altLang="en-US" sz="2400" dirty="0"/>
              <a:t>强制智能合约开发人员认真考虑一个地址是否应当接收以太</a:t>
            </a:r>
            <a:r>
              <a:rPr lang="zh-CN" altLang="en-US" sz="2400" dirty="0" smtClean="0"/>
              <a:t>币。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在</a:t>
            </a:r>
            <a:r>
              <a:rPr lang="en-US" altLang="zh-CN" sz="2400" dirty="0"/>
              <a:t>Solidity</a:t>
            </a:r>
            <a:r>
              <a:rPr lang="zh-CN" altLang="en-US" sz="2400" dirty="0"/>
              <a:t>的内置变量中，以下几个变量的类型都是</a:t>
            </a:r>
            <a:r>
              <a:rPr lang="en-US" altLang="zh-CN" sz="2400" dirty="0"/>
              <a:t>address payable</a:t>
            </a:r>
            <a:r>
              <a:rPr lang="zh-CN" altLang="en-US" sz="2400" dirty="0"/>
              <a:t>：</a:t>
            </a:r>
          </a:p>
          <a:p>
            <a:pPr lvl="1"/>
            <a:r>
              <a:rPr lang="en-US" altLang="zh-CN" sz="2000" dirty="0" err="1" smtClean="0"/>
              <a:t>msg.sender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tx.origin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block.coinbase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7380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内部</a:t>
            </a:r>
            <a:r>
              <a:rPr lang="zh-CN" altLang="en-US" dirty="0"/>
              <a:t>函数</a:t>
            </a:r>
            <a:r>
              <a:rPr lang="zh-CN" altLang="en-US" dirty="0" smtClean="0"/>
              <a:t>调用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</a:t>
            </a:r>
            <a:r>
              <a:rPr lang="zh-CN" altLang="en-US" dirty="0"/>
              <a:t>指一个函数在同一个合约中调用另一个函数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外部函数调用</a:t>
            </a:r>
            <a:endParaRPr lang="en-US" altLang="zh-CN" dirty="0" smtClean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this</a:t>
            </a:r>
            <a:r>
              <a:rPr lang="zh-CN" altLang="en-US" dirty="0"/>
              <a:t>关键字进行的调用称为外部调用。在函数中，</a:t>
            </a:r>
            <a:r>
              <a:rPr lang="en-US" altLang="zh-CN" dirty="0"/>
              <a:t>this</a:t>
            </a:r>
            <a:r>
              <a:rPr lang="zh-CN" altLang="en-US" dirty="0"/>
              <a:t>关键字代表当前合约实例。</a:t>
            </a:r>
          </a:p>
        </p:txBody>
      </p:sp>
    </p:spTree>
    <p:extLst>
      <p:ext uri="{BB962C8B-B14F-4D97-AF65-F5344CB8AC3E}">
        <p14:creationId xmlns:p14="http://schemas.microsoft.com/office/powerpoint/2010/main" val="224874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回退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一个合约可以有唯一的未命名函数，称为回退函数（</a:t>
            </a:r>
            <a:r>
              <a:rPr lang="en-US" altLang="zh-CN" dirty="0"/>
              <a:t>fallback function</a:t>
            </a:r>
            <a:r>
              <a:rPr lang="zh-CN" altLang="en-US" dirty="0"/>
              <a:t>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该</a:t>
            </a:r>
            <a:r>
              <a:rPr lang="zh-CN" altLang="en-US" dirty="0"/>
              <a:t>函数不能有实参，不能返回任何值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zh-CN" altLang="en-US" dirty="0"/>
              <a:t>其他函数都不能匹配给定的函数标识符，就在合约上执行回退函数。</a:t>
            </a:r>
          </a:p>
        </p:txBody>
      </p:sp>
    </p:spTree>
    <p:extLst>
      <p:ext uri="{BB962C8B-B14F-4D97-AF65-F5344CB8AC3E}">
        <p14:creationId xmlns:p14="http://schemas.microsoft.com/office/powerpoint/2010/main" val="3444777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事件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事件是合约和区块链通讯的一种机制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/>
              <a:t>事件是智能合约发出的信号。智能合约的前端</a:t>
            </a:r>
            <a:r>
              <a:rPr lang="en-US" altLang="zh-CN" dirty="0"/>
              <a:t>UI</a:t>
            </a:r>
            <a:r>
              <a:rPr lang="zh-CN" altLang="en-US" dirty="0"/>
              <a:t>，例如，</a:t>
            </a:r>
            <a:r>
              <a:rPr lang="en-US" altLang="zh-CN" dirty="0" err="1"/>
              <a:t>DApps</a:t>
            </a:r>
            <a:r>
              <a:rPr lang="zh-CN" altLang="en-US" dirty="0"/>
              <a:t>、</a:t>
            </a:r>
            <a:r>
              <a:rPr lang="en-US" altLang="zh-CN" dirty="0"/>
              <a:t>web.js</a:t>
            </a:r>
            <a:r>
              <a:rPr lang="zh-CN" altLang="en-US" dirty="0"/>
              <a:t>，或者任何与</a:t>
            </a:r>
            <a:r>
              <a:rPr lang="en-US" altLang="zh-CN" dirty="0" err="1"/>
              <a:t>Ethereum</a:t>
            </a:r>
            <a:r>
              <a:rPr lang="en-US" altLang="zh-CN" dirty="0"/>
              <a:t> JSON-RPC API</a:t>
            </a:r>
            <a:r>
              <a:rPr lang="zh-CN" altLang="en-US" dirty="0"/>
              <a:t>连接的东西，都可以侦听这些事件。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event</a:t>
            </a:r>
            <a:r>
              <a:rPr lang="zh-CN" altLang="en-US" dirty="0" smtClean="0"/>
              <a:t>关键字定义，然后</a:t>
            </a:r>
            <a:r>
              <a:rPr lang="zh-CN" altLang="en-US" dirty="0"/>
              <a:t>可以在函数中使用</a:t>
            </a:r>
            <a:r>
              <a:rPr lang="en-US" altLang="zh-CN" dirty="0"/>
              <a:t>emit</a:t>
            </a:r>
            <a:r>
              <a:rPr lang="zh-CN" altLang="en-US" dirty="0"/>
              <a:t>关键字触发</a:t>
            </a:r>
            <a:r>
              <a:rPr lang="zh-CN" altLang="en-US" dirty="0" smtClean="0"/>
              <a:t>事件，可以在更改合约状态后，发出事件报告最新状态。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 smtClean="0"/>
              <a:t>DAPP</a:t>
            </a:r>
            <a:r>
              <a:rPr lang="zh-CN" altLang="en-US" dirty="0" smtClean="0"/>
              <a:t>的前端</a:t>
            </a:r>
            <a:r>
              <a:rPr lang="zh-CN" altLang="en-US" dirty="0"/>
              <a:t>应用“监听”某些事件，并</a:t>
            </a:r>
            <a:r>
              <a:rPr lang="zh-CN" altLang="en-US" dirty="0" smtClean="0"/>
              <a:t>做出相应的处理。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WEB3</a:t>
            </a:r>
            <a:r>
              <a:rPr lang="zh-CN" altLang="en-US" dirty="0" smtClean="0"/>
              <a:t>的</a:t>
            </a:r>
            <a:r>
              <a:rPr lang="en-US" altLang="zh-CN" dirty="0" smtClean="0"/>
              <a:t>JS</a:t>
            </a:r>
            <a:r>
              <a:rPr lang="zh-CN" altLang="en-US" dirty="0" smtClean="0"/>
              <a:t>代码进行处理。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198546"/>
      </p:ext>
    </p:extLst>
  </p:cSld>
  <p:clrMapOvr>
    <a:masterClrMapping/>
  </p:clrMapOvr>
</p:sld>
</file>

<file path=ppt/theme/theme1.xml><?xml version="1.0" encoding="utf-8"?>
<a:theme xmlns:a="http://schemas.openxmlformats.org/drawingml/2006/main" name="nju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2章 信息安全体系结构.pptx" id="{2A91B836-FFFD-4C9D-ACEB-12964C45F731}" vid="{3FEFB23B-0341-4517-8F01-752859B552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朴素模板</Template>
  <TotalTime>2537</TotalTime>
  <Words>2094</Words>
  <Application>Microsoft Office PowerPoint</Application>
  <PresentationFormat>全屏显示(4:3)</PresentationFormat>
  <Paragraphs>383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楷体</vt:lpstr>
      <vt:lpstr>宋体</vt:lpstr>
      <vt:lpstr>Arial</vt:lpstr>
      <vt:lpstr>Calibri</vt:lpstr>
      <vt:lpstr>Times New Roman</vt:lpstr>
      <vt:lpstr>Wingdings</vt:lpstr>
      <vt:lpstr>nju</vt:lpstr>
      <vt:lpstr>SOLIDITY语言</vt:lpstr>
      <vt:lpstr>SOLIDITY语言</vt:lpstr>
      <vt:lpstr>SOLIDITY语言</vt:lpstr>
      <vt:lpstr>Solidity数据类型</vt:lpstr>
      <vt:lpstr>Solidity运算符</vt:lpstr>
      <vt:lpstr>delete运算符</vt:lpstr>
      <vt:lpstr>delete运算符</vt:lpstr>
      <vt:lpstr>变量</vt:lpstr>
      <vt:lpstr>变量</vt:lpstr>
      <vt:lpstr>全局可用变量</vt:lpstr>
      <vt:lpstr>控制结构</vt:lpstr>
      <vt:lpstr>函数</vt:lpstr>
      <vt:lpstr>函数</vt:lpstr>
      <vt:lpstr>函数</vt:lpstr>
      <vt:lpstr>构造函数</vt:lpstr>
      <vt:lpstr>构造函数</vt:lpstr>
      <vt:lpstr>可见性修饰符</vt:lpstr>
      <vt:lpstr>public修饰符</vt:lpstr>
      <vt:lpstr>public修饰符</vt:lpstr>
      <vt:lpstr>internal修饰符</vt:lpstr>
      <vt:lpstr>internal修饰符</vt:lpstr>
      <vt:lpstr>private修饰符</vt:lpstr>
      <vt:lpstr>external修饰符</vt:lpstr>
      <vt:lpstr>函数的其他修饰符</vt:lpstr>
      <vt:lpstr>constant修饰符</vt:lpstr>
      <vt:lpstr>view修饰符</vt:lpstr>
      <vt:lpstr>view修饰符</vt:lpstr>
      <vt:lpstr>pure修饰符</vt:lpstr>
      <vt:lpstr>pure修饰符</vt:lpstr>
      <vt:lpstr>Address类型</vt:lpstr>
      <vt:lpstr>Address类型</vt:lpstr>
      <vt:lpstr>mapping类型</vt:lpstr>
      <vt:lpstr>mapping类型</vt:lpstr>
      <vt:lpstr>payable修饰符</vt:lpstr>
      <vt:lpstr>函数调用</vt:lpstr>
      <vt:lpstr>回退函数</vt:lpstr>
      <vt:lpstr>事件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大学计算机信息技术</dc:title>
  <dc:creator>Hp</dc:creator>
  <cp:lastModifiedBy>dell</cp:lastModifiedBy>
  <cp:revision>429</cp:revision>
  <dcterms:created xsi:type="dcterms:W3CDTF">2013-09-23T10:22:11Z</dcterms:created>
  <dcterms:modified xsi:type="dcterms:W3CDTF">2021-05-13T07:29:45Z</dcterms:modified>
</cp:coreProperties>
</file>